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6" r:id="rId3"/>
    <p:sldId id="271" r:id="rId4"/>
    <p:sldId id="270" r:id="rId5"/>
    <p:sldId id="257" r:id="rId6"/>
    <p:sldId id="258" r:id="rId7"/>
    <p:sldId id="259" r:id="rId8"/>
    <p:sldId id="260" r:id="rId9"/>
    <p:sldId id="272" r:id="rId10"/>
    <p:sldId id="265" r:id="rId11"/>
    <p:sldId id="269" r:id="rId12"/>
    <p:sldId id="261" r:id="rId13"/>
    <p:sldId id="267" r:id="rId14"/>
    <p:sldId id="262" r:id="rId15"/>
    <p:sldId id="263" r:id="rId16"/>
    <p:sldId id="264"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0" d="100"/>
          <a:sy n="90" d="100"/>
        </p:scale>
        <p:origin x="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0297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28582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8491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89496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916565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78565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851847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63009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282A2"/>
          </a:solidFill>
          <a:ln w="12700">
            <a:solidFill>
              <a:srgbClr val="1282A2"/>
            </a:solidFill>
            <a:prstDash val="solid"/>
          </a:ln>
        </p:spPr>
      </p:sp>
      <p:sp>
        <p:nvSpPr>
          <p:cNvPr id="3" name="Shape 1"/>
          <p:cNvSpPr/>
          <p:nvPr/>
        </p:nvSpPr>
        <p:spPr>
          <a:xfrm>
            <a:off x="7132320" y="-914400"/>
            <a:ext cx="4114800" cy="4114800"/>
          </a:xfrm>
          <a:prstGeom prst="ellipse">
            <a:avLst/>
          </a:prstGeom>
          <a:solidFill>
            <a:srgbClr val="1282A2">
              <a:alpha val="20000"/>
            </a:srgbClr>
          </a:solidFill>
          <a:ln w="12700">
            <a:solidFill>
              <a:srgbClr val="1282A2">
                <a:alpha val="40000"/>
              </a:srgbClr>
            </a:solidFill>
            <a:prstDash val="solid"/>
          </a:ln>
        </p:spPr>
      </p:sp>
      <p:sp>
        <p:nvSpPr>
          <p:cNvPr id="4" name="Shape 2"/>
          <p:cNvSpPr/>
          <p:nvPr/>
        </p:nvSpPr>
        <p:spPr>
          <a:xfrm>
            <a:off x="7726680" y="-457200"/>
            <a:ext cx="2926080" cy="2926080"/>
          </a:xfrm>
          <a:prstGeom prst="ellipse">
            <a:avLst/>
          </a:prstGeom>
          <a:solidFill>
            <a:srgbClr val="0ACDAB">
              <a:alpha val="15000"/>
            </a:srgbClr>
          </a:solidFill>
          <a:ln w="12700">
            <a:solidFill>
              <a:srgbClr val="0ACDAB">
                <a:alpha val="30000"/>
              </a:srgbClr>
            </a:solidFill>
            <a:prstDash val="solid"/>
          </a:ln>
        </p:spPr>
      </p:sp>
      <p:sp>
        <p:nvSpPr>
          <p:cNvPr id="5" name="Text 3"/>
          <p:cNvSpPr/>
          <p:nvPr/>
        </p:nvSpPr>
        <p:spPr>
          <a:xfrm>
            <a:off x="411480" y="274320"/>
            <a:ext cx="8503920" cy="320040"/>
          </a:xfrm>
          <a:prstGeom prst="rect">
            <a:avLst/>
          </a:prstGeom>
          <a:noFill/>
          <a:ln/>
        </p:spPr>
        <p:txBody>
          <a:bodyPr wrap="square" rtlCol="0" anchor="ctr"/>
          <a:lstStyle/>
          <a:p>
            <a:pPr marL="0" indent="0" algn="l">
              <a:buNone/>
            </a:pPr>
            <a:r>
              <a:rPr lang="en-US" sz="900" b="1" kern="0" spc="300" dirty="0">
                <a:solidFill>
                  <a:srgbClr val="0ACDAB"/>
                </a:solidFill>
              </a:rPr>
              <a:t>FINAL YEAR </a:t>
            </a:r>
            <a:r>
              <a:rPr lang="en-US" sz="900" b="1" kern="0" spc="300" dirty="0" smtClean="0">
                <a:solidFill>
                  <a:srgbClr val="0ACDAB"/>
                </a:solidFill>
              </a:rPr>
              <a:t>PROJECT </a:t>
            </a:r>
            <a:r>
              <a:rPr lang="en-US" sz="900" b="1" kern="0" spc="300" dirty="0">
                <a:solidFill>
                  <a:srgbClr val="0ACDAB"/>
                </a:solidFill>
              </a:rPr>
              <a:t>DEFENSE PRESENTATION</a:t>
            </a:r>
            <a:endParaRPr lang="en-US" sz="900" dirty="0"/>
          </a:p>
        </p:txBody>
      </p:sp>
      <p:sp>
        <p:nvSpPr>
          <p:cNvPr id="6" name="Text 4"/>
          <p:cNvSpPr/>
          <p:nvPr/>
        </p:nvSpPr>
        <p:spPr>
          <a:xfrm>
            <a:off x="374904" y="480060"/>
            <a:ext cx="7772400" cy="2377440"/>
          </a:xfrm>
          <a:prstGeom prst="rect">
            <a:avLst/>
          </a:prstGeom>
          <a:noFill/>
          <a:ln/>
        </p:spPr>
        <p:txBody>
          <a:bodyPr wrap="square" rtlCol="0" anchor="ctr"/>
          <a:lstStyle/>
          <a:p>
            <a:pPr marL="0" indent="0" algn="l">
              <a:lnSpc>
                <a:spcPct val="125000"/>
              </a:lnSpc>
              <a:buNone/>
            </a:pPr>
            <a:r>
              <a:rPr lang="en-US" sz="3000" b="1" dirty="0">
                <a:solidFill>
                  <a:srgbClr val="FFFFFF"/>
                </a:solidFill>
              </a:rPr>
              <a:t>Adaptive Traffic Signal Control</a:t>
            </a:r>
            <a:endParaRPr lang="en-US" sz="3000" dirty="0"/>
          </a:p>
          <a:p>
            <a:pPr marL="0" indent="0" algn="l">
              <a:lnSpc>
                <a:spcPct val="125000"/>
              </a:lnSpc>
              <a:buNone/>
            </a:pPr>
            <a:r>
              <a:rPr lang="en-US" sz="3000" b="1" dirty="0">
                <a:solidFill>
                  <a:srgbClr val="FFFFFF"/>
                </a:solidFill>
              </a:rPr>
              <a:t>Using GCN-Based Multi-Agent</a:t>
            </a:r>
            <a:endParaRPr lang="en-US" sz="3000" dirty="0"/>
          </a:p>
          <a:p>
            <a:pPr marL="0" indent="0" algn="l">
              <a:lnSpc>
                <a:spcPct val="125000"/>
              </a:lnSpc>
              <a:buNone/>
            </a:pPr>
            <a:r>
              <a:rPr lang="en-US" sz="3000" b="1" dirty="0">
                <a:solidFill>
                  <a:srgbClr val="FFFFFF"/>
                </a:solidFill>
              </a:rPr>
              <a:t>Reinforcement Learning</a:t>
            </a:r>
            <a:endParaRPr lang="en-US" sz="3000" dirty="0"/>
          </a:p>
        </p:txBody>
      </p:sp>
      <p:sp>
        <p:nvSpPr>
          <p:cNvPr id="7" name="Shape 5"/>
          <p:cNvSpPr/>
          <p:nvPr/>
        </p:nvSpPr>
        <p:spPr>
          <a:xfrm>
            <a:off x="419218" y="2620456"/>
            <a:ext cx="5029200" cy="36576"/>
          </a:xfrm>
          <a:prstGeom prst="rect">
            <a:avLst/>
          </a:prstGeom>
          <a:solidFill>
            <a:srgbClr val="0ACDAB"/>
          </a:solidFill>
          <a:ln w="12700">
            <a:solidFill>
              <a:srgbClr val="0ACDAB"/>
            </a:solidFill>
            <a:prstDash val="solid"/>
          </a:ln>
        </p:spPr>
      </p:sp>
      <p:sp>
        <p:nvSpPr>
          <p:cNvPr id="8" name="Text 6"/>
          <p:cNvSpPr/>
          <p:nvPr/>
        </p:nvSpPr>
        <p:spPr>
          <a:xfrm>
            <a:off x="411480" y="2982702"/>
            <a:ext cx="3657600" cy="256032"/>
          </a:xfrm>
          <a:prstGeom prst="rect">
            <a:avLst/>
          </a:prstGeom>
          <a:noFill/>
          <a:ln/>
        </p:spPr>
        <p:txBody>
          <a:bodyPr wrap="square" rtlCol="0" anchor="ctr"/>
          <a:lstStyle/>
          <a:p>
            <a:pPr marL="0" indent="0" algn="l">
              <a:buNone/>
            </a:pPr>
            <a:r>
              <a:rPr lang="en-US" sz="1100" b="1" kern="0" spc="200" dirty="0">
                <a:solidFill>
                  <a:srgbClr val="0ACDAB"/>
                </a:solidFill>
              </a:rPr>
              <a:t>PRESENTED BY</a:t>
            </a:r>
            <a:endParaRPr lang="en-US" sz="1100" dirty="0"/>
          </a:p>
        </p:txBody>
      </p:sp>
      <p:sp>
        <p:nvSpPr>
          <p:cNvPr id="9" name="Shape 7"/>
          <p:cNvSpPr/>
          <p:nvPr/>
        </p:nvSpPr>
        <p:spPr>
          <a:xfrm>
            <a:off x="692840" y="3284809"/>
            <a:ext cx="2560320" cy="777240"/>
          </a:xfrm>
          <a:prstGeom prst="rect">
            <a:avLst/>
          </a:prstGeom>
          <a:solidFill>
            <a:srgbClr val="1282A2">
              <a:alpha val="25000"/>
            </a:srgbClr>
          </a:solidFill>
          <a:ln w="12700">
            <a:solidFill>
              <a:srgbClr val="1282A2"/>
            </a:solidFill>
            <a:prstDash val="solid"/>
          </a:ln>
          <a:effectLst>
            <a:outerShdw blurRad="101600" dist="38100" dir="8100000" algn="bl" rotWithShape="0">
              <a:srgbClr val="000000">
                <a:alpha val="18000"/>
              </a:srgbClr>
            </a:outerShdw>
          </a:effectLst>
        </p:spPr>
      </p:sp>
      <p:sp>
        <p:nvSpPr>
          <p:cNvPr id="10" name="Text 8"/>
          <p:cNvSpPr/>
          <p:nvPr/>
        </p:nvSpPr>
        <p:spPr>
          <a:xfrm>
            <a:off x="802568" y="3312241"/>
            <a:ext cx="2377440" cy="731520"/>
          </a:xfrm>
          <a:prstGeom prst="rect">
            <a:avLst/>
          </a:prstGeom>
          <a:noFill/>
          <a:ln/>
        </p:spPr>
        <p:txBody>
          <a:bodyPr wrap="square" lIns="0" tIns="0" rIns="0" bIns="0" rtlCol="0" anchor="ctr"/>
          <a:lstStyle/>
          <a:p>
            <a:pPr marL="0" indent="0">
              <a:buNone/>
            </a:pPr>
            <a:r>
              <a:rPr lang="en-US" sz="1600" b="1" dirty="0" err="1">
                <a:solidFill>
                  <a:srgbClr val="FFFFFF"/>
                </a:solidFill>
              </a:rPr>
              <a:t>Maham</a:t>
            </a:r>
            <a:r>
              <a:rPr lang="en-US" sz="1600" b="1" dirty="0">
                <a:solidFill>
                  <a:srgbClr val="FFFFFF"/>
                </a:solidFill>
              </a:rPr>
              <a:t> </a:t>
            </a:r>
            <a:r>
              <a:rPr lang="en-US" sz="1600" b="1" dirty="0" err="1" smtClean="0">
                <a:solidFill>
                  <a:srgbClr val="FFFFFF"/>
                </a:solidFill>
              </a:rPr>
              <a:t>Shahid</a:t>
            </a:r>
            <a:endParaRPr lang="en-US" sz="1600" dirty="0"/>
          </a:p>
          <a:p>
            <a:pPr marL="0" indent="0">
              <a:buNone/>
            </a:pPr>
            <a:r>
              <a:rPr lang="en-US" sz="1200" dirty="0">
                <a:solidFill>
                  <a:srgbClr val="D9EDF7"/>
                </a:solidFill>
              </a:rPr>
              <a:t>Roll No: FL-21506</a:t>
            </a:r>
            <a:endParaRPr lang="en-US" sz="1200" dirty="0"/>
          </a:p>
        </p:txBody>
      </p:sp>
      <p:sp>
        <p:nvSpPr>
          <p:cNvPr id="11" name="Shape 9"/>
          <p:cNvSpPr/>
          <p:nvPr/>
        </p:nvSpPr>
        <p:spPr>
          <a:xfrm>
            <a:off x="700576" y="4169308"/>
            <a:ext cx="2560320" cy="777240"/>
          </a:xfrm>
          <a:prstGeom prst="rect">
            <a:avLst/>
          </a:prstGeom>
          <a:solidFill>
            <a:srgbClr val="1282A2">
              <a:alpha val="25000"/>
            </a:srgbClr>
          </a:solidFill>
          <a:ln w="12700">
            <a:solidFill>
              <a:srgbClr val="1282A2"/>
            </a:solidFill>
            <a:prstDash val="solid"/>
          </a:ln>
          <a:effectLst>
            <a:outerShdw blurRad="101600" dist="38100" dir="8100000" algn="bl" rotWithShape="0">
              <a:srgbClr val="000000">
                <a:alpha val="18000"/>
              </a:srgbClr>
            </a:outerShdw>
          </a:effectLst>
        </p:spPr>
      </p:sp>
      <p:sp>
        <p:nvSpPr>
          <p:cNvPr id="12" name="Text 10"/>
          <p:cNvSpPr/>
          <p:nvPr/>
        </p:nvSpPr>
        <p:spPr>
          <a:xfrm>
            <a:off x="810304" y="4196740"/>
            <a:ext cx="2377440" cy="731520"/>
          </a:xfrm>
          <a:prstGeom prst="rect">
            <a:avLst/>
          </a:prstGeom>
          <a:noFill/>
          <a:ln/>
        </p:spPr>
        <p:txBody>
          <a:bodyPr wrap="square" lIns="0" tIns="0" rIns="0" bIns="0" rtlCol="0" anchor="ctr"/>
          <a:lstStyle/>
          <a:p>
            <a:pPr marL="0" indent="0">
              <a:buNone/>
            </a:pPr>
            <a:r>
              <a:rPr lang="en-US" sz="1600" b="1" dirty="0">
                <a:solidFill>
                  <a:srgbClr val="FFFFFF"/>
                </a:solidFill>
              </a:rPr>
              <a:t>Amna Tanveer</a:t>
            </a:r>
            <a:endParaRPr lang="en-US" sz="1600" dirty="0"/>
          </a:p>
          <a:p>
            <a:pPr marL="0" indent="0">
              <a:buNone/>
            </a:pPr>
            <a:r>
              <a:rPr lang="en-US" sz="1200" dirty="0">
                <a:solidFill>
                  <a:srgbClr val="D9EDF7"/>
                </a:solidFill>
              </a:rPr>
              <a:t>Roll No: FL-21533</a:t>
            </a:r>
            <a:endParaRPr lang="en-US" sz="1200" dirty="0"/>
          </a:p>
        </p:txBody>
      </p:sp>
      <p:sp>
        <p:nvSpPr>
          <p:cNvPr id="13" name="Text 11"/>
          <p:cNvSpPr/>
          <p:nvPr/>
        </p:nvSpPr>
        <p:spPr>
          <a:xfrm>
            <a:off x="4560752" y="3228889"/>
            <a:ext cx="2366889" cy="365760"/>
          </a:xfrm>
          <a:prstGeom prst="rect">
            <a:avLst/>
          </a:prstGeom>
          <a:noFill/>
          <a:ln/>
        </p:spPr>
        <p:txBody>
          <a:bodyPr wrap="square" lIns="0" tIns="0" rIns="0" bIns="0" rtlCol="0" anchor="ctr"/>
          <a:lstStyle/>
          <a:p>
            <a:pPr marL="0" indent="0" algn="l">
              <a:buNone/>
            </a:pPr>
            <a:r>
              <a:rPr lang="en-US" sz="1400" b="1" dirty="0">
                <a:solidFill>
                  <a:srgbClr val="D9EDF7"/>
                </a:solidFill>
              </a:rPr>
              <a:t>Supervised by:  </a:t>
            </a:r>
            <a:endParaRPr lang="en-US" sz="1400" b="1" dirty="0" smtClean="0">
              <a:solidFill>
                <a:srgbClr val="D9EDF7"/>
              </a:solidFill>
            </a:endParaRPr>
          </a:p>
          <a:p>
            <a:pPr marL="0" indent="0" algn="l">
              <a:buNone/>
            </a:pPr>
            <a:endParaRPr lang="en-US" dirty="0" smtClean="0">
              <a:solidFill>
                <a:srgbClr val="D9EDF7"/>
              </a:solidFill>
            </a:endParaRPr>
          </a:p>
          <a:p>
            <a:pPr marL="0" indent="0" algn="l">
              <a:buNone/>
            </a:pPr>
            <a:r>
              <a:rPr lang="en-US" b="1" dirty="0" smtClean="0">
                <a:solidFill>
                  <a:srgbClr val="FFFFFF"/>
                </a:solidFill>
              </a:rPr>
              <a:t>Dr</a:t>
            </a:r>
            <a:r>
              <a:rPr lang="en-US" b="1" dirty="0">
                <a:solidFill>
                  <a:srgbClr val="FFFFFF"/>
                </a:solidFill>
              </a:rPr>
              <a:t>. Hasan Humayun</a:t>
            </a:r>
            <a:endParaRPr lang="en-US" dirty="0"/>
          </a:p>
        </p:txBody>
      </p:sp>
      <p:sp>
        <p:nvSpPr>
          <p:cNvPr id="14" name="Text 12"/>
          <p:cNvSpPr/>
          <p:nvPr/>
        </p:nvSpPr>
        <p:spPr>
          <a:xfrm>
            <a:off x="5982286" y="4767538"/>
            <a:ext cx="8229600" cy="228600"/>
          </a:xfrm>
          <a:prstGeom prst="rect">
            <a:avLst/>
          </a:prstGeom>
          <a:noFill/>
          <a:ln/>
        </p:spPr>
        <p:txBody>
          <a:bodyPr wrap="square" rtlCol="0" anchor="ctr"/>
          <a:lstStyle/>
          <a:p>
            <a:pPr marL="0" indent="0" algn="l">
              <a:buNone/>
            </a:pPr>
            <a:r>
              <a:rPr lang="en-US" sz="900" dirty="0">
                <a:solidFill>
                  <a:srgbClr val="64748B"/>
                </a:solidFill>
              </a:rPr>
              <a:t>Session </a:t>
            </a:r>
            <a:r>
              <a:rPr lang="en-US" sz="900" dirty="0" smtClean="0">
                <a:solidFill>
                  <a:srgbClr val="64748B"/>
                </a:solidFill>
              </a:rPr>
              <a:t>2022–2026  </a:t>
            </a:r>
            <a:r>
              <a:rPr lang="en-US" sz="900" dirty="0">
                <a:solidFill>
                  <a:srgbClr val="64748B"/>
                </a:solidFill>
              </a:rPr>
              <a:t>·  Department of </a:t>
            </a:r>
            <a:r>
              <a:rPr lang="en-US" sz="900" dirty="0" smtClean="0">
                <a:solidFill>
                  <a:srgbClr val="64748B"/>
                </a:solidFill>
              </a:rPr>
              <a:t>Software Engineering</a:t>
            </a:r>
            <a:endParaRPr lang="en-US" sz="9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412480" cy="658368"/>
          </a:xfrm>
          <a:prstGeom prst="rect">
            <a:avLst/>
          </a:prstGeom>
          <a:noFill/>
          <a:ln/>
        </p:spPr>
        <p:txBody>
          <a:bodyPr wrap="square" rtlCol="0" anchor="ctr"/>
          <a:lstStyle/>
          <a:p>
            <a:pPr marL="0" indent="0">
              <a:buNone/>
            </a:pPr>
            <a:endParaRPr lang="en-US" sz="1000" dirty="0"/>
          </a:p>
        </p:txBody>
      </p:sp>
      <p:sp>
        <p:nvSpPr>
          <p:cNvPr id="4" name="Text 2"/>
          <p:cNvSpPr/>
          <p:nvPr/>
        </p:nvSpPr>
        <p:spPr>
          <a:xfrm>
            <a:off x="279779" y="436387"/>
            <a:ext cx="1390027" cy="281758"/>
          </a:xfrm>
          <a:prstGeom prst="rect">
            <a:avLst/>
          </a:prstGeom>
          <a:noFill/>
          <a:ln/>
        </p:spPr>
        <p:txBody>
          <a:bodyPr wrap="square" lIns="0" tIns="0" rIns="0" bIns="0" rtlCol="0" anchor="ctr"/>
          <a:lstStyle/>
          <a:p>
            <a:pPr marL="0" indent="0">
              <a:buNone/>
            </a:pPr>
            <a:r>
              <a:rPr lang="en-US" sz="2000" b="1" dirty="0" smtClean="0">
                <a:solidFill>
                  <a:srgbClr val="0B2545"/>
                </a:solidFill>
              </a:rPr>
              <a:t>Introduction:</a:t>
            </a:r>
          </a:p>
          <a:p>
            <a:pPr marL="0" indent="0">
              <a:buNone/>
            </a:pPr>
            <a:endParaRPr lang="en-US" sz="2000" dirty="0"/>
          </a:p>
        </p:txBody>
      </p:sp>
      <p:sp>
        <p:nvSpPr>
          <p:cNvPr id="5" name="Shape 3"/>
          <p:cNvSpPr/>
          <p:nvPr/>
        </p:nvSpPr>
        <p:spPr>
          <a:xfrm>
            <a:off x="176736" y="777922"/>
            <a:ext cx="8687485" cy="4251278"/>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7" name="Text 5"/>
          <p:cNvSpPr/>
          <p:nvPr/>
        </p:nvSpPr>
        <p:spPr>
          <a:xfrm>
            <a:off x="359616" y="1323696"/>
            <a:ext cx="1005840" cy="274320"/>
          </a:xfrm>
          <a:prstGeom prst="rect">
            <a:avLst/>
          </a:prstGeom>
          <a:noFill/>
          <a:ln/>
        </p:spPr>
        <p:txBody>
          <a:bodyPr wrap="square" lIns="0" tIns="0" rIns="0" bIns="0" rtlCol="0" anchor="ctr"/>
          <a:lstStyle/>
          <a:p>
            <a:pPr marL="0" indent="0">
              <a:buNone/>
            </a:pPr>
            <a:endParaRPr lang="en-US" sz="1300" dirty="0"/>
          </a:p>
        </p:txBody>
      </p:sp>
      <p:sp>
        <p:nvSpPr>
          <p:cNvPr id="8" name="Text 6"/>
          <p:cNvSpPr/>
          <p:nvPr/>
        </p:nvSpPr>
        <p:spPr>
          <a:xfrm>
            <a:off x="477673" y="1323696"/>
            <a:ext cx="8300567" cy="3541594"/>
          </a:xfrm>
          <a:prstGeom prst="rect">
            <a:avLst/>
          </a:prstGeom>
          <a:noFill/>
          <a:ln/>
        </p:spPr>
        <p:txBody>
          <a:bodyPr wrap="square" lIns="0" tIns="0" rIns="0" bIns="0" rtlCol="0" anchor="ctr"/>
          <a:lstStyle/>
          <a:p>
            <a:r>
              <a:rPr lang="en-US" sz="1400" b="1" dirty="0">
                <a:solidFill>
                  <a:srgbClr val="0070C0"/>
                </a:solidFill>
              </a:rPr>
              <a:t>Why Reinforcement Learning</a:t>
            </a:r>
            <a:r>
              <a:rPr lang="en-US" sz="1400" b="1" dirty="0" smtClean="0">
                <a:solidFill>
                  <a:srgbClr val="0070C0"/>
                </a:solidFill>
              </a:rPr>
              <a:t>?</a:t>
            </a:r>
          </a:p>
          <a:p>
            <a:endParaRPr lang="en-US" sz="1400" dirty="0"/>
          </a:p>
          <a:p>
            <a:pPr marL="228600" indent="-228600">
              <a:buFont typeface="+mj-lt"/>
              <a:buAutoNum type="arabicPeriod"/>
            </a:pPr>
            <a:r>
              <a:rPr lang="en-US" sz="1000" dirty="0"/>
              <a:t>RL agents learn by interacting with the </a:t>
            </a:r>
            <a:r>
              <a:rPr lang="en-US" sz="1000" dirty="0" smtClean="0"/>
              <a:t>environment, </a:t>
            </a:r>
            <a:r>
              <a:rPr lang="en-US" sz="1000" dirty="0"/>
              <a:t>monitoring traffic states, selecting actions</a:t>
            </a:r>
          </a:p>
          <a:p>
            <a:pPr marL="228600" indent="-228600">
              <a:buFont typeface="+mj-lt"/>
              <a:buAutoNum type="arabicPeriod"/>
            </a:pPr>
            <a:r>
              <a:rPr lang="en-US" sz="1000" dirty="0"/>
              <a:t>Rewards guide agents to reduce congestion and optimize flow</a:t>
            </a:r>
          </a:p>
          <a:p>
            <a:pPr marL="228600" indent="-228600">
              <a:buFont typeface="+mj-lt"/>
              <a:buAutoNum type="arabicPeriod"/>
            </a:pPr>
            <a:r>
              <a:rPr lang="en-US" sz="1000" dirty="0"/>
              <a:t>Self-learning and adaptable to constantly changing traffic </a:t>
            </a:r>
            <a:r>
              <a:rPr lang="en-US" sz="1000" dirty="0" smtClean="0"/>
              <a:t>conditions</a:t>
            </a:r>
          </a:p>
          <a:p>
            <a:endParaRPr lang="en-US" sz="1400" dirty="0" smtClean="0">
              <a:solidFill>
                <a:srgbClr val="0070C0"/>
              </a:solidFill>
            </a:endParaRPr>
          </a:p>
          <a:p>
            <a:endParaRPr lang="en-US" sz="1400" dirty="0">
              <a:solidFill>
                <a:srgbClr val="0070C0"/>
              </a:solidFill>
            </a:endParaRPr>
          </a:p>
          <a:p>
            <a:r>
              <a:rPr lang="en-US" sz="1400" b="1" dirty="0">
                <a:solidFill>
                  <a:srgbClr val="0070C0"/>
                </a:solidFill>
              </a:rPr>
              <a:t>Proposed </a:t>
            </a:r>
            <a:r>
              <a:rPr lang="en-US" sz="1400" b="1" dirty="0" smtClean="0">
                <a:solidFill>
                  <a:srgbClr val="0070C0"/>
                </a:solidFill>
              </a:rPr>
              <a:t>Solution, </a:t>
            </a:r>
            <a:r>
              <a:rPr lang="en-US" sz="1400" b="1" dirty="0">
                <a:solidFill>
                  <a:srgbClr val="0070C0"/>
                </a:solidFill>
              </a:rPr>
              <a:t>Core </a:t>
            </a:r>
            <a:r>
              <a:rPr lang="en-US" sz="1400" b="1" dirty="0" smtClean="0">
                <a:solidFill>
                  <a:srgbClr val="0070C0"/>
                </a:solidFill>
              </a:rPr>
              <a:t>Architecture</a:t>
            </a:r>
          </a:p>
          <a:p>
            <a:endParaRPr lang="en-US" sz="1400" dirty="0">
              <a:solidFill>
                <a:srgbClr val="0070C0"/>
              </a:solidFill>
            </a:endParaRPr>
          </a:p>
          <a:p>
            <a:pPr marL="228600" indent="-228600">
              <a:buFont typeface="+mj-lt"/>
              <a:buAutoNum type="arabicPeriod"/>
            </a:pPr>
            <a:r>
              <a:rPr lang="en-US" sz="1100" dirty="0"/>
              <a:t>Compares three algorithms: </a:t>
            </a:r>
            <a:r>
              <a:rPr lang="en-US" sz="1100" b="1" dirty="0"/>
              <a:t>MAQL, MADQN, and MAPPO</a:t>
            </a:r>
            <a:endParaRPr lang="en-US" sz="1100" dirty="0"/>
          </a:p>
          <a:p>
            <a:endParaRPr lang="en-US" sz="1000" dirty="0" smtClean="0"/>
          </a:p>
          <a:p>
            <a:endParaRPr lang="en-US" sz="1000" dirty="0" smtClean="0"/>
          </a:p>
          <a:p>
            <a:r>
              <a:rPr lang="en-US" sz="1600" b="1" dirty="0">
                <a:solidFill>
                  <a:srgbClr val="0070C0"/>
                </a:solidFill>
              </a:rPr>
              <a:t>Why GCN</a:t>
            </a:r>
            <a:r>
              <a:rPr lang="en-US" sz="1600" b="1" dirty="0" smtClean="0">
                <a:solidFill>
                  <a:srgbClr val="0070C0"/>
                </a:solidFill>
              </a:rPr>
              <a:t>?</a:t>
            </a:r>
          </a:p>
          <a:p>
            <a:endParaRPr lang="en-US" sz="1600" dirty="0">
              <a:solidFill>
                <a:srgbClr val="0070C0"/>
              </a:solidFill>
            </a:endParaRPr>
          </a:p>
          <a:p>
            <a:pPr marL="228600" indent="-228600">
              <a:buFont typeface="+mj-lt"/>
              <a:buAutoNum type="arabicPeriod"/>
            </a:pPr>
            <a:r>
              <a:rPr lang="en-US" sz="1100" dirty="0"/>
              <a:t>Traditional RL = agents only see their own local data</a:t>
            </a:r>
          </a:p>
          <a:p>
            <a:pPr marL="228600" indent="-228600">
              <a:buFont typeface="+mj-lt"/>
              <a:buAutoNum type="arabicPeriod"/>
            </a:pPr>
            <a:r>
              <a:rPr lang="en-US" sz="1100" dirty="0"/>
              <a:t>GCN allows agents to see: </a:t>
            </a:r>
          </a:p>
          <a:p>
            <a:pPr marL="685800" lvl="1" indent="-228600">
              <a:buFont typeface="+mj-lt"/>
              <a:buAutoNum type="arabicPeriod"/>
            </a:pPr>
            <a:r>
              <a:rPr lang="en-US" sz="1100" dirty="0"/>
              <a:t>Their own intersection state</a:t>
            </a:r>
          </a:p>
          <a:p>
            <a:pPr marL="685800" lvl="1" indent="-228600">
              <a:buFont typeface="+mj-lt"/>
              <a:buAutoNum type="arabicPeriod"/>
            </a:pPr>
            <a:r>
              <a:rPr lang="en-US" sz="1100" dirty="0"/>
              <a:t>Upstream &amp; downstream traffic dependencies</a:t>
            </a:r>
          </a:p>
          <a:p>
            <a:pPr marL="228600" indent="-228600">
              <a:buFont typeface="+mj-lt"/>
              <a:buAutoNum type="arabicPeriod"/>
            </a:pPr>
            <a:r>
              <a:rPr lang="en-US" sz="1100" dirty="0" smtClean="0"/>
              <a:t>Same </a:t>
            </a:r>
            <a:r>
              <a:rPr lang="en-US" sz="1100" dirty="0"/>
              <a:t>GCN backbone used across all three algorithms for </a:t>
            </a:r>
            <a:r>
              <a:rPr lang="en-US" sz="1100" b="1" dirty="0"/>
              <a:t>fair comparison</a:t>
            </a:r>
            <a:endParaRPr lang="en-US" sz="1100" dirty="0"/>
          </a:p>
          <a:p>
            <a:endParaRPr lang="en-US" sz="1000" dirty="0"/>
          </a:p>
          <a:p>
            <a:endParaRPr lang="en-US" sz="1000" dirty="0" smtClean="0"/>
          </a:p>
          <a:p>
            <a:endParaRPr lang="en-US" sz="1000" dirty="0"/>
          </a:p>
          <a:p>
            <a:endParaRPr lang="en-US" sz="1000" dirty="0" smtClean="0"/>
          </a:p>
          <a:p>
            <a:endParaRPr lang="en-US" sz="1000" dirty="0"/>
          </a:p>
        </p:txBody>
      </p:sp>
    </p:spTree>
    <p:extLst>
      <p:ext uri="{BB962C8B-B14F-4D97-AF65-F5344CB8AC3E}">
        <p14:creationId xmlns:p14="http://schemas.microsoft.com/office/powerpoint/2010/main" val="7925791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128146" y="89744"/>
            <a:ext cx="2759577" cy="430064"/>
          </a:xfrm>
          <a:prstGeom prst="rect">
            <a:avLst/>
          </a:prstGeom>
          <a:noFill/>
          <a:ln/>
        </p:spPr>
        <p:txBody>
          <a:bodyPr wrap="square" rtlCol="0" anchor="ctr"/>
          <a:lstStyle/>
          <a:p>
            <a:pPr marL="0" indent="0">
              <a:buNone/>
            </a:pPr>
            <a:r>
              <a:rPr lang="en-US" sz="2000" b="1" kern="0" spc="200" dirty="0" smtClean="0">
                <a:solidFill>
                  <a:srgbClr val="0070C0"/>
                </a:solidFill>
              </a:rPr>
              <a:t>Research Problem:</a:t>
            </a:r>
            <a:endParaRPr lang="en-US" sz="2000" dirty="0">
              <a:solidFill>
                <a:srgbClr val="0070C0"/>
              </a:solidFill>
            </a:endParaRPr>
          </a:p>
        </p:txBody>
      </p:sp>
      <p:sp>
        <p:nvSpPr>
          <p:cNvPr id="4" name="Text 2"/>
          <p:cNvSpPr/>
          <p:nvPr/>
        </p:nvSpPr>
        <p:spPr>
          <a:xfrm>
            <a:off x="-939652" y="488077"/>
            <a:ext cx="3931920" cy="411480"/>
          </a:xfrm>
          <a:prstGeom prst="rect">
            <a:avLst/>
          </a:prstGeom>
          <a:noFill/>
          <a:ln/>
        </p:spPr>
        <p:txBody>
          <a:bodyPr wrap="square" lIns="0" tIns="0" rIns="0" bIns="0" rtlCol="0" anchor="ctr"/>
          <a:lstStyle/>
          <a:p>
            <a:pPr marL="0" indent="0">
              <a:buNone/>
            </a:pPr>
            <a:endParaRPr lang="en-US" sz="1700" dirty="0"/>
          </a:p>
        </p:txBody>
      </p:sp>
      <p:sp>
        <p:nvSpPr>
          <p:cNvPr id="5" name="Shape 3"/>
          <p:cNvSpPr/>
          <p:nvPr/>
        </p:nvSpPr>
        <p:spPr>
          <a:xfrm>
            <a:off x="1249449" y="600929"/>
            <a:ext cx="7316708" cy="1585352"/>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7" name="Text 5"/>
          <p:cNvSpPr/>
          <p:nvPr/>
        </p:nvSpPr>
        <p:spPr>
          <a:xfrm>
            <a:off x="1432329" y="660157"/>
            <a:ext cx="1896358" cy="187416"/>
          </a:xfrm>
          <a:prstGeom prst="rect">
            <a:avLst/>
          </a:prstGeom>
          <a:noFill/>
          <a:ln/>
        </p:spPr>
        <p:txBody>
          <a:bodyPr wrap="square" lIns="0" tIns="0" rIns="0" bIns="0" rtlCol="0" anchor="ctr"/>
          <a:lstStyle/>
          <a:p>
            <a:pPr marL="0" indent="0">
              <a:buNone/>
            </a:pPr>
            <a:r>
              <a:rPr lang="en-US" sz="1400" b="1" dirty="0" smtClean="0">
                <a:solidFill>
                  <a:srgbClr val="1282A2"/>
                </a:solidFill>
              </a:rPr>
              <a:t>Research Scope:</a:t>
            </a:r>
            <a:endParaRPr lang="en-US" sz="1400" dirty="0"/>
          </a:p>
        </p:txBody>
      </p:sp>
      <p:sp>
        <p:nvSpPr>
          <p:cNvPr id="8" name="Text 6"/>
          <p:cNvSpPr/>
          <p:nvPr/>
        </p:nvSpPr>
        <p:spPr>
          <a:xfrm>
            <a:off x="1429058" y="1061085"/>
            <a:ext cx="7215715" cy="890234"/>
          </a:xfrm>
          <a:prstGeom prst="rect">
            <a:avLst/>
          </a:prstGeom>
          <a:noFill/>
          <a:ln/>
        </p:spPr>
        <p:txBody>
          <a:bodyPr wrap="square" lIns="0" tIns="0" rIns="0" bIns="0" rtlCol="0" anchor="ctr"/>
          <a:lstStyle/>
          <a:p>
            <a:pPr marL="228600" indent="-228600">
              <a:buFont typeface="+mj-lt"/>
              <a:buAutoNum type="arabicPeriod"/>
            </a:pPr>
            <a:r>
              <a:rPr lang="en-US" sz="1100" dirty="0" smtClean="0"/>
              <a:t>This </a:t>
            </a:r>
            <a:r>
              <a:rPr lang="en-US" sz="1100" dirty="0"/>
              <a:t>research inspects ATSC (Adaptive Traffic Signal Control) using </a:t>
            </a:r>
            <a:r>
              <a:rPr lang="en-US" sz="1100" dirty="0" smtClean="0"/>
              <a:t>MARL (Multi </a:t>
            </a:r>
            <a:r>
              <a:rPr lang="en-US" sz="1100" dirty="0"/>
              <a:t>Agent Reinforcement Learning</a:t>
            </a:r>
            <a:r>
              <a:rPr lang="en-US" sz="1100" dirty="0" smtClean="0"/>
              <a:t>).</a:t>
            </a:r>
          </a:p>
          <a:p>
            <a:pPr marL="228600" indent="-228600">
              <a:buFont typeface="+mj-lt"/>
              <a:buAutoNum type="arabicPeriod"/>
            </a:pPr>
            <a:endParaRPr lang="en-US" sz="1100" dirty="0" smtClean="0"/>
          </a:p>
          <a:p>
            <a:pPr marL="228600" indent="-228600">
              <a:buFont typeface="+mj-lt"/>
              <a:buAutoNum type="arabicPeriod"/>
            </a:pPr>
            <a:r>
              <a:rPr lang="en-US" sz="1100" dirty="0" smtClean="0"/>
              <a:t>Assess </a:t>
            </a:r>
            <a:r>
              <a:rPr lang="en-US" sz="1100" dirty="0"/>
              <a:t>and compare three Reinforcement Learning (RL) learning algorithms </a:t>
            </a:r>
            <a:r>
              <a:rPr lang="en-US" sz="1100" dirty="0" err="1"/>
              <a:t>i.e</a:t>
            </a:r>
            <a:r>
              <a:rPr lang="en-US" sz="1100" dirty="0" smtClean="0"/>
              <a:t>, MAQL, MADQN, and MAPPO.</a:t>
            </a:r>
          </a:p>
          <a:p>
            <a:pPr marL="228600" indent="-228600">
              <a:buFont typeface="+mj-lt"/>
              <a:buAutoNum type="arabicPeriod"/>
            </a:pPr>
            <a:endParaRPr lang="en-US" sz="1100" dirty="0" smtClean="0"/>
          </a:p>
          <a:p>
            <a:pPr marL="228600" indent="-228600">
              <a:buFont typeface="+mj-lt"/>
              <a:buAutoNum type="arabicPeriod"/>
            </a:pPr>
            <a:r>
              <a:rPr lang="en-US" sz="1100" dirty="0" smtClean="0"/>
              <a:t>The </a:t>
            </a:r>
            <a:r>
              <a:rPr lang="en-US" sz="1100" dirty="0"/>
              <a:t>research is conducted in 4 x 4 </a:t>
            </a:r>
            <a:r>
              <a:rPr lang="en-US" sz="1100" dirty="0" smtClean="0"/>
              <a:t>SUMO (Simulation </a:t>
            </a:r>
            <a:r>
              <a:rPr lang="en-US" sz="1100" dirty="0"/>
              <a:t>of Urban </a:t>
            </a:r>
            <a:r>
              <a:rPr lang="en-US" sz="1100" dirty="0" err="1"/>
              <a:t>MObility</a:t>
            </a:r>
            <a:r>
              <a:rPr lang="en-US" sz="1100" dirty="0"/>
              <a:t>) Grid network replicating </a:t>
            </a:r>
            <a:r>
              <a:rPr lang="en-US" sz="1100" dirty="0" smtClean="0"/>
              <a:t>Manhattan.</a:t>
            </a:r>
          </a:p>
          <a:p>
            <a:pPr marL="228600" indent="-228600">
              <a:buFont typeface="+mj-lt"/>
              <a:buAutoNum type="arabicPeriod"/>
            </a:pPr>
            <a:endParaRPr lang="en-US" sz="1100" dirty="0" smtClean="0"/>
          </a:p>
          <a:p>
            <a:pPr marL="228600" indent="-228600">
              <a:buFont typeface="+mj-lt"/>
              <a:buAutoNum type="arabicPeriod"/>
            </a:pPr>
            <a:r>
              <a:rPr lang="en-US" sz="1100" dirty="0" smtClean="0"/>
              <a:t>Compare </a:t>
            </a:r>
            <a:r>
              <a:rPr lang="en-US" sz="1100" dirty="0"/>
              <a:t>these algorithms across different traffic densities </a:t>
            </a:r>
            <a:r>
              <a:rPr lang="en-US" sz="1100" dirty="0" smtClean="0"/>
              <a:t>(Off-Peak, Medium</a:t>
            </a:r>
            <a:r>
              <a:rPr lang="en-US" sz="1100" dirty="0"/>
              <a:t>, </a:t>
            </a:r>
            <a:r>
              <a:rPr lang="en-US" sz="1100" dirty="0" smtClean="0"/>
              <a:t>Peak).</a:t>
            </a:r>
            <a:endParaRPr lang="en-US" sz="1100" dirty="0"/>
          </a:p>
        </p:txBody>
      </p:sp>
      <p:sp>
        <p:nvSpPr>
          <p:cNvPr id="9" name="Shape 7"/>
          <p:cNvSpPr/>
          <p:nvPr/>
        </p:nvSpPr>
        <p:spPr>
          <a:xfrm>
            <a:off x="387453" y="2327337"/>
            <a:ext cx="6081586" cy="1328347"/>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1" name="Text 9"/>
          <p:cNvSpPr/>
          <p:nvPr/>
        </p:nvSpPr>
        <p:spPr>
          <a:xfrm>
            <a:off x="570334" y="2373057"/>
            <a:ext cx="1594436" cy="274320"/>
          </a:xfrm>
          <a:prstGeom prst="rect">
            <a:avLst/>
          </a:prstGeom>
          <a:noFill/>
          <a:ln/>
        </p:spPr>
        <p:txBody>
          <a:bodyPr wrap="square" lIns="0" tIns="0" rIns="0" bIns="0" rtlCol="0" anchor="ctr"/>
          <a:lstStyle/>
          <a:p>
            <a:pPr marL="0" indent="0">
              <a:buNone/>
            </a:pPr>
            <a:r>
              <a:rPr lang="en-US" sz="1400" b="1" dirty="0" smtClean="0">
                <a:solidFill>
                  <a:srgbClr val="E76F51"/>
                </a:solidFill>
              </a:rPr>
              <a:t>Research Objectives</a:t>
            </a:r>
            <a:endParaRPr lang="en-US" sz="1400" dirty="0"/>
          </a:p>
        </p:txBody>
      </p:sp>
      <p:sp>
        <p:nvSpPr>
          <p:cNvPr id="12" name="Text 10"/>
          <p:cNvSpPr/>
          <p:nvPr/>
        </p:nvSpPr>
        <p:spPr>
          <a:xfrm>
            <a:off x="691798" y="2653316"/>
            <a:ext cx="5830852" cy="964623"/>
          </a:xfrm>
          <a:prstGeom prst="rect">
            <a:avLst/>
          </a:prstGeom>
          <a:noFill/>
          <a:ln/>
        </p:spPr>
        <p:txBody>
          <a:bodyPr wrap="square" lIns="0" tIns="0" rIns="0" bIns="0" rtlCol="0" anchor="ctr"/>
          <a:lstStyle/>
          <a:p>
            <a:r>
              <a:rPr lang="en-US" sz="1100" dirty="0" smtClean="0"/>
              <a:t>1. To </a:t>
            </a:r>
            <a:r>
              <a:rPr lang="en-US" sz="1100" dirty="0"/>
              <a:t>evaluate the results in terms of traffic </a:t>
            </a:r>
            <a:r>
              <a:rPr lang="en-US" sz="1100" dirty="0" smtClean="0"/>
              <a:t>efficiency and travel time of vehicles?</a:t>
            </a:r>
          </a:p>
          <a:p>
            <a:endParaRPr lang="en-US" sz="1100" dirty="0"/>
          </a:p>
          <a:p>
            <a:r>
              <a:rPr lang="en-US" sz="1100" dirty="0"/>
              <a:t>2. To assess adaptability of the three comparison models in different traffic densities</a:t>
            </a:r>
            <a:r>
              <a:rPr lang="en-US" sz="1100" dirty="0" smtClean="0"/>
              <a:t>?</a:t>
            </a:r>
          </a:p>
          <a:p>
            <a:endParaRPr lang="en-US" sz="1100" dirty="0"/>
          </a:p>
          <a:p>
            <a:r>
              <a:rPr lang="en-US" sz="1100" dirty="0"/>
              <a:t>3. To evaluate the best models for RL (Reinforcement Learning) in TSC (Traffic </a:t>
            </a:r>
            <a:r>
              <a:rPr lang="en-US" sz="1100" dirty="0" smtClean="0"/>
              <a:t> Signal Control</a:t>
            </a:r>
            <a:r>
              <a:rPr lang="en-US" sz="1100" dirty="0"/>
              <a:t>)?</a:t>
            </a:r>
          </a:p>
        </p:txBody>
      </p:sp>
      <p:sp>
        <p:nvSpPr>
          <p:cNvPr id="33" name="Shape 15"/>
          <p:cNvSpPr/>
          <p:nvPr/>
        </p:nvSpPr>
        <p:spPr>
          <a:xfrm>
            <a:off x="1959275" y="3792634"/>
            <a:ext cx="6454569" cy="1298924"/>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34" name="Text 17"/>
          <p:cNvSpPr/>
          <p:nvPr/>
        </p:nvSpPr>
        <p:spPr>
          <a:xfrm>
            <a:off x="2053445" y="3822526"/>
            <a:ext cx="2232633" cy="274320"/>
          </a:xfrm>
          <a:prstGeom prst="rect">
            <a:avLst/>
          </a:prstGeom>
          <a:noFill/>
          <a:ln/>
        </p:spPr>
        <p:txBody>
          <a:bodyPr wrap="square" lIns="0" tIns="0" rIns="0" bIns="0" rtlCol="0" anchor="ctr"/>
          <a:lstStyle/>
          <a:p>
            <a:pPr marL="0" indent="0">
              <a:buNone/>
            </a:pPr>
            <a:r>
              <a:rPr lang="en-US" sz="1400" b="1" dirty="0" smtClean="0">
                <a:solidFill>
                  <a:srgbClr val="7B2D8B"/>
                </a:solidFill>
              </a:rPr>
              <a:t>Research Questions:</a:t>
            </a:r>
            <a:endParaRPr lang="en-US" sz="1400" dirty="0"/>
          </a:p>
        </p:txBody>
      </p:sp>
      <p:sp>
        <p:nvSpPr>
          <p:cNvPr id="35" name="Text 18"/>
          <p:cNvSpPr/>
          <p:nvPr/>
        </p:nvSpPr>
        <p:spPr>
          <a:xfrm>
            <a:off x="2200162" y="4166021"/>
            <a:ext cx="5822411" cy="895906"/>
          </a:xfrm>
          <a:prstGeom prst="rect">
            <a:avLst/>
          </a:prstGeom>
          <a:noFill/>
          <a:ln/>
        </p:spPr>
        <p:txBody>
          <a:bodyPr wrap="square" lIns="0" tIns="0" rIns="0" bIns="0" rtlCol="0" anchor="ctr"/>
          <a:lstStyle/>
          <a:p>
            <a:r>
              <a:rPr lang="en-US" sz="1100" dirty="0" smtClean="0"/>
              <a:t>1. To </a:t>
            </a:r>
            <a:r>
              <a:rPr lang="en-US" sz="1100" dirty="0"/>
              <a:t>identify results achieved from this comparison research</a:t>
            </a:r>
            <a:r>
              <a:rPr lang="en-US" sz="1100" dirty="0" smtClean="0"/>
              <a:t>?</a:t>
            </a:r>
          </a:p>
          <a:p>
            <a:endParaRPr lang="en-US" sz="1100" dirty="0"/>
          </a:p>
          <a:p>
            <a:r>
              <a:rPr lang="en-US" sz="1100" dirty="0"/>
              <a:t>2. To identify how the three comparison models, make system adaptive</a:t>
            </a:r>
            <a:r>
              <a:rPr lang="en-US" sz="1100" dirty="0" smtClean="0"/>
              <a:t>?</a:t>
            </a:r>
          </a:p>
          <a:p>
            <a:endParaRPr lang="en-US" sz="1100" dirty="0"/>
          </a:p>
          <a:p>
            <a:r>
              <a:rPr lang="en-US" sz="1100" dirty="0"/>
              <a:t>3. To determine the five best models for RL (Reinforcement Learning) in TSC (</a:t>
            </a:r>
            <a:r>
              <a:rPr lang="en-US" sz="1100" dirty="0" smtClean="0"/>
              <a:t>Traffic  Signal </a:t>
            </a:r>
            <a:r>
              <a:rPr lang="en-US" sz="1100" dirty="0"/>
              <a:t>Control)?</a:t>
            </a:r>
          </a:p>
        </p:txBody>
      </p:sp>
    </p:spTree>
    <p:extLst>
      <p:ext uri="{BB962C8B-B14F-4D97-AF65-F5344CB8AC3E}">
        <p14:creationId xmlns:p14="http://schemas.microsoft.com/office/powerpoint/2010/main" val="40709640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176737" y="0"/>
            <a:ext cx="3030487" cy="658368"/>
          </a:xfrm>
          <a:prstGeom prst="rect">
            <a:avLst/>
          </a:prstGeom>
          <a:noFill/>
          <a:ln/>
        </p:spPr>
        <p:txBody>
          <a:bodyPr wrap="square" rtlCol="0" anchor="ctr"/>
          <a:lstStyle/>
          <a:p>
            <a:pPr marL="0" indent="0">
              <a:buNone/>
            </a:pPr>
            <a:r>
              <a:rPr lang="en-US" sz="2000" b="1" kern="0" spc="200" dirty="0" smtClean="0">
                <a:solidFill>
                  <a:srgbClr val="0ACDAB"/>
                </a:solidFill>
              </a:rPr>
              <a:t>Literature Review</a:t>
            </a:r>
            <a:endParaRPr lang="en-US" sz="2000" dirty="0"/>
          </a:p>
        </p:txBody>
      </p:sp>
      <p:sp>
        <p:nvSpPr>
          <p:cNvPr id="5" name="Shape 3"/>
          <p:cNvSpPr/>
          <p:nvPr/>
        </p:nvSpPr>
        <p:spPr>
          <a:xfrm>
            <a:off x="176737" y="771368"/>
            <a:ext cx="5896517" cy="929822"/>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dirty="0"/>
          </a:p>
        </p:txBody>
      </p:sp>
      <p:sp>
        <p:nvSpPr>
          <p:cNvPr id="6" name="Shape 4"/>
          <p:cNvSpPr/>
          <p:nvPr/>
        </p:nvSpPr>
        <p:spPr>
          <a:xfrm>
            <a:off x="165070" y="764544"/>
            <a:ext cx="103106" cy="929822"/>
          </a:xfrm>
          <a:prstGeom prst="rect">
            <a:avLst/>
          </a:prstGeom>
          <a:solidFill>
            <a:srgbClr val="1282A2"/>
          </a:solidFill>
          <a:ln w="12700">
            <a:solidFill>
              <a:srgbClr val="1282A2"/>
            </a:solidFill>
            <a:prstDash val="solid"/>
          </a:ln>
        </p:spPr>
      </p:sp>
      <p:sp>
        <p:nvSpPr>
          <p:cNvPr id="9" name="Shape 7"/>
          <p:cNvSpPr/>
          <p:nvPr/>
        </p:nvSpPr>
        <p:spPr>
          <a:xfrm>
            <a:off x="165071" y="1809959"/>
            <a:ext cx="5908183" cy="717476"/>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0" name="Shape 8"/>
          <p:cNvSpPr/>
          <p:nvPr/>
        </p:nvSpPr>
        <p:spPr>
          <a:xfrm>
            <a:off x="156264" y="1809958"/>
            <a:ext cx="100246" cy="717477"/>
          </a:xfrm>
          <a:prstGeom prst="rect">
            <a:avLst/>
          </a:prstGeom>
          <a:solidFill>
            <a:srgbClr val="E76F51"/>
          </a:solidFill>
          <a:ln w="12700">
            <a:solidFill>
              <a:srgbClr val="E76F51"/>
            </a:solidFill>
            <a:prstDash val="solid"/>
          </a:ln>
        </p:spPr>
      </p:sp>
      <p:sp>
        <p:nvSpPr>
          <p:cNvPr id="11" name="Text 9"/>
          <p:cNvSpPr/>
          <p:nvPr/>
        </p:nvSpPr>
        <p:spPr>
          <a:xfrm>
            <a:off x="347949" y="2029328"/>
            <a:ext cx="1978993" cy="132479"/>
          </a:xfrm>
          <a:prstGeom prst="rect">
            <a:avLst/>
          </a:prstGeom>
          <a:noFill/>
          <a:ln/>
        </p:spPr>
        <p:txBody>
          <a:bodyPr wrap="square" lIns="0" tIns="0" rIns="0" bIns="0" rtlCol="0" anchor="ctr"/>
          <a:lstStyle/>
          <a:p>
            <a:r>
              <a:rPr lang="en-US" sz="1400" b="1" dirty="0">
                <a:solidFill>
                  <a:schemeClr val="accent2">
                    <a:lumMod val="75000"/>
                  </a:schemeClr>
                </a:solidFill>
              </a:rPr>
              <a:t>Isolated / Single-Agent RL</a:t>
            </a:r>
            <a:endParaRPr lang="en-US" sz="1400" dirty="0">
              <a:solidFill>
                <a:schemeClr val="accent2">
                  <a:lumMod val="75000"/>
                </a:schemeClr>
              </a:solidFill>
            </a:endParaRPr>
          </a:p>
          <a:p>
            <a:pPr marL="0" indent="0">
              <a:buNone/>
            </a:pPr>
            <a:endParaRPr lang="en-US" sz="1300" dirty="0">
              <a:solidFill>
                <a:schemeClr val="accent2">
                  <a:lumMod val="75000"/>
                </a:schemeClr>
              </a:solidFill>
            </a:endParaRPr>
          </a:p>
        </p:txBody>
      </p:sp>
      <p:sp>
        <p:nvSpPr>
          <p:cNvPr id="12" name="Text 10"/>
          <p:cNvSpPr/>
          <p:nvPr/>
        </p:nvSpPr>
        <p:spPr>
          <a:xfrm>
            <a:off x="365760" y="2130089"/>
            <a:ext cx="5530073" cy="318266"/>
          </a:xfrm>
          <a:prstGeom prst="rect">
            <a:avLst/>
          </a:prstGeom>
          <a:noFill/>
          <a:ln/>
        </p:spPr>
        <p:txBody>
          <a:bodyPr wrap="square" lIns="0" tIns="0" rIns="0" bIns="0" rtlCol="0" anchor="ctr"/>
          <a:lstStyle/>
          <a:p>
            <a:pPr marL="228600" indent="-228600">
              <a:buFont typeface="+mj-lt"/>
              <a:buAutoNum type="arabicPeriod"/>
            </a:pPr>
            <a:r>
              <a:rPr lang="en-US" sz="1000" b="1" dirty="0" smtClean="0"/>
              <a:t>Q-Learning                                           2. SARSA </a:t>
            </a:r>
            <a:r>
              <a:rPr lang="en-US" sz="1000" b="1" dirty="0"/>
              <a:t>&amp; PPO (single </a:t>
            </a:r>
            <a:r>
              <a:rPr lang="en-US" sz="1000" b="1" dirty="0" smtClean="0"/>
              <a:t>agent)</a:t>
            </a:r>
            <a:r>
              <a:rPr lang="en-US" sz="1000" dirty="0" smtClean="0"/>
              <a:t>                                    3. </a:t>
            </a:r>
            <a:r>
              <a:rPr lang="en-US" sz="1000" b="1" dirty="0" smtClean="0"/>
              <a:t>DQN</a:t>
            </a:r>
            <a:endParaRPr lang="en-US" sz="1000" dirty="0"/>
          </a:p>
        </p:txBody>
      </p:sp>
      <p:sp>
        <p:nvSpPr>
          <p:cNvPr id="13" name="Shape 11"/>
          <p:cNvSpPr/>
          <p:nvPr/>
        </p:nvSpPr>
        <p:spPr>
          <a:xfrm>
            <a:off x="156264" y="2668544"/>
            <a:ext cx="5916990" cy="873047"/>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5" name="Text 13"/>
          <p:cNvSpPr/>
          <p:nvPr/>
        </p:nvSpPr>
        <p:spPr>
          <a:xfrm>
            <a:off x="327476" y="2708386"/>
            <a:ext cx="4435591" cy="274320"/>
          </a:xfrm>
          <a:prstGeom prst="rect">
            <a:avLst/>
          </a:prstGeom>
          <a:noFill/>
          <a:ln/>
        </p:spPr>
        <p:txBody>
          <a:bodyPr wrap="square" lIns="0" tIns="0" rIns="0" bIns="0" rtlCol="0" anchor="ctr"/>
          <a:lstStyle/>
          <a:p>
            <a:r>
              <a:rPr lang="en-US" sz="1400" b="1" dirty="0">
                <a:solidFill>
                  <a:schemeClr val="accent6">
                    <a:lumMod val="75000"/>
                  </a:schemeClr>
                </a:solidFill>
              </a:rPr>
              <a:t>Multi-Agent RL (</a:t>
            </a:r>
            <a:r>
              <a:rPr lang="en-US" sz="1400" b="1" dirty="0" smtClean="0">
                <a:solidFill>
                  <a:schemeClr val="accent6">
                    <a:lumMod val="75000"/>
                  </a:schemeClr>
                </a:solidFill>
              </a:rPr>
              <a:t>MARL)   Scalability </a:t>
            </a:r>
            <a:r>
              <a:rPr lang="en-US" sz="1400" b="1" dirty="0">
                <a:solidFill>
                  <a:schemeClr val="accent6">
                    <a:lumMod val="75000"/>
                  </a:schemeClr>
                </a:solidFill>
              </a:rPr>
              <a:t>Solutions</a:t>
            </a:r>
            <a:endParaRPr lang="en-US" sz="1300" b="1" dirty="0">
              <a:solidFill>
                <a:schemeClr val="accent6">
                  <a:lumMod val="75000"/>
                </a:schemeClr>
              </a:solidFill>
            </a:endParaRPr>
          </a:p>
        </p:txBody>
      </p:sp>
      <p:sp>
        <p:nvSpPr>
          <p:cNvPr id="20" name="Text 18"/>
          <p:cNvSpPr/>
          <p:nvPr/>
        </p:nvSpPr>
        <p:spPr>
          <a:xfrm>
            <a:off x="501298" y="4558847"/>
            <a:ext cx="8251131" cy="402336"/>
          </a:xfrm>
          <a:prstGeom prst="rect">
            <a:avLst/>
          </a:prstGeom>
          <a:noFill/>
          <a:ln/>
        </p:spPr>
        <p:txBody>
          <a:bodyPr wrap="square" lIns="0" tIns="0" rIns="0" bIns="0" rtlCol="0" anchor="ctr"/>
          <a:lstStyle/>
          <a:p>
            <a:endParaRPr lang="en-US" sz="1000" dirty="0"/>
          </a:p>
        </p:txBody>
      </p:sp>
      <p:sp>
        <p:nvSpPr>
          <p:cNvPr id="24" name="Rectangle 3"/>
          <p:cNvSpPr>
            <a:spLocks noChangeArrowheads="1"/>
          </p:cNvSpPr>
          <p:nvPr/>
        </p:nvSpPr>
        <p:spPr bwMode="auto">
          <a:xfrm>
            <a:off x="281758" y="3107672"/>
            <a:ext cx="4808858" cy="25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000" b="1" i="0" u="none" strike="noStrike" cap="none" normalizeH="0" baseline="0" dirty="0" smtClean="0">
                <a:ln>
                  <a:noFill/>
                </a:ln>
                <a:solidFill>
                  <a:schemeClr val="tx1"/>
                </a:solidFill>
                <a:effectLst/>
              </a:rPr>
              <a:t>Decentralized A2C (MARL)</a:t>
            </a:r>
            <a:r>
              <a:rPr lang="en-US" sz="1000" dirty="0"/>
              <a:t> </a:t>
            </a:r>
            <a:r>
              <a:rPr lang="en-US" sz="1000" dirty="0" smtClean="0"/>
              <a:t>                     2. </a:t>
            </a:r>
            <a:r>
              <a:rPr kumimoji="0" lang="en-US" sz="1000" b="1" i="0" u="none" strike="noStrike" cap="none" normalizeH="0" baseline="0" dirty="0" smtClean="0">
                <a:ln>
                  <a:noFill/>
                </a:ln>
                <a:solidFill>
                  <a:schemeClr val="tx1"/>
                </a:solidFill>
                <a:effectLst/>
              </a:rPr>
              <a:t>SAC (single agent)</a:t>
            </a:r>
            <a:endParaRPr kumimoji="0" lang="en-US" sz="1000" b="0" i="0" u="none" strike="noStrike" cap="none" normalizeH="0" baseline="0" dirty="0" smtClean="0">
              <a:ln>
                <a:noFill/>
              </a:ln>
              <a:solidFill>
                <a:schemeClr val="tx1"/>
              </a:solidFill>
              <a:effectLst/>
            </a:endParaRPr>
          </a:p>
        </p:txBody>
      </p:sp>
      <p:sp>
        <p:nvSpPr>
          <p:cNvPr id="32" name="Text 9"/>
          <p:cNvSpPr/>
          <p:nvPr/>
        </p:nvSpPr>
        <p:spPr>
          <a:xfrm>
            <a:off x="347948" y="795528"/>
            <a:ext cx="1978993" cy="274320"/>
          </a:xfrm>
          <a:prstGeom prst="rect">
            <a:avLst/>
          </a:prstGeom>
          <a:noFill/>
          <a:ln/>
        </p:spPr>
        <p:txBody>
          <a:bodyPr wrap="square" lIns="0" tIns="0" rIns="0" bIns="0" rtlCol="0" anchor="ctr"/>
          <a:lstStyle/>
          <a:p>
            <a:r>
              <a:rPr lang="en-US" sz="1400" b="1" dirty="0">
                <a:solidFill>
                  <a:srgbClr val="00B0F0"/>
                </a:solidFill>
              </a:rPr>
              <a:t>Traditional TSC Methods</a:t>
            </a:r>
            <a:endParaRPr lang="en-US" sz="1300" b="1" dirty="0">
              <a:solidFill>
                <a:srgbClr val="00B0F0"/>
              </a:solidFill>
            </a:endParaRPr>
          </a:p>
        </p:txBody>
      </p:sp>
      <p:sp>
        <p:nvSpPr>
          <p:cNvPr id="33" name="Text 10"/>
          <p:cNvSpPr/>
          <p:nvPr/>
        </p:nvSpPr>
        <p:spPr>
          <a:xfrm>
            <a:off x="427175" y="1173444"/>
            <a:ext cx="5543721" cy="318266"/>
          </a:xfrm>
          <a:prstGeom prst="rect">
            <a:avLst/>
          </a:prstGeom>
          <a:noFill/>
          <a:ln/>
        </p:spPr>
        <p:txBody>
          <a:bodyPr wrap="square" lIns="0" tIns="0" rIns="0" bIns="0" rtlCol="0" anchor="ctr"/>
          <a:lstStyle/>
          <a:p>
            <a:r>
              <a:rPr lang="en-US" sz="1000" b="1" dirty="0" smtClean="0"/>
              <a:t>1. Fixed Time Control                             2.  Actuated Control</a:t>
            </a:r>
          </a:p>
          <a:p>
            <a:pPr marL="171450" indent="-171450">
              <a:buFont typeface="Arial" panose="020B0604020202020204" pitchFamily="34" charset="0"/>
              <a:buChar char="•"/>
            </a:pPr>
            <a:endParaRPr lang="en-US" sz="1000" b="1" dirty="0" smtClean="0"/>
          </a:p>
          <a:p>
            <a:pPr marL="171450" indent="-171450">
              <a:buFont typeface="Arial" panose="020B0604020202020204" pitchFamily="34" charset="0"/>
              <a:buChar char="•"/>
            </a:pPr>
            <a:r>
              <a:rPr lang="en-US" sz="1000" b="1" dirty="0"/>
              <a:t>Key </a:t>
            </a:r>
            <a:r>
              <a:rPr lang="en-US" sz="1000" b="1" dirty="0" smtClean="0"/>
              <a:t>limitation: </a:t>
            </a:r>
            <a:r>
              <a:rPr lang="en-US" sz="1000" dirty="0" smtClean="0"/>
              <a:t>rely </a:t>
            </a:r>
            <a:r>
              <a:rPr lang="en-US" sz="1000" dirty="0"/>
              <a:t>on human-written rules, making them inflexible in dynamic, real-world conditions</a:t>
            </a:r>
          </a:p>
        </p:txBody>
      </p:sp>
      <p:sp>
        <p:nvSpPr>
          <p:cNvPr id="34" name="Shape 8"/>
          <p:cNvSpPr/>
          <p:nvPr/>
        </p:nvSpPr>
        <p:spPr>
          <a:xfrm>
            <a:off x="160358" y="2668544"/>
            <a:ext cx="91440" cy="873047"/>
          </a:xfrm>
          <a:prstGeom prst="rect">
            <a:avLst/>
          </a:prstGeom>
          <a:solidFill>
            <a:schemeClr val="accent6">
              <a:lumMod val="75000"/>
            </a:schemeClr>
          </a:solidFill>
          <a:ln w="12700">
            <a:solidFill>
              <a:srgbClr val="E76F51"/>
            </a:solidFill>
            <a:prstDash val="solid"/>
          </a:ln>
        </p:spPr>
      </p:sp>
      <p:sp>
        <p:nvSpPr>
          <p:cNvPr id="35" name="Shape 11"/>
          <p:cNvSpPr/>
          <p:nvPr/>
        </p:nvSpPr>
        <p:spPr>
          <a:xfrm>
            <a:off x="169912" y="3722536"/>
            <a:ext cx="5903342" cy="1232361"/>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36" name="Text 13"/>
          <p:cNvSpPr/>
          <p:nvPr/>
        </p:nvSpPr>
        <p:spPr>
          <a:xfrm>
            <a:off x="341124" y="3762378"/>
            <a:ext cx="4435591" cy="274320"/>
          </a:xfrm>
          <a:prstGeom prst="rect">
            <a:avLst/>
          </a:prstGeom>
          <a:noFill/>
          <a:ln/>
        </p:spPr>
        <p:txBody>
          <a:bodyPr wrap="square" lIns="0" tIns="0" rIns="0" bIns="0" rtlCol="0" anchor="ctr"/>
          <a:lstStyle/>
          <a:p>
            <a:r>
              <a:rPr lang="en-US" sz="1400" b="1" dirty="0">
                <a:solidFill>
                  <a:srgbClr val="0070C0"/>
                </a:solidFill>
              </a:rPr>
              <a:t>Research Gap &amp; Motivation</a:t>
            </a:r>
            <a:endParaRPr lang="en-US" sz="1300" b="1" dirty="0">
              <a:solidFill>
                <a:srgbClr val="0070C0"/>
              </a:solidFill>
            </a:endParaRPr>
          </a:p>
        </p:txBody>
      </p:sp>
      <p:sp>
        <p:nvSpPr>
          <p:cNvPr id="38" name="Shape 8"/>
          <p:cNvSpPr/>
          <p:nvPr/>
        </p:nvSpPr>
        <p:spPr>
          <a:xfrm>
            <a:off x="176736" y="3722536"/>
            <a:ext cx="88709" cy="1238647"/>
          </a:xfrm>
          <a:prstGeom prst="rect">
            <a:avLst/>
          </a:prstGeom>
          <a:solidFill>
            <a:srgbClr val="0070C0"/>
          </a:solidFill>
          <a:ln w="12700">
            <a:solidFill>
              <a:srgbClr val="0070C0"/>
            </a:solidFill>
            <a:prstDash val="solid"/>
          </a:ln>
        </p:spPr>
      </p:sp>
      <p:sp>
        <p:nvSpPr>
          <p:cNvPr id="25" name="Rectangle 4"/>
          <p:cNvSpPr>
            <a:spLocks noChangeArrowheads="1"/>
          </p:cNvSpPr>
          <p:nvPr/>
        </p:nvSpPr>
        <p:spPr bwMode="auto">
          <a:xfrm>
            <a:off x="295405" y="3917644"/>
            <a:ext cx="5600428"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kumimoji="0" lang="en-US" sz="1100" b="0" i="0" u="none" strike="noStrike" cap="none" normalizeH="0" baseline="0" dirty="0" smtClean="0">
              <a:ln>
                <a:noFill/>
              </a:ln>
              <a:solidFill>
                <a:schemeClr val="tx1"/>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rPr>
              <a:t>Most existing systems use </a:t>
            </a:r>
            <a:r>
              <a:rPr kumimoji="0" lang="en-US" sz="1100" b="1" i="0" u="none" strike="noStrike" cap="none" normalizeH="0" baseline="0" dirty="0" smtClean="0">
                <a:ln>
                  <a:noFill/>
                </a:ln>
                <a:solidFill>
                  <a:schemeClr val="tx1"/>
                </a:solidFill>
                <a:effectLst/>
              </a:rPr>
              <a:t>single-agent RL</a:t>
            </a:r>
            <a:r>
              <a:rPr kumimoji="0" lang="en-US" sz="1100" b="0" i="0" u="none" strike="noStrike" cap="none" normalizeH="0" baseline="0" dirty="0" smtClean="0">
                <a:ln>
                  <a:noFill/>
                </a:ln>
                <a:solidFill>
                  <a:schemeClr val="tx1"/>
                </a:solidFill>
                <a:effectLst/>
              </a:rPr>
              <a:t>, which fails as network size grows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rPr>
              <a:t>Real-world traffic = multiple intersections (</a:t>
            </a:r>
            <a:r>
              <a:rPr kumimoji="0" lang="en-US" sz="1100" b="1" i="0" u="none" strike="noStrike" cap="none" normalizeH="0" baseline="0" dirty="0" smtClean="0">
                <a:ln>
                  <a:noFill/>
                </a:ln>
                <a:solidFill>
                  <a:schemeClr val="tx1"/>
                </a:solidFill>
                <a:effectLst/>
              </a:rPr>
              <a:t>MARL is essential for scalability</a:t>
            </a:r>
            <a:r>
              <a:rPr lang="en-US" sz="1100" dirty="0"/>
              <a:t>)</a:t>
            </a:r>
            <a:endParaRPr kumimoji="0" lang="en-US" sz="1100" b="0" i="0" u="none" strike="noStrike" cap="none" normalizeH="0" baseline="0" dirty="0" smtClean="0">
              <a:ln>
                <a:noFill/>
              </a:ln>
              <a:solidFill>
                <a:schemeClr val="tx1"/>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rPr>
              <a:t>This research compares </a:t>
            </a:r>
            <a:r>
              <a:rPr kumimoji="0" lang="en-US" sz="1100" b="1" i="0" u="none" strike="noStrike" cap="none" normalizeH="0" baseline="0" dirty="0" smtClean="0">
                <a:ln>
                  <a:noFill/>
                </a:ln>
                <a:solidFill>
                  <a:schemeClr val="tx1"/>
                </a:solidFill>
                <a:effectLst/>
              </a:rPr>
              <a:t>MAQL, MADQN, and MAPPO</a:t>
            </a:r>
            <a:r>
              <a:rPr kumimoji="0" lang="en-US" sz="1100" b="0" i="0" u="none" strike="noStrike" cap="none" normalizeH="0" baseline="0" dirty="0" smtClean="0">
                <a:ln>
                  <a:noFill/>
                </a:ln>
                <a:solidFill>
                  <a:schemeClr val="tx1"/>
                </a:solidFill>
                <a:effectLst/>
              </a:rPr>
              <a:t> in a </a:t>
            </a:r>
            <a:r>
              <a:rPr kumimoji="0" lang="en-US" sz="1100" b="1" i="0" u="none" strike="noStrike" cap="none" normalizeH="0" baseline="0" dirty="0" smtClean="0">
                <a:ln>
                  <a:noFill/>
                </a:ln>
                <a:solidFill>
                  <a:schemeClr val="tx1"/>
                </a:solidFill>
                <a:effectLst/>
              </a:rPr>
              <a:t>4×4 SUMO grid</a:t>
            </a:r>
            <a:r>
              <a:rPr kumimoji="0" lang="en-US" sz="1100" b="0" i="0" u="none" strike="noStrike" cap="none" normalizeH="0" baseline="0" dirty="0" smtClean="0">
                <a:ln>
                  <a:noFill/>
                </a:ln>
                <a:solidFill>
                  <a:schemeClr val="tx1"/>
                </a:solidFill>
                <a:effectLst/>
              </a:rPr>
              <a:t> to evaluate grid-wide coordination and performance </a:t>
            </a:r>
          </a:p>
        </p:txBody>
      </p:sp>
      <p:sp>
        <p:nvSpPr>
          <p:cNvPr id="27" name="AutoShape 8" descr="C:\Users\Admin\Downloads\Code_Generated_Image (1).png"/>
          <p:cNvSpPr>
            <a:spLocks noChangeAspect="1" noChangeArrowheads="1"/>
          </p:cNvSpPr>
          <p:nvPr/>
        </p:nvSpPr>
        <p:spPr bwMode="auto">
          <a:xfrm>
            <a:off x="130175" y="-1233488"/>
            <a:ext cx="5086350" cy="30480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AutoShape 12" descr="C:\Users\Admin\Downloads\Code_Generated_Image (1).png"/>
          <p:cNvSpPr>
            <a:spLocks noChangeAspect="1" noChangeArrowheads="1"/>
          </p:cNvSpPr>
          <p:nvPr/>
        </p:nvSpPr>
        <p:spPr bwMode="auto">
          <a:xfrm>
            <a:off x="282575" y="-1081088"/>
            <a:ext cx="5086350" cy="30480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2" descr="blob:https://web.whatsapp.com/d15cd532-bf0e-4464-8ad8-cc3838753ab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0819" y="771965"/>
            <a:ext cx="2963181" cy="2132364"/>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0819" y="3017926"/>
            <a:ext cx="2974007" cy="2146600"/>
          </a:xfrm>
          <a:prstGeom prst="rect">
            <a:avLst/>
          </a:prstGeom>
        </p:spPr>
      </p:pic>
    </p:spTree>
    <p:extLst>
      <p:ext uri="{BB962C8B-B14F-4D97-AF65-F5344CB8AC3E}">
        <p14:creationId xmlns:p14="http://schemas.microsoft.com/office/powerpoint/2010/main" val="10484560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65760" y="0"/>
            <a:ext cx="8412480" cy="658368"/>
          </a:xfrm>
          <a:prstGeom prst="rect">
            <a:avLst/>
          </a:prstGeom>
          <a:noFill/>
          <a:ln/>
        </p:spPr>
        <p:txBody>
          <a:bodyPr wrap="square" rtlCol="0" anchor="ctr"/>
          <a:lstStyle/>
          <a:p>
            <a:pPr marL="0" indent="0">
              <a:buNone/>
            </a:pPr>
            <a:endParaRPr lang="en-US" sz="1000" dirty="0"/>
          </a:p>
        </p:txBody>
      </p:sp>
      <p:sp>
        <p:nvSpPr>
          <p:cNvPr id="4" name="Text 2"/>
          <p:cNvSpPr/>
          <p:nvPr/>
        </p:nvSpPr>
        <p:spPr>
          <a:xfrm>
            <a:off x="232692" y="885882"/>
            <a:ext cx="3931920" cy="411480"/>
          </a:xfrm>
          <a:prstGeom prst="rect">
            <a:avLst/>
          </a:prstGeom>
          <a:noFill/>
          <a:ln/>
        </p:spPr>
        <p:txBody>
          <a:bodyPr wrap="square" lIns="0" tIns="0" rIns="0" bIns="0" rtlCol="0" anchor="ctr"/>
          <a:lstStyle/>
          <a:p>
            <a:pPr marL="0" indent="0">
              <a:buNone/>
            </a:pPr>
            <a:r>
              <a:rPr lang="en-US" sz="2400" b="1" dirty="0" smtClean="0">
                <a:solidFill>
                  <a:srgbClr val="0070C0"/>
                </a:solidFill>
              </a:rPr>
              <a:t>Methodology:</a:t>
            </a:r>
            <a:endParaRPr lang="en-US" sz="2400" dirty="0">
              <a:solidFill>
                <a:srgbClr val="0070C0"/>
              </a:solidFill>
            </a:endParaRPr>
          </a:p>
        </p:txBody>
      </p:sp>
      <p:sp>
        <p:nvSpPr>
          <p:cNvPr id="5" name="Shape 3"/>
          <p:cNvSpPr/>
          <p:nvPr/>
        </p:nvSpPr>
        <p:spPr>
          <a:xfrm>
            <a:off x="197208" y="1666942"/>
            <a:ext cx="3385329" cy="1540282"/>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6" name="Shape 4"/>
          <p:cNvSpPr/>
          <p:nvPr/>
        </p:nvSpPr>
        <p:spPr>
          <a:xfrm>
            <a:off x="200618" y="1673766"/>
            <a:ext cx="67558" cy="1533458"/>
          </a:xfrm>
          <a:prstGeom prst="rect">
            <a:avLst/>
          </a:prstGeom>
          <a:solidFill>
            <a:srgbClr val="1282A2"/>
          </a:solidFill>
          <a:ln w="12700">
            <a:solidFill>
              <a:srgbClr val="1282A2"/>
            </a:solidFill>
            <a:prstDash val="solid"/>
          </a:ln>
        </p:spPr>
      </p:sp>
      <p:sp>
        <p:nvSpPr>
          <p:cNvPr id="7" name="Text 5"/>
          <p:cNvSpPr/>
          <p:nvPr/>
        </p:nvSpPr>
        <p:spPr>
          <a:xfrm>
            <a:off x="398511" y="1719140"/>
            <a:ext cx="1005840" cy="274320"/>
          </a:xfrm>
          <a:prstGeom prst="rect">
            <a:avLst/>
          </a:prstGeom>
          <a:noFill/>
          <a:ln/>
        </p:spPr>
        <p:txBody>
          <a:bodyPr wrap="square" lIns="0" tIns="0" rIns="0" bIns="0" rtlCol="0" anchor="ctr"/>
          <a:lstStyle/>
          <a:p>
            <a:pPr marL="0" indent="0">
              <a:buNone/>
            </a:pPr>
            <a:r>
              <a:rPr lang="en-US" sz="1300" b="1" dirty="0">
                <a:solidFill>
                  <a:srgbClr val="1282A2"/>
                </a:solidFill>
              </a:rPr>
              <a:t>GCN</a:t>
            </a:r>
            <a:endParaRPr lang="en-US" sz="1300" dirty="0"/>
          </a:p>
        </p:txBody>
      </p:sp>
      <p:sp>
        <p:nvSpPr>
          <p:cNvPr id="8" name="Text 6"/>
          <p:cNvSpPr/>
          <p:nvPr/>
        </p:nvSpPr>
        <p:spPr>
          <a:xfrm>
            <a:off x="380087" y="2259458"/>
            <a:ext cx="3011381" cy="402336"/>
          </a:xfrm>
          <a:prstGeom prst="rect">
            <a:avLst/>
          </a:prstGeom>
          <a:noFill/>
          <a:ln/>
        </p:spPr>
        <p:txBody>
          <a:bodyPr wrap="square" lIns="0" tIns="0" rIns="0" bIns="0" rtlCol="0" anchor="ctr"/>
          <a:lstStyle/>
          <a:p>
            <a:pPr marL="0" indent="0">
              <a:buNone/>
            </a:pPr>
            <a:r>
              <a:rPr lang="en-US" sz="1000" dirty="0"/>
              <a:t>Graph Convolutional </a:t>
            </a:r>
            <a:r>
              <a:rPr lang="en-US" sz="1000" dirty="0" smtClean="0"/>
              <a:t>Network, </a:t>
            </a:r>
            <a:r>
              <a:rPr lang="en-US" sz="1000" dirty="0"/>
              <a:t>Base architecture for spatial traffic </a:t>
            </a:r>
            <a:r>
              <a:rPr lang="en-US" sz="1000" dirty="0" smtClean="0"/>
              <a:t>modelling.</a:t>
            </a:r>
          </a:p>
          <a:p>
            <a:pPr marL="0" indent="0">
              <a:buNone/>
            </a:pPr>
            <a:endParaRPr lang="en-US" sz="1000" dirty="0" smtClean="0"/>
          </a:p>
          <a:p>
            <a:r>
              <a:rPr lang="en-US" sz="1000" dirty="0"/>
              <a:t>A GCN is a type of deep learning model designed to work on graph-structured data</a:t>
            </a:r>
          </a:p>
        </p:txBody>
      </p:sp>
      <p:sp>
        <p:nvSpPr>
          <p:cNvPr id="9" name="Shape 7"/>
          <p:cNvSpPr/>
          <p:nvPr/>
        </p:nvSpPr>
        <p:spPr>
          <a:xfrm>
            <a:off x="197208" y="3458554"/>
            <a:ext cx="3385329" cy="1256206"/>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0" name="Shape 8"/>
          <p:cNvSpPr/>
          <p:nvPr/>
        </p:nvSpPr>
        <p:spPr>
          <a:xfrm>
            <a:off x="200618" y="3458554"/>
            <a:ext cx="81205" cy="1256206"/>
          </a:xfrm>
          <a:prstGeom prst="rect">
            <a:avLst/>
          </a:prstGeom>
          <a:solidFill>
            <a:srgbClr val="E76F51"/>
          </a:solidFill>
          <a:ln w="12700">
            <a:solidFill>
              <a:srgbClr val="E76F51"/>
            </a:solidFill>
            <a:prstDash val="solid"/>
          </a:ln>
        </p:spPr>
      </p:sp>
      <p:sp>
        <p:nvSpPr>
          <p:cNvPr id="11" name="Text 9"/>
          <p:cNvSpPr/>
          <p:nvPr/>
        </p:nvSpPr>
        <p:spPr>
          <a:xfrm>
            <a:off x="380088" y="3504274"/>
            <a:ext cx="1005840" cy="274320"/>
          </a:xfrm>
          <a:prstGeom prst="rect">
            <a:avLst/>
          </a:prstGeom>
          <a:noFill/>
          <a:ln/>
        </p:spPr>
        <p:txBody>
          <a:bodyPr wrap="square" lIns="0" tIns="0" rIns="0" bIns="0" rtlCol="0" anchor="ctr"/>
          <a:lstStyle/>
          <a:p>
            <a:pPr marL="0" indent="0">
              <a:buNone/>
            </a:pPr>
            <a:r>
              <a:rPr lang="en-US" sz="1300" b="1" dirty="0" smtClean="0">
                <a:solidFill>
                  <a:srgbClr val="E76F51"/>
                </a:solidFill>
              </a:rPr>
              <a:t>DQN</a:t>
            </a:r>
            <a:endParaRPr lang="en-US" sz="1300" dirty="0"/>
          </a:p>
        </p:txBody>
      </p:sp>
      <p:sp>
        <p:nvSpPr>
          <p:cNvPr id="12" name="Text 10"/>
          <p:cNvSpPr/>
          <p:nvPr/>
        </p:nvSpPr>
        <p:spPr>
          <a:xfrm>
            <a:off x="380087" y="3942844"/>
            <a:ext cx="3086443" cy="402336"/>
          </a:xfrm>
          <a:prstGeom prst="rect">
            <a:avLst/>
          </a:prstGeom>
          <a:noFill/>
          <a:ln/>
        </p:spPr>
        <p:txBody>
          <a:bodyPr wrap="square" lIns="0" tIns="0" rIns="0" bIns="0" rtlCol="0" anchor="ctr"/>
          <a:lstStyle/>
          <a:p>
            <a:pPr marL="0" indent="0">
              <a:buNone/>
            </a:pPr>
            <a:r>
              <a:rPr lang="en-US" sz="1000" dirty="0"/>
              <a:t>Deep Q-Network combined with GCN for value-based signal </a:t>
            </a:r>
            <a:r>
              <a:rPr lang="en-US" sz="1000" dirty="0" smtClean="0"/>
              <a:t>control.</a:t>
            </a:r>
          </a:p>
          <a:p>
            <a:pPr marL="0" indent="0">
              <a:buNone/>
            </a:pPr>
            <a:endParaRPr lang="en-US" sz="1000" dirty="0"/>
          </a:p>
        </p:txBody>
      </p:sp>
      <p:sp>
        <p:nvSpPr>
          <p:cNvPr id="13" name="Shape 11"/>
          <p:cNvSpPr/>
          <p:nvPr/>
        </p:nvSpPr>
        <p:spPr>
          <a:xfrm>
            <a:off x="4660436" y="1674176"/>
            <a:ext cx="3705642" cy="1533048"/>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4" name="Shape 12"/>
          <p:cNvSpPr/>
          <p:nvPr/>
        </p:nvSpPr>
        <p:spPr>
          <a:xfrm>
            <a:off x="4663302" y="1681000"/>
            <a:ext cx="88576" cy="1526224"/>
          </a:xfrm>
          <a:prstGeom prst="rect">
            <a:avLst/>
          </a:prstGeom>
          <a:solidFill>
            <a:srgbClr val="2D6A4F"/>
          </a:solidFill>
          <a:ln w="12700">
            <a:solidFill>
              <a:srgbClr val="2D6A4F"/>
            </a:solidFill>
            <a:prstDash val="solid"/>
          </a:ln>
        </p:spPr>
      </p:sp>
      <p:sp>
        <p:nvSpPr>
          <p:cNvPr id="15" name="Text 13"/>
          <p:cNvSpPr/>
          <p:nvPr/>
        </p:nvSpPr>
        <p:spPr>
          <a:xfrm>
            <a:off x="4843316" y="1719896"/>
            <a:ext cx="1301994" cy="274320"/>
          </a:xfrm>
          <a:prstGeom prst="rect">
            <a:avLst/>
          </a:prstGeom>
          <a:noFill/>
          <a:ln/>
        </p:spPr>
        <p:txBody>
          <a:bodyPr wrap="square" lIns="0" tIns="0" rIns="0" bIns="0" rtlCol="0" anchor="ctr"/>
          <a:lstStyle/>
          <a:p>
            <a:pPr marL="0" indent="0">
              <a:buNone/>
            </a:pPr>
            <a:r>
              <a:rPr lang="en-US" sz="1300" b="1" dirty="0" smtClean="0">
                <a:solidFill>
                  <a:srgbClr val="2D6A4F"/>
                </a:solidFill>
              </a:rPr>
              <a:t>Q Learning</a:t>
            </a:r>
            <a:endParaRPr lang="en-US" sz="1300" dirty="0"/>
          </a:p>
        </p:txBody>
      </p:sp>
      <p:sp>
        <p:nvSpPr>
          <p:cNvPr id="16" name="Text 14"/>
          <p:cNvSpPr/>
          <p:nvPr/>
        </p:nvSpPr>
        <p:spPr>
          <a:xfrm>
            <a:off x="4843316" y="2255570"/>
            <a:ext cx="3393108" cy="402336"/>
          </a:xfrm>
          <a:prstGeom prst="rect">
            <a:avLst/>
          </a:prstGeom>
          <a:noFill/>
          <a:ln/>
        </p:spPr>
        <p:txBody>
          <a:bodyPr wrap="square" lIns="0" tIns="0" rIns="0" bIns="0" rtlCol="0" anchor="ctr"/>
          <a:lstStyle/>
          <a:p>
            <a:r>
              <a:rPr lang="en-US" sz="1000" dirty="0"/>
              <a:t>Q-Learning is a </a:t>
            </a:r>
            <a:r>
              <a:rPr lang="en-US" sz="1000" b="1" dirty="0"/>
              <a:t>model-free, value-based RL </a:t>
            </a:r>
            <a:r>
              <a:rPr lang="en-US" sz="1000" b="1" dirty="0" smtClean="0"/>
              <a:t>algorithm.</a:t>
            </a:r>
          </a:p>
          <a:p>
            <a:endParaRPr lang="en-US" sz="1000" b="1" dirty="0" smtClean="0"/>
          </a:p>
          <a:p>
            <a:r>
              <a:rPr lang="en-US" sz="1000" dirty="0"/>
              <a:t>D</a:t>
            </a:r>
            <a:r>
              <a:rPr lang="en-US" sz="1000" dirty="0" smtClean="0"/>
              <a:t>ecisions </a:t>
            </a:r>
            <a:r>
              <a:rPr lang="en-US" sz="1000" dirty="0"/>
              <a:t>by learning the </a:t>
            </a:r>
            <a:r>
              <a:rPr lang="en-US" sz="1000" b="1" dirty="0"/>
              <a:t>value of taking actions in certain states</a:t>
            </a:r>
            <a:endParaRPr lang="en-US" sz="950" dirty="0"/>
          </a:p>
        </p:txBody>
      </p:sp>
      <p:sp>
        <p:nvSpPr>
          <p:cNvPr id="17" name="Shape 15"/>
          <p:cNvSpPr/>
          <p:nvPr/>
        </p:nvSpPr>
        <p:spPr>
          <a:xfrm>
            <a:off x="4660437" y="3420406"/>
            <a:ext cx="3705641" cy="1294353"/>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8" name="Shape 16"/>
          <p:cNvSpPr/>
          <p:nvPr/>
        </p:nvSpPr>
        <p:spPr>
          <a:xfrm>
            <a:off x="4660437" y="3427230"/>
            <a:ext cx="91440" cy="1287529"/>
          </a:xfrm>
          <a:prstGeom prst="rect">
            <a:avLst/>
          </a:prstGeom>
          <a:solidFill>
            <a:srgbClr val="7B2D8B"/>
          </a:solidFill>
          <a:ln w="12700">
            <a:solidFill>
              <a:srgbClr val="7B2D8B"/>
            </a:solidFill>
            <a:prstDash val="solid"/>
          </a:ln>
        </p:spPr>
      </p:sp>
      <p:sp>
        <p:nvSpPr>
          <p:cNvPr id="19" name="Text 17"/>
          <p:cNvSpPr/>
          <p:nvPr/>
        </p:nvSpPr>
        <p:spPr>
          <a:xfrm>
            <a:off x="4843317" y="3482707"/>
            <a:ext cx="1005840" cy="274320"/>
          </a:xfrm>
          <a:prstGeom prst="rect">
            <a:avLst/>
          </a:prstGeom>
          <a:noFill/>
          <a:ln/>
        </p:spPr>
        <p:txBody>
          <a:bodyPr wrap="square" lIns="0" tIns="0" rIns="0" bIns="0" rtlCol="0" anchor="ctr"/>
          <a:lstStyle/>
          <a:p>
            <a:pPr marL="0" indent="0">
              <a:buNone/>
            </a:pPr>
            <a:r>
              <a:rPr lang="en-US" sz="1300" b="1" dirty="0" smtClean="0">
                <a:solidFill>
                  <a:srgbClr val="7B2D8B"/>
                </a:solidFill>
              </a:rPr>
              <a:t>PPO</a:t>
            </a:r>
            <a:endParaRPr lang="en-US" sz="1300" dirty="0"/>
          </a:p>
        </p:txBody>
      </p:sp>
      <p:sp>
        <p:nvSpPr>
          <p:cNvPr id="20" name="Text 18"/>
          <p:cNvSpPr/>
          <p:nvPr/>
        </p:nvSpPr>
        <p:spPr>
          <a:xfrm>
            <a:off x="4850415" y="3871162"/>
            <a:ext cx="3304122" cy="594700"/>
          </a:xfrm>
          <a:prstGeom prst="rect">
            <a:avLst/>
          </a:prstGeom>
          <a:noFill/>
          <a:ln/>
        </p:spPr>
        <p:txBody>
          <a:bodyPr wrap="square" lIns="0" tIns="0" rIns="0" bIns="0" rtlCol="0" anchor="ctr"/>
          <a:lstStyle/>
          <a:p>
            <a:r>
              <a:rPr lang="en-US" sz="1000" dirty="0" smtClean="0"/>
              <a:t>PPO </a:t>
            </a:r>
            <a:r>
              <a:rPr lang="en-US" sz="1000" dirty="0"/>
              <a:t>directly learns the </a:t>
            </a:r>
            <a:r>
              <a:rPr lang="en-US" sz="1000" b="1" dirty="0"/>
              <a:t>policy</a:t>
            </a:r>
            <a:r>
              <a:rPr lang="en-US" sz="1000" dirty="0"/>
              <a:t> (what action to take) rather than learning Q-values</a:t>
            </a:r>
            <a:r>
              <a:rPr lang="en-US" sz="1000" dirty="0" smtClean="0"/>
              <a:t>.</a:t>
            </a:r>
          </a:p>
          <a:p>
            <a:endParaRPr lang="en-US" sz="1000" dirty="0" smtClean="0"/>
          </a:p>
          <a:p>
            <a:r>
              <a:rPr lang="en-US" sz="1000" dirty="0"/>
              <a:t>PPO strikes the </a:t>
            </a:r>
            <a:r>
              <a:rPr lang="en-US" sz="1000" b="1" dirty="0"/>
              <a:t>perfect balance between simplicity and performance</a:t>
            </a:r>
            <a:endParaRPr lang="en-US" sz="950" dirty="0"/>
          </a:p>
        </p:txBody>
      </p:sp>
      <p:sp>
        <p:nvSpPr>
          <p:cNvPr id="21" name="Text 19"/>
          <p:cNvSpPr/>
          <p:nvPr/>
        </p:nvSpPr>
        <p:spPr>
          <a:xfrm>
            <a:off x="2500884" y="4783680"/>
            <a:ext cx="4251960" cy="411480"/>
          </a:xfrm>
          <a:prstGeom prst="rect">
            <a:avLst/>
          </a:prstGeom>
          <a:noFill/>
          <a:ln/>
        </p:spPr>
        <p:txBody>
          <a:bodyPr wrap="square" lIns="0" tIns="0" rIns="0" bIns="0" rtlCol="0" anchor="ctr"/>
          <a:lstStyle/>
          <a:p>
            <a:pPr marL="0" indent="0">
              <a:buNone/>
            </a:pPr>
            <a:endParaRPr lang="en-US" sz="17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0F6FF"/>
        </a:solidFill>
        <a:effectLst/>
      </p:bgPr>
    </p:bg>
    <p:spTree>
      <p:nvGrpSpPr>
        <p:cNvPr id="1" name=""/>
        <p:cNvGrpSpPr/>
        <p:nvPr/>
      </p:nvGrpSpPr>
      <p:grpSpPr>
        <a:xfrm>
          <a:off x="0" y="0"/>
          <a:ext cx="0" cy="0"/>
          <a:chOff x="0" y="0"/>
          <a:chExt cx="0" cy="0"/>
        </a:xfrm>
      </p:grpSpPr>
      <p:sp>
        <p:nvSpPr>
          <p:cNvPr id="51" name="Shape 2"/>
          <p:cNvSpPr/>
          <p:nvPr/>
        </p:nvSpPr>
        <p:spPr>
          <a:xfrm>
            <a:off x="4578824" y="784451"/>
            <a:ext cx="4251960" cy="416052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65760" y="0"/>
            <a:ext cx="8412480" cy="658368"/>
          </a:xfrm>
          <a:prstGeom prst="rect">
            <a:avLst/>
          </a:prstGeom>
          <a:noFill/>
          <a:ln/>
        </p:spPr>
        <p:txBody>
          <a:bodyPr wrap="square" rtlCol="0" anchor="ctr"/>
          <a:lstStyle/>
          <a:p>
            <a:pPr marL="0" indent="0">
              <a:buNone/>
            </a:pPr>
            <a:r>
              <a:rPr lang="en-US" sz="1000" b="1" kern="0" spc="200" dirty="0">
                <a:solidFill>
                  <a:srgbClr val="0ACDAB"/>
                </a:solidFill>
              </a:rPr>
              <a:t>GCN ARCHITECTURE </a:t>
            </a:r>
            <a:r>
              <a:rPr lang="en-US" sz="1000" b="1" kern="0" spc="200" dirty="0" smtClean="0">
                <a:solidFill>
                  <a:srgbClr val="0ACDAB"/>
                </a:solidFill>
              </a:rPr>
              <a:t>AND MULTI-AGENTS FRAMEWORK</a:t>
            </a:r>
            <a:endParaRPr lang="en-US" sz="1000" dirty="0"/>
          </a:p>
        </p:txBody>
      </p:sp>
      <p:sp>
        <p:nvSpPr>
          <p:cNvPr id="4" name="Shape 2"/>
          <p:cNvSpPr/>
          <p:nvPr/>
        </p:nvSpPr>
        <p:spPr>
          <a:xfrm>
            <a:off x="323009" y="788908"/>
            <a:ext cx="4023360" cy="416052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5" name="Shape 3"/>
          <p:cNvSpPr/>
          <p:nvPr/>
        </p:nvSpPr>
        <p:spPr>
          <a:xfrm>
            <a:off x="320040" y="777240"/>
            <a:ext cx="4023360" cy="457200"/>
          </a:xfrm>
          <a:prstGeom prst="rect">
            <a:avLst/>
          </a:prstGeom>
          <a:solidFill>
            <a:srgbClr val="1282A2"/>
          </a:solidFill>
          <a:ln w="12700">
            <a:solidFill>
              <a:srgbClr val="1282A2"/>
            </a:solidFill>
            <a:prstDash val="solid"/>
          </a:ln>
        </p:spPr>
      </p:sp>
      <p:sp>
        <p:nvSpPr>
          <p:cNvPr id="6" name="Text 4"/>
          <p:cNvSpPr/>
          <p:nvPr/>
        </p:nvSpPr>
        <p:spPr>
          <a:xfrm>
            <a:off x="411480" y="795528"/>
            <a:ext cx="3840480" cy="420624"/>
          </a:xfrm>
          <a:prstGeom prst="rect">
            <a:avLst/>
          </a:prstGeom>
          <a:noFill/>
          <a:ln/>
        </p:spPr>
        <p:txBody>
          <a:bodyPr wrap="square" lIns="0" tIns="0" rIns="0" bIns="0" rtlCol="0" anchor="ctr"/>
          <a:lstStyle/>
          <a:p>
            <a:pPr marL="0" indent="0">
              <a:buNone/>
            </a:pPr>
            <a:r>
              <a:rPr lang="en-US" sz="1400" b="1" dirty="0">
                <a:solidFill>
                  <a:srgbClr val="FFFFFF"/>
                </a:solidFill>
              </a:rPr>
              <a:t>GCN  –  Base Architecture</a:t>
            </a:r>
            <a:endParaRPr lang="en-US" sz="1400" dirty="0"/>
          </a:p>
        </p:txBody>
      </p:sp>
      <p:sp>
        <p:nvSpPr>
          <p:cNvPr id="7" name="Shape 5"/>
          <p:cNvSpPr/>
          <p:nvPr/>
        </p:nvSpPr>
        <p:spPr>
          <a:xfrm>
            <a:off x="457200" y="1371600"/>
            <a:ext cx="54864" cy="457200"/>
          </a:xfrm>
          <a:prstGeom prst="rect">
            <a:avLst/>
          </a:prstGeom>
          <a:solidFill>
            <a:srgbClr val="0ACDAB"/>
          </a:solidFill>
          <a:ln w="12700">
            <a:solidFill>
              <a:srgbClr val="0ACDAB"/>
            </a:solidFill>
            <a:prstDash val="solid"/>
          </a:ln>
        </p:spPr>
      </p:sp>
      <p:sp>
        <p:nvSpPr>
          <p:cNvPr id="8" name="Text 6"/>
          <p:cNvSpPr/>
          <p:nvPr/>
        </p:nvSpPr>
        <p:spPr>
          <a:xfrm>
            <a:off x="594360" y="1380744"/>
            <a:ext cx="3657600" cy="201168"/>
          </a:xfrm>
          <a:prstGeom prst="rect">
            <a:avLst/>
          </a:prstGeom>
          <a:noFill/>
          <a:ln/>
        </p:spPr>
        <p:txBody>
          <a:bodyPr wrap="square" lIns="0" tIns="0" rIns="0" bIns="0" rtlCol="0" anchor="ctr"/>
          <a:lstStyle/>
          <a:p>
            <a:pPr marL="0" indent="0">
              <a:buNone/>
            </a:pPr>
            <a:endParaRPr lang="en-US" sz="1100" dirty="0"/>
          </a:p>
        </p:txBody>
      </p:sp>
      <p:sp>
        <p:nvSpPr>
          <p:cNvPr id="9" name="Text 7"/>
          <p:cNvSpPr/>
          <p:nvPr/>
        </p:nvSpPr>
        <p:spPr>
          <a:xfrm>
            <a:off x="594360" y="1380880"/>
            <a:ext cx="3657600" cy="217409"/>
          </a:xfrm>
          <a:prstGeom prst="rect">
            <a:avLst/>
          </a:prstGeom>
          <a:noFill/>
          <a:ln/>
        </p:spPr>
        <p:txBody>
          <a:bodyPr wrap="square" lIns="0" tIns="0" rIns="0" bIns="0" rtlCol="0" anchor="ctr"/>
          <a:lstStyle/>
          <a:p>
            <a:endParaRPr lang="en-US" sz="1000" dirty="0"/>
          </a:p>
          <a:p>
            <a:r>
              <a:rPr lang="en-US" sz="1000" dirty="0" smtClean="0"/>
              <a:t>It </a:t>
            </a:r>
            <a:r>
              <a:rPr lang="en-US" sz="1000" dirty="0"/>
              <a:t>is a 3-layer Graph Convolutional Network (GCN) that models the Manhattan traffic grid as a graph</a:t>
            </a:r>
            <a:endParaRPr lang="en-US" sz="950" dirty="0"/>
          </a:p>
        </p:txBody>
      </p:sp>
      <p:sp>
        <p:nvSpPr>
          <p:cNvPr id="10" name="Shape 8"/>
          <p:cNvSpPr/>
          <p:nvPr/>
        </p:nvSpPr>
        <p:spPr>
          <a:xfrm>
            <a:off x="457200" y="2039112"/>
            <a:ext cx="54864" cy="457200"/>
          </a:xfrm>
          <a:prstGeom prst="rect">
            <a:avLst/>
          </a:prstGeom>
          <a:solidFill>
            <a:srgbClr val="0ACDAB"/>
          </a:solidFill>
          <a:ln w="12700">
            <a:solidFill>
              <a:srgbClr val="0ACDAB"/>
            </a:solidFill>
            <a:prstDash val="solid"/>
          </a:ln>
        </p:spPr>
      </p:sp>
      <p:sp>
        <p:nvSpPr>
          <p:cNvPr id="11" name="Text 9"/>
          <p:cNvSpPr/>
          <p:nvPr/>
        </p:nvSpPr>
        <p:spPr>
          <a:xfrm>
            <a:off x="594360" y="2081578"/>
            <a:ext cx="3657600" cy="201168"/>
          </a:xfrm>
          <a:prstGeom prst="rect">
            <a:avLst/>
          </a:prstGeom>
          <a:noFill/>
          <a:ln/>
        </p:spPr>
        <p:txBody>
          <a:bodyPr wrap="square" lIns="0" tIns="0" rIns="0" bIns="0" rtlCol="0" anchor="ctr"/>
          <a:lstStyle/>
          <a:p>
            <a:r>
              <a:rPr lang="en-US" sz="1000" dirty="0" smtClean="0"/>
              <a:t>The </a:t>
            </a:r>
            <a:r>
              <a:rPr lang="en-US" sz="1000" dirty="0"/>
              <a:t>GCN Encoder is the shared spatial intelligence backbone used by all three traffic signal control </a:t>
            </a:r>
            <a:r>
              <a:rPr lang="en-US" sz="1000" dirty="0" smtClean="0"/>
              <a:t>algorithms </a:t>
            </a:r>
            <a:r>
              <a:rPr lang="en-US" sz="1000" dirty="0"/>
              <a:t>MAPPO, MA-DQN, and </a:t>
            </a:r>
            <a:r>
              <a:rPr lang="en-US" sz="1000" dirty="0" smtClean="0"/>
              <a:t>MA-Q-Learning</a:t>
            </a:r>
            <a:r>
              <a:rPr lang="en-US" sz="1000" dirty="0"/>
              <a:t> making it a fair baseline for comparison</a:t>
            </a:r>
            <a:r>
              <a:rPr lang="en-US" sz="1000" dirty="0" smtClean="0"/>
              <a:t>.</a:t>
            </a:r>
            <a:endParaRPr lang="en-US" sz="1000" dirty="0"/>
          </a:p>
        </p:txBody>
      </p:sp>
      <p:sp>
        <p:nvSpPr>
          <p:cNvPr id="12" name="Text 10"/>
          <p:cNvSpPr/>
          <p:nvPr/>
        </p:nvSpPr>
        <p:spPr>
          <a:xfrm>
            <a:off x="594360" y="2249424"/>
            <a:ext cx="3657600" cy="237744"/>
          </a:xfrm>
          <a:prstGeom prst="rect">
            <a:avLst/>
          </a:prstGeom>
          <a:noFill/>
          <a:ln/>
        </p:spPr>
        <p:txBody>
          <a:bodyPr wrap="square" lIns="0" tIns="0" rIns="0" bIns="0" rtlCol="0" anchor="ctr"/>
          <a:lstStyle/>
          <a:p>
            <a:pPr marL="0" indent="0">
              <a:buNone/>
            </a:pPr>
            <a:endParaRPr lang="en-US" sz="950" dirty="0"/>
          </a:p>
        </p:txBody>
      </p:sp>
      <p:sp>
        <p:nvSpPr>
          <p:cNvPr id="13" name="Shape 11"/>
          <p:cNvSpPr/>
          <p:nvPr/>
        </p:nvSpPr>
        <p:spPr>
          <a:xfrm>
            <a:off x="457200" y="2706624"/>
            <a:ext cx="54864" cy="457200"/>
          </a:xfrm>
          <a:prstGeom prst="rect">
            <a:avLst/>
          </a:prstGeom>
          <a:solidFill>
            <a:srgbClr val="0ACDAB"/>
          </a:solidFill>
          <a:ln w="12700">
            <a:solidFill>
              <a:srgbClr val="0ACDAB"/>
            </a:solidFill>
            <a:prstDash val="solid"/>
          </a:ln>
        </p:spPr>
      </p:sp>
      <p:sp>
        <p:nvSpPr>
          <p:cNvPr id="14" name="Text 12"/>
          <p:cNvSpPr/>
          <p:nvPr/>
        </p:nvSpPr>
        <p:spPr>
          <a:xfrm>
            <a:off x="594360" y="3565568"/>
            <a:ext cx="3657600" cy="201168"/>
          </a:xfrm>
          <a:prstGeom prst="rect">
            <a:avLst/>
          </a:prstGeom>
          <a:noFill/>
          <a:ln/>
        </p:spPr>
        <p:txBody>
          <a:bodyPr wrap="square" lIns="0" tIns="0" rIns="0" bIns="0" rtlCol="0" anchor="ctr"/>
          <a:lstStyle/>
          <a:p>
            <a:r>
              <a:rPr lang="en-US" sz="1100" dirty="0">
                <a:solidFill>
                  <a:srgbClr val="0B2545"/>
                </a:solidFill>
              </a:rPr>
              <a:t>State </a:t>
            </a:r>
            <a:r>
              <a:rPr lang="en-US" sz="1100" dirty="0" smtClean="0">
                <a:solidFill>
                  <a:srgbClr val="0B2545"/>
                </a:solidFill>
              </a:rPr>
              <a:t>Representation: </a:t>
            </a:r>
            <a:r>
              <a:rPr lang="en-US" sz="1000" dirty="0"/>
              <a:t>Vehicle density, queue length, waiting time per </a:t>
            </a:r>
            <a:r>
              <a:rPr lang="en-US" sz="1000" dirty="0" smtClean="0"/>
              <a:t>lane.</a:t>
            </a:r>
            <a:endParaRPr lang="en-US" sz="1000" dirty="0"/>
          </a:p>
          <a:p>
            <a:pPr marL="0" indent="0">
              <a:buNone/>
            </a:pPr>
            <a:r>
              <a:rPr lang="en-US" sz="1100" b="1" dirty="0" smtClean="0">
                <a:solidFill>
                  <a:srgbClr val="0B2545"/>
                </a:solidFill>
              </a:rPr>
              <a:t> </a:t>
            </a:r>
            <a:endParaRPr lang="en-US" sz="1100" dirty="0"/>
          </a:p>
        </p:txBody>
      </p:sp>
      <p:sp>
        <p:nvSpPr>
          <p:cNvPr id="15" name="Text 13"/>
          <p:cNvSpPr/>
          <p:nvPr/>
        </p:nvSpPr>
        <p:spPr>
          <a:xfrm>
            <a:off x="5283935" y="3438144"/>
            <a:ext cx="3657600" cy="237744"/>
          </a:xfrm>
          <a:prstGeom prst="rect">
            <a:avLst/>
          </a:prstGeom>
          <a:noFill/>
          <a:ln/>
        </p:spPr>
        <p:txBody>
          <a:bodyPr wrap="square" lIns="0" tIns="0" rIns="0" bIns="0" rtlCol="0" anchor="ctr"/>
          <a:lstStyle/>
          <a:p>
            <a:pPr marL="0" indent="0">
              <a:buNone/>
            </a:pPr>
            <a:endParaRPr lang="en-US" sz="950" dirty="0"/>
          </a:p>
        </p:txBody>
      </p:sp>
      <p:sp>
        <p:nvSpPr>
          <p:cNvPr id="16" name="Shape 14"/>
          <p:cNvSpPr/>
          <p:nvPr/>
        </p:nvSpPr>
        <p:spPr>
          <a:xfrm>
            <a:off x="457200" y="3374136"/>
            <a:ext cx="54864" cy="457200"/>
          </a:xfrm>
          <a:prstGeom prst="rect">
            <a:avLst/>
          </a:prstGeom>
          <a:solidFill>
            <a:srgbClr val="0ACDAB"/>
          </a:solidFill>
          <a:ln w="12700">
            <a:solidFill>
              <a:srgbClr val="0ACDAB"/>
            </a:solidFill>
            <a:prstDash val="solid"/>
          </a:ln>
        </p:spPr>
      </p:sp>
      <p:sp>
        <p:nvSpPr>
          <p:cNvPr id="17" name="Text 15"/>
          <p:cNvSpPr/>
          <p:nvPr/>
        </p:nvSpPr>
        <p:spPr>
          <a:xfrm>
            <a:off x="621428" y="4082844"/>
            <a:ext cx="3657600" cy="310896"/>
          </a:xfrm>
          <a:prstGeom prst="rect">
            <a:avLst/>
          </a:prstGeom>
          <a:noFill/>
          <a:ln/>
        </p:spPr>
        <p:txBody>
          <a:bodyPr wrap="square" lIns="0" tIns="0" rIns="0" bIns="0" rtlCol="0" anchor="ctr"/>
          <a:lstStyle/>
          <a:p>
            <a:r>
              <a:rPr lang="en-US" sz="1100" dirty="0" smtClean="0">
                <a:solidFill>
                  <a:srgbClr val="0B2545"/>
                </a:solidFill>
              </a:rPr>
              <a:t>Layered Architecture:  </a:t>
            </a:r>
            <a:r>
              <a:rPr lang="en-US" sz="1000" dirty="0" smtClean="0">
                <a:solidFill>
                  <a:srgbClr val="0B2545"/>
                </a:solidFill>
              </a:rPr>
              <a:t>1-Layer (Spatial)             2-Layer (Communication)               3-Layer (Compressed) </a:t>
            </a:r>
            <a:endParaRPr lang="en-US" sz="1000" dirty="0"/>
          </a:p>
        </p:txBody>
      </p:sp>
      <p:sp>
        <p:nvSpPr>
          <p:cNvPr id="19" name="Shape 17"/>
          <p:cNvSpPr/>
          <p:nvPr/>
        </p:nvSpPr>
        <p:spPr>
          <a:xfrm>
            <a:off x="457200" y="4055296"/>
            <a:ext cx="54864" cy="457200"/>
          </a:xfrm>
          <a:prstGeom prst="rect">
            <a:avLst/>
          </a:prstGeom>
          <a:solidFill>
            <a:srgbClr val="0ACDAB"/>
          </a:solidFill>
          <a:ln w="12700">
            <a:solidFill>
              <a:srgbClr val="0ACDAB"/>
            </a:solidFill>
            <a:prstDash val="solid"/>
          </a:ln>
        </p:spPr>
      </p:sp>
      <p:sp>
        <p:nvSpPr>
          <p:cNvPr id="20" name="Text 18"/>
          <p:cNvSpPr/>
          <p:nvPr/>
        </p:nvSpPr>
        <p:spPr>
          <a:xfrm>
            <a:off x="594360" y="4337079"/>
            <a:ext cx="3657600" cy="201168"/>
          </a:xfrm>
          <a:prstGeom prst="rect">
            <a:avLst/>
          </a:prstGeom>
          <a:noFill/>
          <a:ln/>
        </p:spPr>
        <p:txBody>
          <a:bodyPr wrap="square" lIns="0" tIns="0" rIns="0" bIns="0" rtlCol="0" anchor="ctr"/>
          <a:lstStyle/>
          <a:p>
            <a:pPr lvl="0"/>
            <a:endParaRPr lang="en-US" sz="1000" dirty="0"/>
          </a:p>
        </p:txBody>
      </p:sp>
      <p:sp>
        <p:nvSpPr>
          <p:cNvPr id="21" name="Text 19"/>
          <p:cNvSpPr/>
          <p:nvPr/>
        </p:nvSpPr>
        <p:spPr>
          <a:xfrm>
            <a:off x="594360" y="4251960"/>
            <a:ext cx="3657600" cy="237744"/>
          </a:xfrm>
          <a:prstGeom prst="rect">
            <a:avLst/>
          </a:prstGeom>
          <a:noFill/>
          <a:ln/>
        </p:spPr>
        <p:txBody>
          <a:bodyPr wrap="square" lIns="0" tIns="0" rIns="0" bIns="0" rtlCol="0" anchor="ctr"/>
          <a:lstStyle/>
          <a:p>
            <a:pPr marL="0" indent="0">
              <a:buNone/>
            </a:pPr>
            <a:endParaRPr lang="en-US" sz="950" dirty="0"/>
          </a:p>
        </p:txBody>
      </p:sp>
      <p:sp>
        <p:nvSpPr>
          <p:cNvPr id="23" name="Shape 21"/>
          <p:cNvSpPr/>
          <p:nvPr/>
        </p:nvSpPr>
        <p:spPr>
          <a:xfrm>
            <a:off x="4572000" y="777240"/>
            <a:ext cx="4251960" cy="457200"/>
          </a:xfrm>
          <a:prstGeom prst="rect">
            <a:avLst/>
          </a:prstGeom>
          <a:solidFill>
            <a:srgbClr val="E76F51"/>
          </a:solidFill>
          <a:ln w="12700">
            <a:solidFill>
              <a:srgbClr val="E76F51"/>
            </a:solidFill>
            <a:prstDash val="solid"/>
          </a:ln>
        </p:spPr>
      </p:sp>
      <p:sp>
        <p:nvSpPr>
          <p:cNvPr id="24" name="Text 22"/>
          <p:cNvSpPr/>
          <p:nvPr/>
        </p:nvSpPr>
        <p:spPr>
          <a:xfrm>
            <a:off x="4663440" y="795528"/>
            <a:ext cx="4069080" cy="420624"/>
          </a:xfrm>
          <a:prstGeom prst="rect">
            <a:avLst/>
          </a:prstGeom>
          <a:noFill/>
          <a:ln/>
        </p:spPr>
        <p:txBody>
          <a:bodyPr wrap="square" lIns="0" tIns="0" rIns="0" bIns="0" rtlCol="0" anchor="ctr"/>
          <a:lstStyle/>
          <a:p>
            <a:pPr marL="0" indent="0">
              <a:buNone/>
            </a:pPr>
            <a:r>
              <a:rPr lang="en-US" sz="1400" b="1" dirty="0" smtClean="0">
                <a:solidFill>
                  <a:srgbClr val="FFFFFF"/>
                </a:solidFill>
              </a:rPr>
              <a:t>GCN - MA-PPO  </a:t>
            </a:r>
            <a:r>
              <a:rPr lang="en-US" sz="1400" b="1" dirty="0">
                <a:solidFill>
                  <a:srgbClr val="FFFFFF"/>
                </a:solidFill>
              </a:rPr>
              <a:t>Multi-Agent Framework</a:t>
            </a:r>
            <a:endParaRPr lang="en-US" sz="1400" dirty="0"/>
          </a:p>
        </p:txBody>
      </p:sp>
      <p:sp>
        <p:nvSpPr>
          <p:cNvPr id="25" name="Shape 23"/>
          <p:cNvSpPr/>
          <p:nvPr/>
        </p:nvSpPr>
        <p:spPr>
          <a:xfrm>
            <a:off x="4709160" y="1371600"/>
            <a:ext cx="54864" cy="411480"/>
          </a:xfrm>
          <a:prstGeom prst="rect">
            <a:avLst/>
          </a:prstGeom>
          <a:solidFill>
            <a:srgbClr val="E76F51"/>
          </a:solidFill>
          <a:ln w="12700">
            <a:solidFill>
              <a:srgbClr val="E76F51"/>
            </a:solidFill>
            <a:prstDash val="solid"/>
          </a:ln>
        </p:spPr>
      </p:sp>
      <p:sp>
        <p:nvSpPr>
          <p:cNvPr id="26" name="Text 24"/>
          <p:cNvSpPr/>
          <p:nvPr/>
        </p:nvSpPr>
        <p:spPr>
          <a:xfrm>
            <a:off x="4846320" y="1466839"/>
            <a:ext cx="3886200" cy="182880"/>
          </a:xfrm>
          <a:prstGeom prst="rect">
            <a:avLst/>
          </a:prstGeom>
          <a:noFill/>
          <a:ln/>
        </p:spPr>
        <p:txBody>
          <a:bodyPr wrap="square" lIns="0" tIns="0" rIns="0" bIns="0" rtlCol="0" anchor="ctr"/>
          <a:lstStyle/>
          <a:p>
            <a:r>
              <a:rPr lang="en-US" sz="1100" dirty="0"/>
              <a:t>The MAPPO </a:t>
            </a:r>
            <a:r>
              <a:rPr lang="en-US" sz="1100" dirty="0" smtClean="0"/>
              <a:t>follows </a:t>
            </a:r>
            <a:r>
              <a:rPr lang="en-US" sz="1100" dirty="0"/>
              <a:t>the CTDE (Centralized Training with Decentralized Execution) </a:t>
            </a:r>
            <a:r>
              <a:rPr lang="en-US" sz="1100" dirty="0" smtClean="0"/>
              <a:t>paradigm</a:t>
            </a:r>
            <a:r>
              <a:rPr lang="en-US" sz="1100" dirty="0"/>
              <a:t>.</a:t>
            </a:r>
          </a:p>
        </p:txBody>
      </p:sp>
      <p:sp>
        <p:nvSpPr>
          <p:cNvPr id="27" name="Text 25"/>
          <p:cNvSpPr/>
          <p:nvPr/>
        </p:nvSpPr>
        <p:spPr>
          <a:xfrm>
            <a:off x="4832604" y="2286000"/>
            <a:ext cx="3886200" cy="201168"/>
          </a:xfrm>
          <a:prstGeom prst="rect">
            <a:avLst/>
          </a:prstGeom>
          <a:noFill/>
          <a:ln/>
        </p:spPr>
        <p:txBody>
          <a:bodyPr wrap="square" lIns="0" tIns="0" rIns="0" bIns="0" rtlCol="0" anchor="ctr"/>
          <a:lstStyle/>
          <a:p>
            <a:pPr marL="0" indent="0">
              <a:buNone/>
            </a:pPr>
            <a:endParaRPr lang="en-US" sz="950" dirty="0"/>
          </a:p>
        </p:txBody>
      </p:sp>
      <p:sp>
        <p:nvSpPr>
          <p:cNvPr id="28" name="Shape 26"/>
          <p:cNvSpPr/>
          <p:nvPr/>
        </p:nvSpPr>
        <p:spPr>
          <a:xfrm>
            <a:off x="4709160" y="1938528"/>
            <a:ext cx="54864" cy="411480"/>
          </a:xfrm>
          <a:prstGeom prst="rect">
            <a:avLst/>
          </a:prstGeom>
          <a:solidFill>
            <a:srgbClr val="E76F51"/>
          </a:solidFill>
          <a:ln w="12700">
            <a:solidFill>
              <a:srgbClr val="E76F51"/>
            </a:solidFill>
            <a:prstDash val="solid"/>
          </a:ln>
        </p:spPr>
      </p:sp>
      <p:sp>
        <p:nvSpPr>
          <p:cNvPr id="29" name="Text 27"/>
          <p:cNvSpPr/>
          <p:nvPr/>
        </p:nvSpPr>
        <p:spPr>
          <a:xfrm>
            <a:off x="4846320" y="1947672"/>
            <a:ext cx="3886200" cy="182880"/>
          </a:xfrm>
          <a:prstGeom prst="rect">
            <a:avLst/>
          </a:prstGeom>
          <a:noFill/>
          <a:ln/>
        </p:spPr>
        <p:txBody>
          <a:bodyPr wrap="square" lIns="0" tIns="0" rIns="0" bIns="0" rtlCol="0" anchor="ctr"/>
          <a:lstStyle/>
          <a:p>
            <a:pPr marL="0" indent="0">
              <a:buNone/>
            </a:pPr>
            <a:endParaRPr lang="en-US" sz="1100" b="1" dirty="0">
              <a:solidFill>
                <a:srgbClr val="0B2545"/>
              </a:solidFill>
            </a:endParaRPr>
          </a:p>
          <a:p>
            <a:pPr marL="0" indent="0">
              <a:buNone/>
            </a:pPr>
            <a:endParaRPr lang="en-US" sz="1100" dirty="0"/>
          </a:p>
        </p:txBody>
      </p:sp>
      <p:sp>
        <p:nvSpPr>
          <p:cNvPr id="30" name="Text 28"/>
          <p:cNvSpPr/>
          <p:nvPr/>
        </p:nvSpPr>
        <p:spPr>
          <a:xfrm>
            <a:off x="617220" y="4554555"/>
            <a:ext cx="3886200" cy="201168"/>
          </a:xfrm>
          <a:prstGeom prst="rect">
            <a:avLst/>
          </a:prstGeom>
          <a:noFill/>
          <a:ln/>
        </p:spPr>
        <p:txBody>
          <a:bodyPr wrap="square" lIns="0" tIns="0" rIns="0" bIns="0" rtlCol="0" anchor="ctr"/>
          <a:lstStyle/>
          <a:p>
            <a:pPr marL="0" indent="0">
              <a:buNone/>
            </a:pPr>
            <a:endParaRPr lang="en-US" sz="950" dirty="0"/>
          </a:p>
        </p:txBody>
      </p:sp>
      <p:sp>
        <p:nvSpPr>
          <p:cNvPr id="31" name="Shape 29"/>
          <p:cNvSpPr/>
          <p:nvPr/>
        </p:nvSpPr>
        <p:spPr>
          <a:xfrm>
            <a:off x="4709160" y="2505456"/>
            <a:ext cx="54864" cy="411480"/>
          </a:xfrm>
          <a:prstGeom prst="rect">
            <a:avLst/>
          </a:prstGeom>
          <a:solidFill>
            <a:srgbClr val="E76F51"/>
          </a:solidFill>
          <a:ln w="12700">
            <a:solidFill>
              <a:srgbClr val="E76F51"/>
            </a:solidFill>
            <a:prstDash val="solid"/>
          </a:ln>
        </p:spPr>
      </p:sp>
      <p:sp>
        <p:nvSpPr>
          <p:cNvPr id="32" name="Text 30"/>
          <p:cNvSpPr/>
          <p:nvPr/>
        </p:nvSpPr>
        <p:spPr>
          <a:xfrm>
            <a:off x="4871568" y="2591680"/>
            <a:ext cx="3886200" cy="182880"/>
          </a:xfrm>
          <a:prstGeom prst="rect">
            <a:avLst/>
          </a:prstGeom>
          <a:noFill/>
          <a:ln/>
        </p:spPr>
        <p:txBody>
          <a:bodyPr wrap="square" lIns="0" tIns="0" rIns="0" bIns="0" rtlCol="0" anchor="ctr"/>
          <a:lstStyle/>
          <a:p>
            <a:r>
              <a:rPr lang="en-US" sz="1100" dirty="0"/>
              <a:t>MAPPO directly learns a stochastic </a:t>
            </a:r>
            <a:r>
              <a:rPr lang="en-US" sz="1100" dirty="0" smtClean="0"/>
              <a:t>policy, </a:t>
            </a:r>
            <a:r>
              <a:rPr lang="en-US" sz="1100" dirty="0"/>
              <a:t>probability distribution over </a:t>
            </a:r>
            <a:r>
              <a:rPr lang="en-US" sz="1100" dirty="0" smtClean="0"/>
              <a:t>actions, </a:t>
            </a:r>
            <a:r>
              <a:rPr lang="en-US" sz="1100" dirty="0"/>
              <a:t>for each traffic light junction.</a:t>
            </a:r>
          </a:p>
        </p:txBody>
      </p:sp>
      <p:sp>
        <p:nvSpPr>
          <p:cNvPr id="33" name="Text 31"/>
          <p:cNvSpPr/>
          <p:nvPr/>
        </p:nvSpPr>
        <p:spPr>
          <a:xfrm>
            <a:off x="4764024" y="2943981"/>
            <a:ext cx="3886200" cy="201168"/>
          </a:xfrm>
          <a:prstGeom prst="rect">
            <a:avLst/>
          </a:prstGeom>
          <a:noFill/>
          <a:ln/>
        </p:spPr>
        <p:txBody>
          <a:bodyPr wrap="square" lIns="0" tIns="0" rIns="0" bIns="0" rtlCol="0" anchor="ctr"/>
          <a:lstStyle/>
          <a:p>
            <a:pPr marL="0" indent="0">
              <a:buNone/>
            </a:pPr>
            <a:endParaRPr lang="en-US" sz="950" dirty="0"/>
          </a:p>
        </p:txBody>
      </p:sp>
      <p:sp>
        <p:nvSpPr>
          <p:cNvPr id="34" name="Shape 32"/>
          <p:cNvSpPr/>
          <p:nvPr/>
        </p:nvSpPr>
        <p:spPr>
          <a:xfrm>
            <a:off x="4709160" y="3072384"/>
            <a:ext cx="54864" cy="411480"/>
          </a:xfrm>
          <a:prstGeom prst="rect">
            <a:avLst/>
          </a:prstGeom>
          <a:solidFill>
            <a:srgbClr val="E76F51"/>
          </a:solidFill>
          <a:ln w="12700">
            <a:solidFill>
              <a:srgbClr val="E76F51"/>
            </a:solidFill>
            <a:prstDash val="solid"/>
          </a:ln>
        </p:spPr>
      </p:sp>
      <p:sp>
        <p:nvSpPr>
          <p:cNvPr id="35" name="Text 33"/>
          <p:cNvSpPr/>
          <p:nvPr/>
        </p:nvSpPr>
        <p:spPr>
          <a:xfrm>
            <a:off x="4846320" y="3081528"/>
            <a:ext cx="3886200" cy="182880"/>
          </a:xfrm>
          <a:prstGeom prst="rect">
            <a:avLst/>
          </a:prstGeom>
          <a:noFill/>
          <a:ln/>
        </p:spPr>
        <p:txBody>
          <a:bodyPr wrap="square" lIns="0" tIns="0" rIns="0" bIns="0" rtlCol="0" anchor="ctr"/>
          <a:lstStyle/>
          <a:p>
            <a:pPr marL="0" indent="0">
              <a:buNone/>
            </a:pPr>
            <a:endParaRPr lang="en-US" sz="1100" dirty="0"/>
          </a:p>
        </p:txBody>
      </p:sp>
      <p:sp>
        <p:nvSpPr>
          <p:cNvPr id="36" name="Text 34"/>
          <p:cNvSpPr/>
          <p:nvPr/>
        </p:nvSpPr>
        <p:spPr>
          <a:xfrm>
            <a:off x="4844272" y="3136199"/>
            <a:ext cx="3886200" cy="201168"/>
          </a:xfrm>
          <a:prstGeom prst="rect">
            <a:avLst/>
          </a:prstGeom>
          <a:noFill/>
          <a:ln/>
        </p:spPr>
        <p:txBody>
          <a:bodyPr wrap="square" lIns="0" tIns="0" rIns="0" bIns="0" rtlCol="0" anchor="ctr"/>
          <a:lstStyle/>
          <a:p>
            <a:r>
              <a:rPr lang="en-US" sz="1000" b="1" dirty="0"/>
              <a:t>PPO </a:t>
            </a:r>
            <a:r>
              <a:rPr lang="en-US" sz="1000" b="1" dirty="0" smtClean="0"/>
              <a:t>Algorithms: </a:t>
            </a:r>
            <a:r>
              <a:rPr lang="en-US" sz="1000" dirty="0"/>
              <a:t>Generalized Advantage Estimation (GAE</a:t>
            </a:r>
            <a:r>
              <a:rPr lang="en-US" sz="1000" dirty="0" smtClean="0"/>
              <a:t>) - </a:t>
            </a:r>
            <a:r>
              <a:rPr lang="en-US" sz="1000" dirty="0"/>
              <a:t>PPO Clipped </a:t>
            </a:r>
            <a:r>
              <a:rPr lang="en-US" sz="1000" dirty="0" smtClean="0"/>
              <a:t>Objective - </a:t>
            </a:r>
            <a:r>
              <a:rPr lang="en-US" sz="1000" dirty="0"/>
              <a:t>Entropy </a:t>
            </a:r>
            <a:r>
              <a:rPr lang="en-US" sz="1000" dirty="0" smtClean="0"/>
              <a:t>Regularization - </a:t>
            </a:r>
            <a:r>
              <a:rPr lang="en-US" sz="1000" dirty="0"/>
              <a:t>Critic (Value) </a:t>
            </a:r>
            <a:r>
              <a:rPr lang="en-US" sz="1000" dirty="0" smtClean="0"/>
              <a:t>Loss -  </a:t>
            </a:r>
            <a:endParaRPr lang="en-US" sz="950" dirty="0"/>
          </a:p>
        </p:txBody>
      </p:sp>
      <p:sp>
        <p:nvSpPr>
          <p:cNvPr id="37" name="Shape 35"/>
          <p:cNvSpPr/>
          <p:nvPr/>
        </p:nvSpPr>
        <p:spPr>
          <a:xfrm>
            <a:off x="4709160" y="3639312"/>
            <a:ext cx="54864" cy="411480"/>
          </a:xfrm>
          <a:prstGeom prst="rect">
            <a:avLst/>
          </a:prstGeom>
          <a:solidFill>
            <a:srgbClr val="E76F51"/>
          </a:solidFill>
          <a:ln w="12700">
            <a:solidFill>
              <a:srgbClr val="E76F51"/>
            </a:solidFill>
            <a:prstDash val="solid"/>
          </a:ln>
        </p:spPr>
      </p:sp>
      <p:sp>
        <p:nvSpPr>
          <p:cNvPr id="38" name="Text 36"/>
          <p:cNvSpPr/>
          <p:nvPr/>
        </p:nvSpPr>
        <p:spPr>
          <a:xfrm>
            <a:off x="4846320" y="3648456"/>
            <a:ext cx="3886200" cy="182880"/>
          </a:xfrm>
          <a:prstGeom prst="rect">
            <a:avLst/>
          </a:prstGeom>
          <a:noFill/>
          <a:ln/>
        </p:spPr>
        <p:txBody>
          <a:bodyPr wrap="square" lIns="0" tIns="0" rIns="0" bIns="0" rtlCol="0" anchor="ctr"/>
          <a:lstStyle/>
          <a:p>
            <a:pPr marL="0" indent="0">
              <a:buNone/>
            </a:pPr>
            <a:endParaRPr lang="en-US" sz="1100" dirty="0"/>
          </a:p>
        </p:txBody>
      </p:sp>
      <p:sp>
        <p:nvSpPr>
          <p:cNvPr id="39" name="Text 37"/>
          <p:cNvSpPr/>
          <p:nvPr/>
        </p:nvSpPr>
        <p:spPr>
          <a:xfrm>
            <a:off x="4852598" y="3749766"/>
            <a:ext cx="3886200" cy="201168"/>
          </a:xfrm>
          <a:prstGeom prst="rect">
            <a:avLst/>
          </a:prstGeom>
          <a:noFill/>
          <a:ln/>
        </p:spPr>
        <p:txBody>
          <a:bodyPr wrap="square" lIns="0" tIns="0" rIns="0" bIns="0" rtlCol="0" anchor="ctr"/>
          <a:lstStyle/>
          <a:p>
            <a:r>
              <a:rPr lang="en-US" sz="1000" dirty="0" smtClean="0"/>
              <a:t>12 </a:t>
            </a:r>
            <a:r>
              <a:rPr lang="en-US" sz="1000" dirty="0"/>
              <a:t>agents, one per signalized junction. Each agent is an instance of </a:t>
            </a:r>
            <a:r>
              <a:rPr lang="en-US" sz="1000" dirty="0" smtClean="0"/>
              <a:t>MAPPO Agent </a:t>
            </a:r>
            <a:r>
              <a:rPr lang="en-US" sz="1000" dirty="0"/>
              <a:t>and manages its own decentralized Actor network. All 12 agents share a single centralized </a:t>
            </a:r>
            <a:r>
              <a:rPr lang="en-US" sz="1000" dirty="0" smtClean="0"/>
              <a:t>Central Critic.</a:t>
            </a:r>
            <a:endParaRPr lang="en-US" sz="950" dirty="0"/>
          </a:p>
        </p:txBody>
      </p:sp>
      <p:sp>
        <p:nvSpPr>
          <p:cNvPr id="40" name="Shape 38"/>
          <p:cNvSpPr/>
          <p:nvPr/>
        </p:nvSpPr>
        <p:spPr>
          <a:xfrm>
            <a:off x="4709160" y="4206240"/>
            <a:ext cx="54864" cy="411480"/>
          </a:xfrm>
          <a:prstGeom prst="rect">
            <a:avLst/>
          </a:prstGeom>
          <a:solidFill>
            <a:srgbClr val="E76F51"/>
          </a:solidFill>
          <a:ln w="12700">
            <a:solidFill>
              <a:srgbClr val="E76F51"/>
            </a:solidFill>
            <a:prstDash val="solid"/>
          </a:ln>
        </p:spPr>
      </p:sp>
      <p:sp>
        <p:nvSpPr>
          <p:cNvPr id="41" name="Text 39"/>
          <p:cNvSpPr/>
          <p:nvPr/>
        </p:nvSpPr>
        <p:spPr>
          <a:xfrm>
            <a:off x="4852598" y="4306824"/>
            <a:ext cx="3886200" cy="182880"/>
          </a:xfrm>
          <a:prstGeom prst="rect">
            <a:avLst/>
          </a:prstGeom>
          <a:noFill/>
          <a:ln/>
        </p:spPr>
        <p:txBody>
          <a:bodyPr wrap="square" lIns="0" tIns="0" rIns="0" bIns="0" rtlCol="0" anchor="ctr"/>
          <a:lstStyle/>
          <a:p>
            <a:r>
              <a:rPr lang="en-US" sz="1100" b="1" dirty="0"/>
              <a:t>GCN              </a:t>
            </a:r>
            <a:r>
              <a:rPr lang="en-US" sz="1100" b="1" dirty="0"/>
              <a:t>Centralized Critic</a:t>
            </a:r>
            <a:r>
              <a:rPr lang="en-US" sz="1100" b="1" dirty="0" smtClean="0"/>
              <a:t>              Shared PPO Update</a:t>
            </a:r>
            <a:endParaRPr lang="en-US" sz="1100" b="1" dirty="0"/>
          </a:p>
          <a:p>
            <a:r>
              <a:rPr lang="en-US" sz="1100" b="1" dirty="0"/>
              <a:t>              </a:t>
            </a:r>
            <a:r>
              <a:rPr lang="en-US" sz="1100" b="1" dirty="0" smtClean="0"/>
              <a:t>Decentralized </a:t>
            </a:r>
            <a:r>
              <a:rPr lang="en-US" sz="1100" b="1" dirty="0"/>
              <a:t>Execution</a:t>
            </a:r>
            <a:endParaRPr lang="en-US" sz="1100" dirty="0"/>
          </a:p>
        </p:txBody>
      </p:sp>
      <p:sp>
        <p:nvSpPr>
          <p:cNvPr id="42" name="Text 40"/>
          <p:cNvSpPr/>
          <p:nvPr/>
        </p:nvSpPr>
        <p:spPr>
          <a:xfrm>
            <a:off x="4846320" y="4407408"/>
            <a:ext cx="3886200" cy="201168"/>
          </a:xfrm>
          <a:prstGeom prst="rect">
            <a:avLst/>
          </a:prstGeom>
          <a:noFill/>
          <a:ln/>
        </p:spPr>
        <p:txBody>
          <a:bodyPr wrap="square" lIns="0" tIns="0" rIns="0" bIns="0" rtlCol="0" anchor="ctr"/>
          <a:lstStyle/>
          <a:p>
            <a:pPr marL="0" indent="0">
              <a:buNone/>
            </a:pPr>
            <a:endParaRPr lang="en-US" sz="950" dirty="0"/>
          </a:p>
        </p:txBody>
      </p:sp>
      <p:sp>
        <p:nvSpPr>
          <p:cNvPr id="46" name="Text 12"/>
          <p:cNvSpPr/>
          <p:nvPr/>
        </p:nvSpPr>
        <p:spPr>
          <a:xfrm>
            <a:off x="594360" y="2764127"/>
            <a:ext cx="3657600" cy="201168"/>
          </a:xfrm>
          <a:prstGeom prst="rect">
            <a:avLst/>
          </a:prstGeom>
          <a:noFill/>
          <a:ln/>
        </p:spPr>
        <p:txBody>
          <a:bodyPr wrap="square" lIns="0" tIns="0" rIns="0" bIns="0" rtlCol="0" anchor="ctr"/>
          <a:lstStyle/>
          <a:p>
            <a:r>
              <a:rPr lang="en-US" sz="1000" dirty="0"/>
              <a:t>Rather than having each traffic light agent make decisions purely based on its own local lane data, the GCN allows every junction to "see" the traffic conditions of its </a:t>
            </a:r>
            <a:r>
              <a:rPr lang="en-US" sz="1000" dirty="0" smtClean="0"/>
              <a:t>neighbors.</a:t>
            </a:r>
            <a:endParaRPr lang="en-US" sz="1000" dirty="0"/>
          </a:p>
        </p:txBody>
      </p:sp>
      <p:cxnSp>
        <p:nvCxnSpPr>
          <p:cNvPr id="48" name="Straight Arrow Connector 47"/>
          <p:cNvCxnSpPr/>
          <p:nvPr/>
        </p:nvCxnSpPr>
        <p:spPr>
          <a:xfrm>
            <a:off x="2842796" y="4158472"/>
            <a:ext cx="2103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1623591" y="4370832"/>
            <a:ext cx="2103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 24"/>
          <p:cNvSpPr/>
          <p:nvPr/>
        </p:nvSpPr>
        <p:spPr>
          <a:xfrm>
            <a:off x="4852598" y="2073755"/>
            <a:ext cx="3886200" cy="182880"/>
          </a:xfrm>
          <a:prstGeom prst="rect">
            <a:avLst/>
          </a:prstGeom>
          <a:noFill/>
          <a:ln/>
        </p:spPr>
        <p:txBody>
          <a:bodyPr wrap="square" lIns="0" tIns="0" rIns="0" bIns="0" rtlCol="0" anchor="ctr"/>
          <a:lstStyle/>
          <a:p>
            <a:r>
              <a:rPr lang="en-US" sz="1100" dirty="0"/>
              <a:t>The Actor (3-layer MLP), while the Centralized Critic (4-layer MLP) takes the concatenated global state as input and outputs a scalar value.</a:t>
            </a:r>
            <a:endParaRPr lang="en-US" sz="1100" dirty="0"/>
          </a:p>
        </p:txBody>
      </p:sp>
      <p:sp>
        <p:nvSpPr>
          <p:cNvPr id="49" name="Text 39"/>
          <p:cNvSpPr/>
          <p:nvPr/>
        </p:nvSpPr>
        <p:spPr>
          <a:xfrm>
            <a:off x="4998720" y="4468368"/>
            <a:ext cx="3886200" cy="182880"/>
          </a:xfrm>
          <a:prstGeom prst="rect">
            <a:avLst/>
          </a:prstGeom>
          <a:noFill/>
          <a:ln/>
        </p:spPr>
        <p:txBody>
          <a:bodyPr wrap="square" lIns="0" tIns="0" rIns="0" bIns="0" rtlCol="0" anchor="ctr"/>
          <a:lstStyle/>
          <a:p>
            <a:endParaRPr lang="en-US" sz="1100" dirty="0"/>
          </a:p>
        </p:txBody>
      </p:sp>
      <p:sp>
        <p:nvSpPr>
          <p:cNvPr id="52" name="Text 24"/>
          <p:cNvSpPr/>
          <p:nvPr/>
        </p:nvSpPr>
        <p:spPr>
          <a:xfrm>
            <a:off x="4839428" y="2269310"/>
            <a:ext cx="3886200" cy="182880"/>
          </a:xfrm>
          <a:prstGeom prst="rect">
            <a:avLst/>
          </a:prstGeom>
          <a:noFill/>
          <a:ln/>
        </p:spPr>
        <p:txBody>
          <a:bodyPr wrap="square" lIns="0" tIns="0" rIns="0" bIns="0" rtlCol="0" anchor="ctr"/>
          <a:lstStyle/>
          <a:p>
            <a:endParaRPr lang="en-US" sz="1100" dirty="0"/>
          </a:p>
        </p:txBody>
      </p:sp>
      <p:cxnSp>
        <p:nvCxnSpPr>
          <p:cNvPr id="43" name="Straight Arrow Connector 42"/>
          <p:cNvCxnSpPr/>
          <p:nvPr/>
        </p:nvCxnSpPr>
        <p:spPr>
          <a:xfrm>
            <a:off x="5199797" y="4316607"/>
            <a:ext cx="28660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908644" y="4496303"/>
            <a:ext cx="28660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6616890" y="4318247"/>
            <a:ext cx="28660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65760" y="0"/>
            <a:ext cx="8412480" cy="658368"/>
          </a:xfrm>
          <a:prstGeom prst="rect">
            <a:avLst/>
          </a:prstGeom>
          <a:noFill/>
          <a:ln/>
        </p:spPr>
        <p:txBody>
          <a:bodyPr wrap="square" rtlCol="0" anchor="ctr"/>
          <a:lstStyle/>
          <a:p>
            <a:pPr marL="0" indent="0">
              <a:buNone/>
            </a:pPr>
            <a:r>
              <a:rPr lang="en-US" sz="1000" b="1" kern="0" spc="200" dirty="0">
                <a:solidFill>
                  <a:srgbClr val="0ACDAB"/>
                </a:solidFill>
              </a:rPr>
              <a:t>LEARNING ALGORITHMS  ·  </a:t>
            </a:r>
            <a:r>
              <a:rPr lang="en-US" sz="1000" b="1" kern="0" spc="200" dirty="0" smtClean="0">
                <a:solidFill>
                  <a:srgbClr val="0ACDAB"/>
                </a:solidFill>
              </a:rPr>
              <a:t>GCN-MADQN </a:t>
            </a:r>
            <a:r>
              <a:rPr lang="en-US" sz="1000" b="1" kern="0" spc="200" dirty="0">
                <a:solidFill>
                  <a:srgbClr val="0ACDAB"/>
                </a:solidFill>
              </a:rPr>
              <a:t>&amp; </a:t>
            </a:r>
            <a:r>
              <a:rPr lang="en-US" sz="1000" b="1" kern="0" spc="200" dirty="0" smtClean="0">
                <a:solidFill>
                  <a:srgbClr val="0ACDAB"/>
                </a:solidFill>
              </a:rPr>
              <a:t>GCN-MAQL</a:t>
            </a:r>
            <a:endParaRPr lang="en-US" sz="1000" dirty="0"/>
          </a:p>
        </p:txBody>
      </p:sp>
      <p:sp>
        <p:nvSpPr>
          <p:cNvPr id="4" name="Shape 2"/>
          <p:cNvSpPr/>
          <p:nvPr/>
        </p:nvSpPr>
        <p:spPr>
          <a:xfrm>
            <a:off x="317993" y="747760"/>
            <a:ext cx="4023360" cy="42062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5" name="Shape 3"/>
          <p:cNvSpPr/>
          <p:nvPr/>
        </p:nvSpPr>
        <p:spPr>
          <a:xfrm>
            <a:off x="320040" y="777240"/>
            <a:ext cx="4023360" cy="457200"/>
          </a:xfrm>
          <a:prstGeom prst="rect">
            <a:avLst/>
          </a:prstGeom>
          <a:solidFill>
            <a:srgbClr val="E76F51"/>
          </a:solidFill>
          <a:ln w="12700">
            <a:solidFill>
              <a:srgbClr val="E76F51"/>
            </a:solidFill>
            <a:prstDash val="solid"/>
          </a:ln>
        </p:spPr>
      </p:sp>
      <p:sp>
        <p:nvSpPr>
          <p:cNvPr id="6" name="Text 4"/>
          <p:cNvSpPr/>
          <p:nvPr/>
        </p:nvSpPr>
        <p:spPr>
          <a:xfrm>
            <a:off x="411480" y="795528"/>
            <a:ext cx="3840480" cy="420624"/>
          </a:xfrm>
          <a:prstGeom prst="rect">
            <a:avLst/>
          </a:prstGeom>
          <a:noFill/>
          <a:ln/>
        </p:spPr>
        <p:txBody>
          <a:bodyPr wrap="square" lIns="0" tIns="0" rIns="0" bIns="0" rtlCol="0" anchor="ctr"/>
          <a:lstStyle/>
          <a:p>
            <a:pPr marL="0" indent="0">
              <a:buNone/>
            </a:pPr>
            <a:r>
              <a:rPr lang="en-US" sz="1400" b="1" dirty="0" smtClean="0">
                <a:solidFill>
                  <a:srgbClr val="FFFFFF"/>
                </a:solidFill>
              </a:rPr>
              <a:t>GCN - MADQN  </a:t>
            </a:r>
            <a:r>
              <a:rPr lang="en-US" sz="1400" b="1" dirty="0">
                <a:solidFill>
                  <a:srgbClr val="FFFFFF"/>
                </a:solidFill>
              </a:rPr>
              <a:t>·  </a:t>
            </a:r>
            <a:r>
              <a:rPr lang="en-US" sz="1400" b="1" dirty="0" smtClean="0">
                <a:solidFill>
                  <a:srgbClr val="FFFFFF"/>
                </a:solidFill>
              </a:rPr>
              <a:t>Multi-Agents Deep </a:t>
            </a:r>
            <a:r>
              <a:rPr lang="en-US" sz="1400" b="1" dirty="0">
                <a:solidFill>
                  <a:srgbClr val="FFFFFF"/>
                </a:solidFill>
              </a:rPr>
              <a:t>Q-Network</a:t>
            </a:r>
            <a:endParaRPr lang="en-US" sz="1400" dirty="0"/>
          </a:p>
        </p:txBody>
      </p:sp>
      <p:sp>
        <p:nvSpPr>
          <p:cNvPr id="7" name="Shape 5"/>
          <p:cNvSpPr/>
          <p:nvPr/>
        </p:nvSpPr>
        <p:spPr>
          <a:xfrm>
            <a:off x="457200" y="1371600"/>
            <a:ext cx="54864" cy="411480"/>
          </a:xfrm>
          <a:prstGeom prst="rect">
            <a:avLst/>
          </a:prstGeom>
          <a:solidFill>
            <a:srgbClr val="E76F51"/>
          </a:solidFill>
          <a:ln w="12700">
            <a:solidFill>
              <a:srgbClr val="E76F51"/>
            </a:solidFill>
            <a:prstDash val="solid"/>
          </a:ln>
        </p:spPr>
      </p:sp>
      <p:sp>
        <p:nvSpPr>
          <p:cNvPr id="8" name="Text 6"/>
          <p:cNvSpPr/>
          <p:nvPr/>
        </p:nvSpPr>
        <p:spPr>
          <a:xfrm>
            <a:off x="594360" y="1474252"/>
            <a:ext cx="3657600" cy="182880"/>
          </a:xfrm>
          <a:prstGeom prst="rect">
            <a:avLst/>
          </a:prstGeom>
          <a:noFill/>
          <a:ln/>
        </p:spPr>
        <p:txBody>
          <a:bodyPr wrap="square" lIns="0" tIns="0" rIns="0" bIns="0" rtlCol="0" anchor="ctr"/>
          <a:lstStyle/>
          <a:p>
            <a:r>
              <a:rPr lang="en-US" sz="1100" dirty="0"/>
              <a:t>It is a value-based </a:t>
            </a:r>
            <a:r>
              <a:rPr lang="en-US" sz="1100" dirty="0" smtClean="0"/>
              <a:t>RL, it </a:t>
            </a:r>
            <a:r>
              <a:rPr lang="en-US" sz="1100" dirty="0"/>
              <a:t>learns Q-values Q(s, a), NO centralized critic </a:t>
            </a:r>
          </a:p>
        </p:txBody>
      </p:sp>
      <p:sp>
        <p:nvSpPr>
          <p:cNvPr id="9" name="Text 7"/>
          <p:cNvSpPr/>
          <p:nvPr/>
        </p:nvSpPr>
        <p:spPr>
          <a:xfrm>
            <a:off x="594360" y="1572768"/>
            <a:ext cx="3657600" cy="201168"/>
          </a:xfrm>
          <a:prstGeom prst="rect">
            <a:avLst/>
          </a:prstGeom>
          <a:noFill/>
          <a:ln/>
        </p:spPr>
        <p:txBody>
          <a:bodyPr wrap="square" lIns="0" tIns="0" rIns="0" bIns="0" rtlCol="0" anchor="ctr"/>
          <a:lstStyle/>
          <a:p>
            <a:pPr marL="0" indent="0">
              <a:buNone/>
            </a:pPr>
            <a:endParaRPr lang="en-US" sz="950" dirty="0"/>
          </a:p>
        </p:txBody>
      </p:sp>
      <p:sp>
        <p:nvSpPr>
          <p:cNvPr id="10" name="Shape 8"/>
          <p:cNvSpPr/>
          <p:nvPr/>
        </p:nvSpPr>
        <p:spPr>
          <a:xfrm>
            <a:off x="457200" y="1947672"/>
            <a:ext cx="54864" cy="411480"/>
          </a:xfrm>
          <a:prstGeom prst="rect">
            <a:avLst/>
          </a:prstGeom>
          <a:solidFill>
            <a:srgbClr val="E76F51"/>
          </a:solidFill>
          <a:ln w="12700">
            <a:solidFill>
              <a:srgbClr val="E76F51"/>
            </a:solidFill>
            <a:prstDash val="solid"/>
          </a:ln>
        </p:spPr>
      </p:sp>
      <p:sp>
        <p:nvSpPr>
          <p:cNvPr id="11" name="Text 9"/>
          <p:cNvSpPr/>
          <p:nvPr/>
        </p:nvSpPr>
        <p:spPr>
          <a:xfrm>
            <a:off x="594360" y="2072437"/>
            <a:ext cx="3657600" cy="182880"/>
          </a:xfrm>
          <a:prstGeom prst="rect">
            <a:avLst/>
          </a:prstGeom>
          <a:noFill/>
          <a:ln/>
        </p:spPr>
        <p:txBody>
          <a:bodyPr wrap="square" lIns="0" tIns="0" rIns="0" bIns="0" rtlCol="0" anchor="ctr"/>
          <a:lstStyle/>
          <a:p>
            <a:r>
              <a:rPr lang="en-US" sz="1100" dirty="0"/>
              <a:t>Each agent has its own Online Q-Network, Target Q-Network, and Replay Buffer. All 12 agents share a single </a:t>
            </a:r>
            <a:r>
              <a:rPr lang="en-US" sz="1100" dirty="0" smtClean="0"/>
              <a:t>Multi-Layer GCN encoder.</a:t>
            </a:r>
            <a:endParaRPr lang="en-US" sz="1100" dirty="0"/>
          </a:p>
        </p:txBody>
      </p:sp>
      <p:sp>
        <p:nvSpPr>
          <p:cNvPr id="12" name="Text 10"/>
          <p:cNvSpPr/>
          <p:nvPr/>
        </p:nvSpPr>
        <p:spPr>
          <a:xfrm>
            <a:off x="594360" y="2148840"/>
            <a:ext cx="3657600" cy="201168"/>
          </a:xfrm>
          <a:prstGeom prst="rect">
            <a:avLst/>
          </a:prstGeom>
          <a:noFill/>
          <a:ln/>
        </p:spPr>
        <p:txBody>
          <a:bodyPr wrap="square" lIns="0" tIns="0" rIns="0" bIns="0" rtlCol="0" anchor="ctr"/>
          <a:lstStyle/>
          <a:p>
            <a:pPr marL="0" indent="0">
              <a:buNone/>
            </a:pPr>
            <a:endParaRPr lang="en-US" sz="950" dirty="0"/>
          </a:p>
        </p:txBody>
      </p:sp>
      <p:sp>
        <p:nvSpPr>
          <p:cNvPr id="13" name="Shape 11"/>
          <p:cNvSpPr/>
          <p:nvPr/>
        </p:nvSpPr>
        <p:spPr>
          <a:xfrm>
            <a:off x="457200" y="2523744"/>
            <a:ext cx="54864" cy="411480"/>
          </a:xfrm>
          <a:prstGeom prst="rect">
            <a:avLst/>
          </a:prstGeom>
          <a:solidFill>
            <a:srgbClr val="E76F51"/>
          </a:solidFill>
          <a:ln w="12700">
            <a:solidFill>
              <a:srgbClr val="E76F51"/>
            </a:solidFill>
            <a:prstDash val="solid"/>
          </a:ln>
        </p:spPr>
      </p:sp>
      <p:sp>
        <p:nvSpPr>
          <p:cNvPr id="14" name="Text 12"/>
          <p:cNvSpPr/>
          <p:nvPr/>
        </p:nvSpPr>
        <p:spPr>
          <a:xfrm>
            <a:off x="594360" y="2620211"/>
            <a:ext cx="3657600" cy="182880"/>
          </a:xfrm>
          <a:prstGeom prst="rect">
            <a:avLst/>
          </a:prstGeom>
          <a:noFill/>
          <a:ln/>
        </p:spPr>
        <p:txBody>
          <a:bodyPr wrap="square" lIns="0" tIns="0" rIns="0" bIns="0" rtlCol="0" anchor="ctr"/>
          <a:lstStyle/>
          <a:p>
            <a:endParaRPr lang="en-US" sz="1100" dirty="0"/>
          </a:p>
        </p:txBody>
      </p:sp>
      <p:sp>
        <p:nvSpPr>
          <p:cNvPr id="15" name="Text 13"/>
          <p:cNvSpPr/>
          <p:nvPr/>
        </p:nvSpPr>
        <p:spPr>
          <a:xfrm>
            <a:off x="594360" y="2724912"/>
            <a:ext cx="3657600" cy="201168"/>
          </a:xfrm>
          <a:prstGeom prst="rect">
            <a:avLst/>
          </a:prstGeom>
          <a:noFill/>
          <a:ln/>
        </p:spPr>
        <p:txBody>
          <a:bodyPr wrap="square" lIns="0" tIns="0" rIns="0" bIns="0" rtlCol="0" anchor="ctr"/>
          <a:lstStyle/>
          <a:p>
            <a:pPr marL="0" indent="0">
              <a:buNone/>
            </a:pPr>
            <a:endParaRPr lang="en-US" sz="950" dirty="0"/>
          </a:p>
        </p:txBody>
      </p:sp>
      <p:sp>
        <p:nvSpPr>
          <p:cNvPr id="16" name="Shape 14"/>
          <p:cNvSpPr/>
          <p:nvPr/>
        </p:nvSpPr>
        <p:spPr>
          <a:xfrm>
            <a:off x="457200" y="3099816"/>
            <a:ext cx="54864" cy="411480"/>
          </a:xfrm>
          <a:prstGeom prst="rect">
            <a:avLst/>
          </a:prstGeom>
          <a:solidFill>
            <a:srgbClr val="E76F51"/>
          </a:solidFill>
          <a:ln w="12700">
            <a:solidFill>
              <a:srgbClr val="E76F51"/>
            </a:solidFill>
            <a:prstDash val="solid"/>
          </a:ln>
        </p:spPr>
      </p:sp>
      <p:sp>
        <p:nvSpPr>
          <p:cNvPr id="17" name="Text 15"/>
          <p:cNvSpPr/>
          <p:nvPr/>
        </p:nvSpPr>
        <p:spPr>
          <a:xfrm>
            <a:off x="594360" y="3163958"/>
            <a:ext cx="3657600" cy="182880"/>
          </a:xfrm>
          <a:prstGeom prst="rect">
            <a:avLst/>
          </a:prstGeom>
          <a:noFill/>
          <a:ln/>
        </p:spPr>
        <p:txBody>
          <a:bodyPr wrap="square" lIns="0" tIns="0" rIns="0" bIns="0" rtlCol="0" anchor="ctr"/>
          <a:lstStyle/>
          <a:p>
            <a:pPr lvl="0"/>
            <a:r>
              <a:rPr lang="en-US" sz="1100" dirty="0"/>
              <a:t>The Q-networks are trained independently with their own replay buffers. This is fully decentralized execution AND training.</a:t>
            </a:r>
          </a:p>
        </p:txBody>
      </p:sp>
      <p:sp>
        <p:nvSpPr>
          <p:cNvPr id="18" name="Text 16"/>
          <p:cNvSpPr/>
          <p:nvPr/>
        </p:nvSpPr>
        <p:spPr>
          <a:xfrm>
            <a:off x="594360" y="3300984"/>
            <a:ext cx="3657600" cy="201168"/>
          </a:xfrm>
          <a:prstGeom prst="rect">
            <a:avLst/>
          </a:prstGeom>
          <a:noFill/>
          <a:ln/>
        </p:spPr>
        <p:txBody>
          <a:bodyPr wrap="square" lIns="0" tIns="0" rIns="0" bIns="0" rtlCol="0" anchor="ctr"/>
          <a:lstStyle/>
          <a:p>
            <a:pPr marL="0" indent="0">
              <a:buNone/>
            </a:pPr>
            <a:endParaRPr lang="en-US" sz="950" dirty="0"/>
          </a:p>
        </p:txBody>
      </p:sp>
      <p:sp>
        <p:nvSpPr>
          <p:cNvPr id="19" name="Shape 17"/>
          <p:cNvSpPr/>
          <p:nvPr/>
        </p:nvSpPr>
        <p:spPr>
          <a:xfrm>
            <a:off x="457200" y="3675888"/>
            <a:ext cx="54864" cy="411480"/>
          </a:xfrm>
          <a:prstGeom prst="rect">
            <a:avLst/>
          </a:prstGeom>
          <a:solidFill>
            <a:srgbClr val="E76F51"/>
          </a:solidFill>
          <a:ln w="12700">
            <a:solidFill>
              <a:srgbClr val="E76F51"/>
            </a:solidFill>
            <a:prstDash val="solid"/>
          </a:ln>
        </p:spPr>
      </p:sp>
      <p:sp>
        <p:nvSpPr>
          <p:cNvPr id="20" name="Text 18"/>
          <p:cNvSpPr/>
          <p:nvPr/>
        </p:nvSpPr>
        <p:spPr>
          <a:xfrm>
            <a:off x="594360" y="3767395"/>
            <a:ext cx="3657600" cy="182880"/>
          </a:xfrm>
          <a:prstGeom prst="rect">
            <a:avLst/>
          </a:prstGeom>
          <a:noFill/>
          <a:ln/>
        </p:spPr>
        <p:txBody>
          <a:bodyPr wrap="square" lIns="0" tIns="0" rIns="0" bIns="0" rtlCol="0" anchor="ctr"/>
          <a:lstStyle/>
          <a:p>
            <a:pPr lvl="0"/>
            <a:r>
              <a:rPr lang="en-US" sz="1100" dirty="0"/>
              <a:t>Beyond what the GCN provides, agents do not communicate during action selection. The GCN embedding is the only cross-junction information channel.</a:t>
            </a:r>
          </a:p>
        </p:txBody>
      </p:sp>
      <p:sp>
        <p:nvSpPr>
          <p:cNvPr id="21" name="Text 19"/>
          <p:cNvSpPr/>
          <p:nvPr/>
        </p:nvSpPr>
        <p:spPr>
          <a:xfrm>
            <a:off x="594360" y="3877056"/>
            <a:ext cx="3657600" cy="201168"/>
          </a:xfrm>
          <a:prstGeom prst="rect">
            <a:avLst/>
          </a:prstGeom>
          <a:noFill/>
          <a:ln/>
        </p:spPr>
        <p:txBody>
          <a:bodyPr wrap="square" lIns="0" tIns="0" rIns="0" bIns="0" rtlCol="0" anchor="ctr"/>
          <a:lstStyle/>
          <a:p>
            <a:pPr marL="0" indent="0">
              <a:buNone/>
            </a:pPr>
            <a:endParaRPr lang="en-US" sz="950" dirty="0"/>
          </a:p>
        </p:txBody>
      </p:sp>
      <p:sp>
        <p:nvSpPr>
          <p:cNvPr id="22" name="Shape 20"/>
          <p:cNvSpPr/>
          <p:nvPr/>
        </p:nvSpPr>
        <p:spPr>
          <a:xfrm>
            <a:off x="457200" y="4251960"/>
            <a:ext cx="54864" cy="411480"/>
          </a:xfrm>
          <a:prstGeom prst="rect">
            <a:avLst/>
          </a:prstGeom>
          <a:solidFill>
            <a:srgbClr val="E76F51"/>
          </a:solidFill>
          <a:ln w="12700">
            <a:solidFill>
              <a:srgbClr val="E76F51"/>
            </a:solidFill>
            <a:prstDash val="solid"/>
          </a:ln>
        </p:spPr>
      </p:sp>
      <p:sp>
        <p:nvSpPr>
          <p:cNvPr id="23" name="Text 21"/>
          <p:cNvSpPr/>
          <p:nvPr/>
        </p:nvSpPr>
        <p:spPr>
          <a:xfrm>
            <a:off x="594360" y="2761782"/>
            <a:ext cx="3657600" cy="182880"/>
          </a:xfrm>
          <a:prstGeom prst="rect">
            <a:avLst/>
          </a:prstGeom>
          <a:noFill/>
          <a:ln/>
        </p:spPr>
        <p:txBody>
          <a:bodyPr wrap="square" lIns="0" tIns="0" rIns="0" bIns="0" rtlCol="0" anchor="ctr"/>
          <a:lstStyle/>
          <a:p>
            <a:pPr lvl="0"/>
            <a:r>
              <a:rPr lang="en-US" sz="1100" dirty="0" smtClean="0">
                <a:solidFill>
                  <a:srgbClr val="0B2545"/>
                </a:solidFill>
              </a:rPr>
              <a:t>It has 3 layers network architecture. It </a:t>
            </a:r>
            <a:r>
              <a:rPr lang="en-US" sz="1100" dirty="0"/>
              <a:t>can model non-linear traffic interactions that Q-Learning cannot represent.</a:t>
            </a:r>
          </a:p>
          <a:p>
            <a:pPr marL="0" indent="0">
              <a:buNone/>
            </a:pPr>
            <a:endParaRPr lang="en-US" sz="1100" dirty="0"/>
          </a:p>
        </p:txBody>
      </p:sp>
      <p:sp>
        <p:nvSpPr>
          <p:cNvPr id="25" name="Shape 23"/>
          <p:cNvSpPr/>
          <p:nvPr/>
        </p:nvSpPr>
        <p:spPr>
          <a:xfrm>
            <a:off x="4573362" y="761408"/>
            <a:ext cx="4251960" cy="42062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26" name="Shape 24"/>
          <p:cNvSpPr/>
          <p:nvPr/>
        </p:nvSpPr>
        <p:spPr>
          <a:xfrm>
            <a:off x="4572000" y="777240"/>
            <a:ext cx="4251960" cy="457200"/>
          </a:xfrm>
          <a:prstGeom prst="rect">
            <a:avLst/>
          </a:prstGeom>
          <a:solidFill>
            <a:srgbClr val="2D6A4F"/>
          </a:solidFill>
          <a:ln w="12700">
            <a:solidFill>
              <a:srgbClr val="2D6A4F"/>
            </a:solidFill>
            <a:prstDash val="solid"/>
          </a:ln>
        </p:spPr>
      </p:sp>
      <p:sp>
        <p:nvSpPr>
          <p:cNvPr id="27" name="Text 25"/>
          <p:cNvSpPr/>
          <p:nvPr/>
        </p:nvSpPr>
        <p:spPr>
          <a:xfrm>
            <a:off x="4663440" y="795528"/>
            <a:ext cx="4069080" cy="420624"/>
          </a:xfrm>
          <a:prstGeom prst="rect">
            <a:avLst/>
          </a:prstGeom>
          <a:noFill/>
          <a:ln/>
        </p:spPr>
        <p:txBody>
          <a:bodyPr wrap="square" lIns="0" tIns="0" rIns="0" bIns="0" rtlCol="0" anchor="ctr"/>
          <a:lstStyle/>
          <a:p>
            <a:pPr marL="0" indent="0">
              <a:buNone/>
            </a:pPr>
            <a:r>
              <a:rPr lang="en-US" sz="1400" b="1" dirty="0" smtClean="0">
                <a:solidFill>
                  <a:srgbClr val="FFFFFF"/>
                </a:solidFill>
              </a:rPr>
              <a:t>GCN – MAQ Learning  </a:t>
            </a:r>
            <a:r>
              <a:rPr lang="en-US" sz="1400" b="1" dirty="0">
                <a:solidFill>
                  <a:srgbClr val="FFFFFF"/>
                </a:solidFill>
              </a:rPr>
              <a:t>·  </a:t>
            </a:r>
            <a:r>
              <a:rPr lang="en-US" sz="1400" b="1" dirty="0" smtClean="0">
                <a:solidFill>
                  <a:srgbClr val="FFFFFF"/>
                </a:solidFill>
              </a:rPr>
              <a:t>Multi-Agents Q Learning</a:t>
            </a:r>
            <a:endParaRPr lang="en-US" sz="1400" dirty="0"/>
          </a:p>
        </p:txBody>
      </p:sp>
      <p:sp>
        <p:nvSpPr>
          <p:cNvPr id="28" name="Shape 26"/>
          <p:cNvSpPr/>
          <p:nvPr/>
        </p:nvSpPr>
        <p:spPr>
          <a:xfrm>
            <a:off x="4709160" y="1371600"/>
            <a:ext cx="54864" cy="411480"/>
          </a:xfrm>
          <a:prstGeom prst="rect">
            <a:avLst/>
          </a:prstGeom>
          <a:solidFill>
            <a:srgbClr val="2D6A4F"/>
          </a:solidFill>
          <a:ln w="12700">
            <a:solidFill>
              <a:srgbClr val="2D6A4F"/>
            </a:solidFill>
            <a:prstDash val="solid"/>
          </a:ln>
        </p:spPr>
      </p:sp>
      <p:sp>
        <p:nvSpPr>
          <p:cNvPr id="29" name="Text 27"/>
          <p:cNvSpPr/>
          <p:nvPr/>
        </p:nvSpPr>
        <p:spPr>
          <a:xfrm>
            <a:off x="4846320" y="1475617"/>
            <a:ext cx="3886200" cy="182880"/>
          </a:xfrm>
          <a:prstGeom prst="rect">
            <a:avLst/>
          </a:prstGeom>
          <a:noFill/>
          <a:ln/>
        </p:spPr>
        <p:txBody>
          <a:bodyPr wrap="square" lIns="0" tIns="0" rIns="0" bIns="0" rtlCol="0" anchor="ctr"/>
          <a:lstStyle/>
          <a:p>
            <a:r>
              <a:rPr lang="en-US" sz="1100" dirty="0"/>
              <a:t>MA-Q-Learning (Multi-Agent Q-Learning) is the simplest of the three algorithms implemented in this system</a:t>
            </a:r>
          </a:p>
        </p:txBody>
      </p:sp>
      <p:sp>
        <p:nvSpPr>
          <p:cNvPr id="30" name="Text 28"/>
          <p:cNvSpPr/>
          <p:nvPr/>
        </p:nvSpPr>
        <p:spPr>
          <a:xfrm>
            <a:off x="4846320" y="1572768"/>
            <a:ext cx="3886200" cy="201168"/>
          </a:xfrm>
          <a:prstGeom prst="rect">
            <a:avLst/>
          </a:prstGeom>
          <a:noFill/>
          <a:ln/>
        </p:spPr>
        <p:txBody>
          <a:bodyPr wrap="square" lIns="0" tIns="0" rIns="0" bIns="0" rtlCol="0" anchor="ctr"/>
          <a:lstStyle/>
          <a:p>
            <a:pPr marL="0" indent="0">
              <a:buNone/>
            </a:pPr>
            <a:endParaRPr lang="en-US" sz="950" dirty="0"/>
          </a:p>
        </p:txBody>
      </p:sp>
      <p:sp>
        <p:nvSpPr>
          <p:cNvPr id="31" name="Shape 29"/>
          <p:cNvSpPr/>
          <p:nvPr/>
        </p:nvSpPr>
        <p:spPr>
          <a:xfrm>
            <a:off x="4709160" y="1947672"/>
            <a:ext cx="54864" cy="411480"/>
          </a:xfrm>
          <a:prstGeom prst="rect">
            <a:avLst/>
          </a:prstGeom>
          <a:solidFill>
            <a:srgbClr val="2D6A4F"/>
          </a:solidFill>
          <a:ln w="12700">
            <a:solidFill>
              <a:srgbClr val="2D6A4F"/>
            </a:solidFill>
            <a:prstDash val="solid"/>
          </a:ln>
        </p:spPr>
      </p:sp>
      <p:sp>
        <p:nvSpPr>
          <p:cNvPr id="32" name="Text 30"/>
          <p:cNvSpPr/>
          <p:nvPr/>
        </p:nvSpPr>
        <p:spPr>
          <a:xfrm>
            <a:off x="4846320" y="2008656"/>
            <a:ext cx="3886200" cy="182880"/>
          </a:xfrm>
          <a:prstGeom prst="rect">
            <a:avLst/>
          </a:prstGeom>
          <a:noFill/>
          <a:ln/>
        </p:spPr>
        <p:txBody>
          <a:bodyPr wrap="square" lIns="0" tIns="0" rIns="0" bIns="0" rtlCol="0" anchor="ctr"/>
          <a:lstStyle/>
          <a:p>
            <a:r>
              <a:rPr lang="en-US" sz="1100" dirty="0"/>
              <a:t>It is a value-based reinforcement learning algorithm </a:t>
            </a:r>
          </a:p>
        </p:txBody>
      </p:sp>
      <p:sp>
        <p:nvSpPr>
          <p:cNvPr id="33" name="Text 31"/>
          <p:cNvSpPr/>
          <p:nvPr/>
        </p:nvSpPr>
        <p:spPr>
          <a:xfrm>
            <a:off x="4846320" y="2148840"/>
            <a:ext cx="3886200" cy="201168"/>
          </a:xfrm>
          <a:prstGeom prst="rect">
            <a:avLst/>
          </a:prstGeom>
          <a:noFill/>
          <a:ln/>
        </p:spPr>
        <p:txBody>
          <a:bodyPr wrap="square" lIns="0" tIns="0" rIns="0" bIns="0" rtlCol="0" anchor="ctr"/>
          <a:lstStyle/>
          <a:p>
            <a:pPr marL="0" indent="0">
              <a:buNone/>
            </a:pPr>
            <a:endParaRPr lang="en-US" sz="950" dirty="0"/>
          </a:p>
        </p:txBody>
      </p:sp>
      <p:sp>
        <p:nvSpPr>
          <p:cNvPr id="34" name="Shape 32"/>
          <p:cNvSpPr/>
          <p:nvPr/>
        </p:nvSpPr>
        <p:spPr>
          <a:xfrm>
            <a:off x="4709160" y="2523744"/>
            <a:ext cx="54864" cy="411480"/>
          </a:xfrm>
          <a:prstGeom prst="rect">
            <a:avLst/>
          </a:prstGeom>
          <a:solidFill>
            <a:srgbClr val="2D6A4F"/>
          </a:solidFill>
          <a:ln w="12700">
            <a:solidFill>
              <a:srgbClr val="2D6A4F"/>
            </a:solidFill>
            <a:prstDash val="solid"/>
          </a:ln>
        </p:spPr>
      </p:sp>
      <p:sp>
        <p:nvSpPr>
          <p:cNvPr id="35" name="Text 33"/>
          <p:cNvSpPr/>
          <p:nvPr/>
        </p:nvSpPr>
        <p:spPr>
          <a:xfrm>
            <a:off x="4846320" y="2642616"/>
            <a:ext cx="3886200" cy="182880"/>
          </a:xfrm>
          <a:prstGeom prst="rect">
            <a:avLst/>
          </a:prstGeom>
          <a:noFill/>
          <a:ln/>
        </p:spPr>
        <p:txBody>
          <a:bodyPr wrap="square" lIns="0" tIns="0" rIns="0" bIns="0" rtlCol="0" anchor="ctr"/>
          <a:lstStyle/>
          <a:p>
            <a:r>
              <a:rPr lang="en-US" sz="1100" dirty="0"/>
              <a:t>MA-Q-Learning in this implementation is its single-layer linear Q-network </a:t>
            </a:r>
            <a:r>
              <a:rPr lang="en-US" sz="1100" dirty="0" smtClean="0"/>
              <a:t>no </a:t>
            </a:r>
            <a:r>
              <a:rPr lang="en-US" sz="1100" dirty="0"/>
              <a:t>hidden layers, no non-</a:t>
            </a:r>
            <a:r>
              <a:rPr lang="en-US" sz="1100" dirty="0" err="1"/>
              <a:t>linearities</a:t>
            </a:r>
            <a:endParaRPr lang="en-US" sz="1100" dirty="0"/>
          </a:p>
        </p:txBody>
      </p:sp>
      <p:sp>
        <p:nvSpPr>
          <p:cNvPr id="36" name="Text 34"/>
          <p:cNvSpPr/>
          <p:nvPr/>
        </p:nvSpPr>
        <p:spPr>
          <a:xfrm>
            <a:off x="4846320" y="2724912"/>
            <a:ext cx="3886200" cy="201168"/>
          </a:xfrm>
          <a:prstGeom prst="rect">
            <a:avLst/>
          </a:prstGeom>
          <a:noFill/>
          <a:ln/>
        </p:spPr>
        <p:txBody>
          <a:bodyPr wrap="square" lIns="0" tIns="0" rIns="0" bIns="0" rtlCol="0" anchor="ctr"/>
          <a:lstStyle/>
          <a:p>
            <a:pPr marL="0" indent="0">
              <a:buNone/>
            </a:pPr>
            <a:endParaRPr lang="en-US" sz="950" dirty="0"/>
          </a:p>
        </p:txBody>
      </p:sp>
      <p:sp>
        <p:nvSpPr>
          <p:cNvPr id="37" name="Shape 35"/>
          <p:cNvSpPr/>
          <p:nvPr/>
        </p:nvSpPr>
        <p:spPr>
          <a:xfrm>
            <a:off x="4709160" y="3099816"/>
            <a:ext cx="54864" cy="411480"/>
          </a:xfrm>
          <a:prstGeom prst="rect">
            <a:avLst/>
          </a:prstGeom>
          <a:solidFill>
            <a:srgbClr val="2D6A4F"/>
          </a:solidFill>
          <a:ln w="12700">
            <a:solidFill>
              <a:srgbClr val="2D6A4F"/>
            </a:solidFill>
            <a:prstDash val="solid"/>
          </a:ln>
        </p:spPr>
      </p:sp>
      <p:sp>
        <p:nvSpPr>
          <p:cNvPr id="38" name="Text 36"/>
          <p:cNvSpPr/>
          <p:nvPr/>
        </p:nvSpPr>
        <p:spPr>
          <a:xfrm>
            <a:off x="4846320" y="3193190"/>
            <a:ext cx="3886200" cy="182880"/>
          </a:xfrm>
          <a:prstGeom prst="rect">
            <a:avLst/>
          </a:prstGeom>
          <a:noFill/>
          <a:ln/>
        </p:spPr>
        <p:txBody>
          <a:bodyPr wrap="square" lIns="0" tIns="0" rIns="0" bIns="0" rtlCol="0" anchor="ctr"/>
          <a:lstStyle/>
          <a:p>
            <a:r>
              <a:rPr lang="en-US" sz="1100" dirty="0" smtClean="0"/>
              <a:t>It has </a:t>
            </a:r>
            <a:r>
              <a:rPr lang="en-US" sz="1100" dirty="0"/>
              <a:t>linear </a:t>
            </a:r>
            <a:r>
              <a:rPr lang="en-US" sz="1100" dirty="0" err="1" smtClean="0"/>
              <a:t>approximator</a:t>
            </a:r>
            <a:r>
              <a:rPr lang="en-US" sz="1100" dirty="0" smtClean="0"/>
              <a:t> that’s why </a:t>
            </a:r>
            <a:r>
              <a:rPr lang="en-US" sz="1100" dirty="0"/>
              <a:t>it is expected to underperform DQN and MAPPO in congested scenarios</a:t>
            </a:r>
          </a:p>
        </p:txBody>
      </p:sp>
      <p:sp>
        <p:nvSpPr>
          <p:cNvPr id="39" name="Text 37"/>
          <p:cNvSpPr/>
          <p:nvPr/>
        </p:nvSpPr>
        <p:spPr>
          <a:xfrm>
            <a:off x="4846320" y="3300984"/>
            <a:ext cx="3886200" cy="201168"/>
          </a:xfrm>
          <a:prstGeom prst="rect">
            <a:avLst/>
          </a:prstGeom>
          <a:noFill/>
          <a:ln/>
        </p:spPr>
        <p:txBody>
          <a:bodyPr wrap="square" lIns="0" tIns="0" rIns="0" bIns="0" rtlCol="0" anchor="ctr"/>
          <a:lstStyle/>
          <a:p>
            <a:pPr marL="0" indent="0">
              <a:buNone/>
            </a:pPr>
            <a:endParaRPr lang="en-US" sz="950" dirty="0"/>
          </a:p>
        </p:txBody>
      </p:sp>
      <p:sp>
        <p:nvSpPr>
          <p:cNvPr id="40" name="Shape 38"/>
          <p:cNvSpPr/>
          <p:nvPr/>
        </p:nvSpPr>
        <p:spPr>
          <a:xfrm>
            <a:off x="4709160" y="3675888"/>
            <a:ext cx="54864" cy="411480"/>
          </a:xfrm>
          <a:prstGeom prst="rect">
            <a:avLst/>
          </a:prstGeom>
          <a:solidFill>
            <a:srgbClr val="2D6A4F"/>
          </a:solidFill>
          <a:ln w="12700">
            <a:solidFill>
              <a:srgbClr val="2D6A4F"/>
            </a:solidFill>
            <a:prstDash val="solid"/>
          </a:ln>
        </p:spPr>
      </p:sp>
      <p:sp>
        <p:nvSpPr>
          <p:cNvPr id="41" name="Text 39"/>
          <p:cNvSpPr/>
          <p:nvPr/>
        </p:nvSpPr>
        <p:spPr>
          <a:xfrm>
            <a:off x="4846320" y="3759732"/>
            <a:ext cx="3886200" cy="182880"/>
          </a:xfrm>
          <a:prstGeom prst="rect">
            <a:avLst/>
          </a:prstGeom>
          <a:noFill/>
          <a:ln/>
        </p:spPr>
        <p:txBody>
          <a:bodyPr wrap="square" lIns="0" tIns="0" rIns="0" bIns="0" rtlCol="0" anchor="ctr"/>
          <a:lstStyle/>
          <a:p>
            <a:r>
              <a:rPr lang="en-US" sz="1100" dirty="0"/>
              <a:t>Each agent has its own Linear Q-Network (one-layer, no hidden units). All 12 agents share a single </a:t>
            </a:r>
            <a:r>
              <a:rPr lang="en-US" sz="1100" dirty="0" smtClean="0"/>
              <a:t>Multi-Layer GCN </a:t>
            </a:r>
            <a:r>
              <a:rPr lang="en-US" sz="1100" dirty="0"/>
              <a:t>encoder </a:t>
            </a:r>
          </a:p>
        </p:txBody>
      </p:sp>
      <p:sp>
        <p:nvSpPr>
          <p:cNvPr id="42" name="Text 40"/>
          <p:cNvSpPr/>
          <p:nvPr/>
        </p:nvSpPr>
        <p:spPr>
          <a:xfrm>
            <a:off x="4846320" y="3877056"/>
            <a:ext cx="3886200" cy="201168"/>
          </a:xfrm>
          <a:prstGeom prst="rect">
            <a:avLst/>
          </a:prstGeom>
          <a:noFill/>
          <a:ln/>
        </p:spPr>
        <p:txBody>
          <a:bodyPr wrap="square" lIns="0" tIns="0" rIns="0" bIns="0" rtlCol="0" anchor="ctr"/>
          <a:lstStyle/>
          <a:p>
            <a:pPr marL="0" indent="0">
              <a:buNone/>
            </a:pPr>
            <a:endParaRPr lang="en-US" sz="950" dirty="0"/>
          </a:p>
        </p:txBody>
      </p:sp>
      <p:sp>
        <p:nvSpPr>
          <p:cNvPr id="43" name="Shape 41"/>
          <p:cNvSpPr/>
          <p:nvPr/>
        </p:nvSpPr>
        <p:spPr>
          <a:xfrm>
            <a:off x="4709160" y="4251960"/>
            <a:ext cx="54864" cy="411480"/>
          </a:xfrm>
          <a:prstGeom prst="rect">
            <a:avLst/>
          </a:prstGeom>
          <a:solidFill>
            <a:srgbClr val="2D6A4F"/>
          </a:solidFill>
          <a:ln w="12700">
            <a:solidFill>
              <a:srgbClr val="2D6A4F"/>
            </a:solidFill>
            <a:prstDash val="solid"/>
          </a:ln>
        </p:spPr>
      </p:sp>
      <p:sp>
        <p:nvSpPr>
          <p:cNvPr id="44" name="Text 42"/>
          <p:cNvSpPr/>
          <p:nvPr/>
        </p:nvSpPr>
        <p:spPr>
          <a:xfrm>
            <a:off x="4846320" y="4064440"/>
            <a:ext cx="3886200" cy="182880"/>
          </a:xfrm>
          <a:prstGeom prst="rect">
            <a:avLst/>
          </a:prstGeom>
          <a:noFill/>
          <a:ln/>
        </p:spPr>
        <p:txBody>
          <a:bodyPr wrap="square" lIns="0" tIns="0" rIns="0" bIns="0" rtlCol="0" anchor="ctr"/>
          <a:lstStyle/>
          <a:p>
            <a:endParaRPr lang="en-US" sz="1100" dirty="0"/>
          </a:p>
        </p:txBody>
      </p:sp>
      <p:sp>
        <p:nvSpPr>
          <p:cNvPr id="45" name="Text 43"/>
          <p:cNvSpPr/>
          <p:nvPr/>
        </p:nvSpPr>
        <p:spPr>
          <a:xfrm>
            <a:off x="4846320" y="4453128"/>
            <a:ext cx="3886200" cy="201168"/>
          </a:xfrm>
          <a:prstGeom prst="rect">
            <a:avLst/>
          </a:prstGeom>
          <a:noFill/>
          <a:ln/>
        </p:spPr>
        <p:txBody>
          <a:bodyPr wrap="square" lIns="0" tIns="0" rIns="0" bIns="0" rtlCol="0" anchor="ctr"/>
          <a:lstStyle/>
          <a:p>
            <a:pPr marL="0" indent="0">
              <a:buNone/>
            </a:pPr>
            <a:endParaRPr lang="en-US" sz="950" dirty="0"/>
          </a:p>
        </p:txBody>
      </p:sp>
      <p:sp>
        <p:nvSpPr>
          <p:cNvPr id="46" name="Text 42"/>
          <p:cNvSpPr/>
          <p:nvPr/>
        </p:nvSpPr>
        <p:spPr>
          <a:xfrm>
            <a:off x="4857921" y="4370832"/>
            <a:ext cx="3886200" cy="182880"/>
          </a:xfrm>
          <a:prstGeom prst="rect">
            <a:avLst/>
          </a:prstGeom>
          <a:noFill/>
          <a:ln/>
        </p:spPr>
        <p:txBody>
          <a:bodyPr wrap="square" lIns="0" tIns="0" rIns="0" bIns="0" rtlCol="0" anchor="ctr"/>
          <a:lstStyle/>
          <a:p>
            <a:r>
              <a:rPr lang="en-US" sz="1100" b="1" dirty="0" smtClean="0"/>
              <a:t>GCN              Fully </a:t>
            </a:r>
            <a:r>
              <a:rPr lang="en-US" sz="1100" b="1" dirty="0"/>
              <a:t>Decentralized </a:t>
            </a:r>
            <a:r>
              <a:rPr lang="en-US" sz="1100" b="1" dirty="0" smtClean="0"/>
              <a:t>Q-Learning               Shared </a:t>
            </a:r>
            <a:r>
              <a:rPr lang="en-US" sz="1100" b="1" dirty="0"/>
              <a:t>Epsilon </a:t>
            </a:r>
            <a:r>
              <a:rPr lang="en-US" sz="1100" b="1" dirty="0" smtClean="0"/>
              <a:t>Decay              Online </a:t>
            </a:r>
            <a:r>
              <a:rPr lang="en-US" sz="1100" b="1" dirty="0"/>
              <a:t>Updates </a:t>
            </a:r>
            <a:r>
              <a:rPr lang="en-US" sz="1100" b="1" dirty="0" smtClean="0"/>
              <a:t>Only  </a:t>
            </a:r>
            <a:endParaRPr lang="en-US" sz="1100" dirty="0"/>
          </a:p>
        </p:txBody>
      </p:sp>
      <p:cxnSp>
        <p:nvCxnSpPr>
          <p:cNvPr id="48" name="Straight Arrow Connector 47"/>
          <p:cNvCxnSpPr/>
          <p:nvPr/>
        </p:nvCxnSpPr>
        <p:spPr>
          <a:xfrm>
            <a:off x="5240739" y="4553712"/>
            <a:ext cx="31389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7410735" y="4382842"/>
            <a:ext cx="313899" cy="48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5199795" y="4390302"/>
            <a:ext cx="2797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Text 42"/>
          <p:cNvSpPr/>
          <p:nvPr/>
        </p:nvSpPr>
        <p:spPr>
          <a:xfrm>
            <a:off x="631551" y="4347214"/>
            <a:ext cx="3886200" cy="288116"/>
          </a:xfrm>
          <a:prstGeom prst="rect">
            <a:avLst/>
          </a:prstGeom>
          <a:noFill/>
          <a:ln/>
        </p:spPr>
        <p:txBody>
          <a:bodyPr wrap="square" lIns="0" tIns="0" rIns="0" bIns="0" rtlCol="0" anchor="ctr"/>
          <a:lstStyle/>
          <a:p>
            <a:r>
              <a:rPr lang="en-US" sz="1100" b="1" dirty="0" smtClean="0"/>
              <a:t>GCN              Independent Q-Network              Shared Epsilon             </a:t>
            </a:r>
          </a:p>
          <a:p>
            <a:r>
              <a:rPr lang="en-US" sz="1100" b="1" dirty="0" smtClean="0"/>
              <a:t>                No </a:t>
            </a:r>
            <a:r>
              <a:rPr lang="en-US" sz="1100" b="1" dirty="0"/>
              <a:t>Inter-Agent Message Passing at Decision Time</a:t>
            </a:r>
            <a:endParaRPr lang="en-US" sz="1100" dirty="0"/>
          </a:p>
        </p:txBody>
      </p:sp>
      <p:cxnSp>
        <p:nvCxnSpPr>
          <p:cNvPr id="54" name="Straight Arrow Connector 53"/>
          <p:cNvCxnSpPr/>
          <p:nvPr/>
        </p:nvCxnSpPr>
        <p:spPr>
          <a:xfrm>
            <a:off x="737314" y="4575204"/>
            <a:ext cx="31389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2812121" y="4403562"/>
            <a:ext cx="313899" cy="48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962506" y="4411794"/>
            <a:ext cx="2797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412480" cy="658368"/>
          </a:xfrm>
          <a:prstGeom prst="rect">
            <a:avLst/>
          </a:prstGeom>
          <a:noFill/>
          <a:ln/>
        </p:spPr>
        <p:txBody>
          <a:bodyPr wrap="square" rtlCol="0" anchor="ctr"/>
          <a:lstStyle/>
          <a:p>
            <a:pPr marL="0" indent="0">
              <a:buNone/>
            </a:pPr>
            <a:endParaRPr lang="en-US" sz="1000" dirty="0"/>
          </a:p>
        </p:txBody>
      </p:sp>
      <p:sp>
        <p:nvSpPr>
          <p:cNvPr id="4" name="Shape 2"/>
          <p:cNvSpPr/>
          <p:nvPr/>
        </p:nvSpPr>
        <p:spPr>
          <a:xfrm>
            <a:off x="1152555" y="436044"/>
            <a:ext cx="6907132" cy="42062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5" name="Shape 3"/>
          <p:cNvSpPr/>
          <p:nvPr/>
        </p:nvSpPr>
        <p:spPr>
          <a:xfrm>
            <a:off x="1152555" y="436044"/>
            <a:ext cx="6907132" cy="457200"/>
          </a:xfrm>
          <a:prstGeom prst="rect">
            <a:avLst/>
          </a:prstGeom>
          <a:solidFill>
            <a:srgbClr val="7B2D8B"/>
          </a:solidFill>
          <a:ln w="12700">
            <a:solidFill>
              <a:srgbClr val="7B2D8B"/>
            </a:solidFill>
            <a:prstDash val="solid"/>
          </a:ln>
        </p:spPr>
      </p:sp>
      <p:sp>
        <p:nvSpPr>
          <p:cNvPr id="6" name="Text 4"/>
          <p:cNvSpPr/>
          <p:nvPr/>
        </p:nvSpPr>
        <p:spPr>
          <a:xfrm>
            <a:off x="1243995" y="454332"/>
            <a:ext cx="3840480" cy="420624"/>
          </a:xfrm>
          <a:prstGeom prst="rect">
            <a:avLst/>
          </a:prstGeom>
          <a:noFill/>
          <a:ln/>
        </p:spPr>
        <p:txBody>
          <a:bodyPr wrap="square" lIns="0" tIns="0" rIns="0" bIns="0" rtlCol="0" anchor="ctr"/>
          <a:lstStyle/>
          <a:p>
            <a:pPr marL="0" indent="0">
              <a:buNone/>
            </a:pPr>
            <a:r>
              <a:rPr lang="en-US" sz="1400" b="1" dirty="0" smtClean="0">
                <a:solidFill>
                  <a:srgbClr val="FFFFFF"/>
                </a:solidFill>
              </a:rPr>
              <a:t>REWARD</a:t>
            </a:r>
            <a:r>
              <a:rPr lang="en-US" sz="1400" b="1" dirty="0">
                <a:solidFill>
                  <a:srgbClr val="FFFFFF"/>
                </a:solidFill>
              </a:rPr>
              <a:t> </a:t>
            </a:r>
            <a:r>
              <a:rPr lang="en-US" sz="1400" b="1" dirty="0" smtClean="0">
                <a:solidFill>
                  <a:srgbClr val="FFFFFF"/>
                </a:solidFill>
              </a:rPr>
              <a:t>&amp; System Features:</a:t>
            </a:r>
            <a:endParaRPr lang="en-US" sz="1400" dirty="0"/>
          </a:p>
        </p:txBody>
      </p:sp>
      <p:sp>
        <p:nvSpPr>
          <p:cNvPr id="7" name="Shape 5"/>
          <p:cNvSpPr/>
          <p:nvPr/>
        </p:nvSpPr>
        <p:spPr>
          <a:xfrm>
            <a:off x="1289715" y="1030404"/>
            <a:ext cx="54864" cy="411480"/>
          </a:xfrm>
          <a:prstGeom prst="rect">
            <a:avLst/>
          </a:prstGeom>
          <a:solidFill>
            <a:srgbClr val="7B2D8B"/>
          </a:solidFill>
          <a:ln w="12700">
            <a:solidFill>
              <a:srgbClr val="7B2D8B"/>
            </a:solidFill>
            <a:prstDash val="solid"/>
          </a:ln>
        </p:spPr>
      </p:sp>
      <p:sp>
        <p:nvSpPr>
          <p:cNvPr id="8" name="Text 6"/>
          <p:cNvSpPr/>
          <p:nvPr/>
        </p:nvSpPr>
        <p:spPr>
          <a:xfrm>
            <a:off x="1426875" y="1163333"/>
            <a:ext cx="5710906" cy="338328"/>
          </a:xfrm>
          <a:prstGeom prst="rect">
            <a:avLst/>
          </a:prstGeom>
          <a:noFill/>
          <a:ln/>
        </p:spPr>
        <p:txBody>
          <a:bodyPr wrap="square" lIns="0" tIns="0" rIns="0" bIns="0" rtlCol="0" anchor="ctr"/>
          <a:lstStyle/>
          <a:p>
            <a:r>
              <a:rPr lang="en-US" sz="1400" b="1" dirty="0" smtClean="0"/>
              <a:t>Reward </a:t>
            </a:r>
            <a:r>
              <a:rPr lang="en-US" sz="1400" b="1" dirty="0"/>
              <a:t>= -(0.5 x </a:t>
            </a:r>
            <a:r>
              <a:rPr lang="en-US" sz="1400" b="1" dirty="0" err="1"/>
              <a:t>NormQueue</a:t>
            </a:r>
            <a:r>
              <a:rPr lang="en-US" sz="1400" b="1" dirty="0"/>
              <a:t> + 0.3 x </a:t>
            </a:r>
            <a:r>
              <a:rPr lang="en-US" sz="1400" b="1" dirty="0" err="1"/>
              <a:t>NormDelay</a:t>
            </a:r>
            <a:r>
              <a:rPr lang="en-US" sz="1400" b="1" dirty="0"/>
              <a:t> + 0.2 x </a:t>
            </a:r>
            <a:r>
              <a:rPr lang="en-US" sz="1400" b="1" dirty="0" err="1"/>
              <a:t>NormWait</a:t>
            </a:r>
            <a:r>
              <a:rPr lang="en-US" sz="1400" b="1" dirty="0"/>
              <a:t>)</a:t>
            </a:r>
            <a:endParaRPr lang="en-US" sz="1400" dirty="0"/>
          </a:p>
          <a:p>
            <a:pPr marL="0" indent="0">
              <a:buNone/>
            </a:pPr>
            <a:endParaRPr lang="en-US" sz="1400" dirty="0"/>
          </a:p>
        </p:txBody>
      </p:sp>
      <p:sp>
        <p:nvSpPr>
          <p:cNvPr id="9" name="Text 7"/>
          <p:cNvSpPr/>
          <p:nvPr/>
        </p:nvSpPr>
        <p:spPr>
          <a:xfrm>
            <a:off x="1426875" y="1231572"/>
            <a:ext cx="3657600" cy="201168"/>
          </a:xfrm>
          <a:prstGeom prst="rect">
            <a:avLst/>
          </a:prstGeom>
          <a:noFill/>
          <a:ln/>
        </p:spPr>
        <p:txBody>
          <a:bodyPr wrap="square" lIns="0" tIns="0" rIns="0" bIns="0" rtlCol="0" anchor="ctr"/>
          <a:lstStyle/>
          <a:p>
            <a:pPr marL="0" indent="0">
              <a:buNone/>
            </a:pPr>
            <a:endParaRPr lang="en-US" sz="950" dirty="0"/>
          </a:p>
        </p:txBody>
      </p:sp>
      <p:sp>
        <p:nvSpPr>
          <p:cNvPr id="10" name="Shape 8"/>
          <p:cNvSpPr/>
          <p:nvPr/>
        </p:nvSpPr>
        <p:spPr>
          <a:xfrm>
            <a:off x="1289715" y="1606476"/>
            <a:ext cx="54864" cy="411480"/>
          </a:xfrm>
          <a:prstGeom prst="rect">
            <a:avLst/>
          </a:prstGeom>
          <a:solidFill>
            <a:srgbClr val="7B2D8B"/>
          </a:solidFill>
          <a:ln w="12700">
            <a:solidFill>
              <a:srgbClr val="7B2D8B"/>
            </a:solidFill>
            <a:prstDash val="solid"/>
          </a:ln>
        </p:spPr>
      </p:sp>
      <p:sp>
        <p:nvSpPr>
          <p:cNvPr id="11" name="Text 9"/>
          <p:cNvSpPr/>
          <p:nvPr/>
        </p:nvSpPr>
        <p:spPr>
          <a:xfrm>
            <a:off x="1426875" y="1716204"/>
            <a:ext cx="1050195" cy="182880"/>
          </a:xfrm>
          <a:prstGeom prst="rect">
            <a:avLst/>
          </a:prstGeom>
          <a:noFill/>
          <a:ln/>
        </p:spPr>
        <p:txBody>
          <a:bodyPr wrap="square" lIns="0" tIns="0" rIns="0" bIns="0" rtlCol="0" anchor="ctr"/>
          <a:lstStyle/>
          <a:p>
            <a:pPr marL="0" indent="0">
              <a:buNone/>
            </a:pPr>
            <a:r>
              <a:rPr lang="en-US" sz="1200" b="1" dirty="0" smtClean="0">
                <a:solidFill>
                  <a:srgbClr val="0B2545"/>
                </a:solidFill>
              </a:rPr>
              <a:t>Training Details:</a:t>
            </a:r>
            <a:endParaRPr lang="en-US" sz="1200" dirty="0"/>
          </a:p>
        </p:txBody>
      </p:sp>
      <p:sp>
        <p:nvSpPr>
          <p:cNvPr id="12" name="Text 10"/>
          <p:cNvSpPr/>
          <p:nvPr/>
        </p:nvSpPr>
        <p:spPr>
          <a:xfrm>
            <a:off x="2521903" y="1716204"/>
            <a:ext cx="5308297" cy="164592"/>
          </a:xfrm>
          <a:prstGeom prst="rect">
            <a:avLst/>
          </a:prstGeom>
          <a:noFill/>
          <a:ln/>
        </p:spPr>
        <p:txBody>
          <a:bodyPr wrap="square" lIns="0" tIns="0" rIns="0" bIns="0" rtlCol="0" anchor="ctr"/>
          <a:lstStyle/>
          <a:p>
            <a:pPr marL="0" indent="0">
              <a:buNone/>
            </a:pPr>
            <a:r>
              <a:rPr lang="en-US" sz="1100" dirty="0" smtClean="0"/>
              <a:t>1 hour Simulation = 3600s = 900 s for warm-up and 2700s for Training</a:t>
            </a:r>
          </a:p>
        </p:txBody>
      </p:sp>
      <p:sp>
        <p:nvSpPr>
          <p:cNvPr id="13" name="Shape 11"/>
          <p:cNvSpPr/>
          <p:nvPr/>
        </p:nvSpPr>
        <p:spPr>
          <a:xfrm>
            <a:off x="1289715" y="2182548"/>
            <a:ext cx="54864" cy="411480"/>
          </a:xfrm>
          <a:prstGeom prst="rect">
            <a:avLst/>
          </a:prstGeom>
          <a:solidFill>
            <a:srgbClr val="7B2D8B"/>
          </a:solidFill>
          <a:ln w="12700">
            <a:solidFill>
              <a:srgbClr val="7B2D8B"/>
            </a:solidFill>
            <a:prstDash val="solid"/>
          </a:ln>
        </p:spPr>
      </p:sp>
      <p:sp>
        <p:nvSpPr>
          <p:cNvPr id="14" name="Text 12"/>
          <p:cNvSpPr/>
          <p:nvPr/>
        </p:nvSpPr>
        <p:spPr>
          <a:xfrm>
            <a:off x="1426875" y="2273988"/>
            <a:ext cx="5137700" cy="182880"/>
          </a:xfrm>
          <a:prstGeom prst="rect">
            <a:avLst/>
          </a:prstGeom>
          <a:noFill/>
          <a:ln/>
        </p:spPr>
        <p:txBody>
          <a:bodyPr wrap="square" lIns="0" tIns="0" rIns="0" bIns="0" rtlCol="0" anchor="ctr"/>
          <a:lstStyle/>
          <a:p>
            <a:pPr marL="0" indent="0">
              <a:buNone/>
            </a:pPr>
            <a:r>
              <a:rPr lang="en-US" sz="1200" b="1" dirty="0" smtClean="0">
                <a:solidFill>
                  <a:srgbClr val="0B2545"/>
                </a:solidFill>
              </a:rPr>
              <a:t>Signal: </a:t>
            </a:r>
            <a:r>
              <a:rPr lang="en-US" sz="1100" dirty="0" smtClean="0">
                <a:solidFill>
                  <a:srgbClr val="0B2545"/>
                </a:solidFill>
              </a:rPr>
              <a:t>Yellow for 3 s, Green 10 s, Red as per the adaptive requirement.</a:t>
            </a:r>
            <a:endParaRPr lang="en-US" sz="1100" dirty="0"/>
          </a:p>
        </p:txBody>
      </p:sp>
      <p:sp>
        <p:nvSpPr>
          <p:cNvPr id="15" name="Text 13"/>
          <p:cNvSpPr/>
          <p:nvPr/>
        </p:nvSpPr>
        <p:spPr>
          <a:xfrm>
            <a:off x="1426875" y="2383716"/>
            <a:ext cx="3657600" cy="201168"/>
          </a:xfrm>
          <a:prstGeom prst="rect">
            <a:avLst/>
          </a:prstGeom>
          <a:noFill/>
          <a:ln/>
        </p:spPr>
        <p:txBody>
          <a:bodyPr wrap="square" lIns="0" tIns="0" rIns="0" bIns="0" rtlCol="0" anchor="ctr"/>
          <a:lstStyle/>
          <a:p>
            <a:pPr marL="0" indent="0">
              <a:buNone/>
            </a:pPr>
            <a:endParaRPr lang="en-US" sz="950" dirty="0"/>
          </a:p>
        </p:txBody>
      </p:sp>
      <p:sp>
        <p:nvSpPr>
          <p:cNvPr id="16" name="Shape 14"/>
          <p:cNvSpPr/>
          <p:nvPr/>
        </p:nvSpPr>
        <p:spPr>
          <a:xfrm>
            <a:off x="1289715" y="2758620"/>
            <a:ext cx="54864" cy="411480"/>
          </a:xfrm>
          <a:prstGeom prst="rect">
            <a:avLst/>
          </a:prstGeom>
          <a:solidFill>
            <a:srgbClr val="7B2D8B"/>
          </a:solidFill>
          <a:ln w="12700">
            <a:solidFill>
              <a:srgbClr val="7B2D8B"/>
            </a:solidFill>
            <a:prstDash val="solid"/>
          </a:ln>
        </p:spPr>
      </p:sp>
      <p:sp>
        <p:nvSpPr>
          <p:cNvPr id="17" name="Text 15"/>
          <p:cNvSpPr/>
          <p:nvPr/>
        </p:nvSpPr>
        <p:spPr>
          <a:xfrm>
            <a:off x="1436906" y="3039424"/>
            <a:ext cx="6393294" cy="421079"/>
          </a:xfrm>
          <a:prstGeom prst="rect">
            <a:avLst/>
          </a:prstGeom>
          <a:noFill/>
          <a:ln/>
        </p:spPr>
        <p:txBody>
          <a:bodyPr wrap="square" lIns="0" tIns="0" rIns="0" bIns="0" rtlCol="0" anchor="ctr"/>
          <a:lstStyle/>
          <a:p>
            <a:pPr marL="0" indent="0">
              <a:buNone/>
            </a:pPr>
            <a:r>
              <a:rPr lang="en-US" sz="1200" b="1" dirty="0" err="1" smtClean="0">
                <a:solidFill>
                  <a:srgbClr val="0B2545"/>
                </a:solidFill>
              </a:rPr>
              <a:t>Novelity</a:t>
            </a:r>
            <a:r>
              <a:rPr lang="en-US" sz="1200" b="1" dirty="0" smtClean="0">
                <a:solidFill>
                  <a:srgbClr val="0B2545"/>
                </a:solidFill>
              </a:rPr>
              <a:t>: </a:t>
            </a:r>
            <a:r>
              <a:rPr lang="en-US" sz="1100" dirty="0" smtClean="0">
                <a:solidFill>
                  <a:srgbClr val="0B2545"/>
                </a:solidFill>
              </a:rPr>
              <a:t>GCN + MAPPO.</a:t>
            </a:r>
          </a:p>
          <a:p>
            <a:pPr marL="0" indent="0">
              <a:buNone/>
            </a:pPr>
            <a:endParaRPr lang="en-US" sz="1200" b="1" dirty="0">
              <a:solidFill>
                <a:srgbClr val="0B2545"/>
              </a:solidFill>
            </a:endParaRPr>
          </a:p>
          <a:p>
            <a:pPr marL="0" indent="0">
              <a:buNone/>
            </a:pPr>
            <a:endParaRPr lang="en-US" sz="1200" b="1" dirty="0" smtClean="0">
              <a:solidFill>
                <a:srgbClr val="0B2545"/>
              </a:solidFill>
            </a:endParaRPr>
          </a:p>
          <a:p>
            <a:r>
              <a:rPr lang="en-US" sz="1200" b="1" dirty="0" smtClean="0">
                <a:solidFill>
                  <a:srgbClr val="0B2545"/>
                </a:solidFill>
              </a:rPr>
              <a:t>Usefulness: </a:t>
            </a:r>
            <a:r>
              <a:rPr lang="en-US" sz="1100" dirty="0" smtClean="0">
                <a:solidFill>
                  <a:srgbClr val="0B2545"/>
                </a:solidFill>
              </a:rPr>
              <a:t>Cooperative Adaptive TSC, </a:t>
            </a:r>
            <a:r>
              <a:rPr lang="en-US" sz="1100" dirty="0"/>
              <a:t>density-based curriculum training, in SUMO, achieving progressive reward </a:t>
            </a:r>
            <a:r>
              <a:rPr lang="en-US" sz="1100" dirty="0" smtClean="0"/>
              <a:t>convergence.</a:t>
            </a:r>
            <a:endParaRPr lang="en-US" sz="1100" dirty="0"/>
          </a:p>
        </p:txBody>
      </p:sp>
      <p:sp>
        <p:nvSpPr>
          <p:cNvPr id="18" name="Text 16"/>
          <p:cNvSpPr/>
          <p:nvPr/>
        </p:nvSpPr>
        <p:spPr>
          <a:xfrm>
            <a:off x="1426875" y="2959788"/>
            <a:ext cx="3657600" cy="201168"/>
          </a:xfrm>
          <a:prstGeom prst="rect">
            <a:avLst/>
          </a:prstGeom>
          <a:noFill/>
          <a:ln/>
        </p:spPr>
        <p:txBody>
          <a:bodyPr wrap="square" lIns="0" tIns="0" rIns="0" bIns="0" rtlCol="0" anchor="ctr"/>
          <a:lstStyle/>
          <a:p>
            <a:pPr marL="0" indent="0">
              <a:buNone/>
            </a:pPr>
            <a:endParaRPr lang="en-US" sz="950" dirty="0"/>
          </a:p>
        </p:txBody>
      </p:sp>
      <p:sp>
        <p:nvSpPr>
          <p:cNvPr id="19" name="Shape 17"/>
          <p:cNvSpPr/>
          <p:nvPr/>
        </p:nvSpPr>
        <p:spPr>
          <a:xfrm>
            <a:off x="1289715" y="3334692"/>
            <a:ext cx="54864" cy="411480"/>
          </a:xfrm>
          <a:prstGeom prst="rect">
            <a:avLst/>
          </a:prstGeom>
          <a:solidFill>
            <a:srgbClr val="7B2D8B"/>
          </a:solidFill>
          <a:ln w="12700">
            <a:solidFill>
              <a:srgbClr val="7B2D8B"/>
            </a:solidFill>
            <a:prstDash val="solid"/>
          </a:ln>
        </p:spPr>
      </p:sp>
      <p:sp>
        <p:nvSpPr>
          <p:cNvPr id="20" name="Text 18"/>
          <p:cNvSpPr/>
          <p:nvPr/>
        </p:nvSpPr>
        <p:spPr>
          <a:xfrm>
            <a:off x="1426875" y="3916360"/>
            <a:ext cx="6632812" cy="319312"/>
          </a:xfrm>
          <a:prstGeom prst="rect">
            <a:avLst/>
          </a:prstGeom>
          <a:noFill/>
          <a:ln/>
        </p:spPr>
        <p:txBody>
          <a:bodyPr wrap="square" lIns="0" tIns="0" rIns="0" bIns="0" rtlCol="0" anchor="ctr"/>
          <a:lstStyle/>
          <a:p>
            <a:r>
              <a:rPr lang="en-US" sz="1200" b="1" dirty="0" smtClean="0">
                <a:solidFill>
                  <a:srgbClr val="0B2545"/>
                </a:solidFill>
              </a:rPr>
              <a:t>Strengths: </a:t>
            </a:r>
            <a:r>
              <a:rPr lang="en-US" sz="1100" dirty="0"/>
              <a:t>Graph-aware spatial </a:t>
            </a:r>
            <a:r>
              <a:rPr lang="en-US" sz="1100" dirty="0" smtClean="0"/>
              <a:t>reasoning</a:t>
            </a:r>
            <a:r>
              <a:rPr lang="en-US" sz="1100" dirty="0"/>
              <a:t>, Curriculum generalization, Simulation fidelity, Decentralized </a:t>
            </a:r>
            <a:r>
              <a:rPr lang="en-US" sz="1100" dirty="0" smtClean="0"/>
              <a:t>execution.</a:t>
            </a:r>
            <a:endParaRPr lang="en-US" sz="1100" dirty="0"/>
          </a:p>
        </p:txBody>
      </p:sp>
      <p:sp>
        <p:nvSpPr>
          <p:cNvPr id="21" name="Text 19"/>
          <p:cNvSpPr/>
          <p:nvPr/>
        </p:nvSpPr>
        <p:spPr>
          <a:xfrm>
            <a:off x="1426875" y="3535860"/>
            <a:ext cx="3657600" cy="201168"/>
          </a:xfrm>
          <a:prstGeom prst="rect">
            <a:avLst/>
          </a:prstGeom>
          <a:noFill/>
          <a:ln/>
        </p:spPr>
        <p:txBody>
          <a:bodyPr wrap="square" lIns="0" tIns="0" rIns="0" bIns="0" rtlCol="0" anchor="ctr"/>
          <a:lstStyle/>
          <a:p>
            <a:pPr marL="0" indent="0">
              <a:buNone/>
            </a:pPr>
            <a:endParaRPr lang="en-US" sz="950" dirty="0"/>
          </a:p>
        </p:txBody>
      </p:sp>
      <p:sp>
        <p:nvSpPr>
          <p:cNvPr id="22" name="Shape 20"/>
          <p:cNvSpPr/>
          <p:nvPr/>
        </p:nvSpPr>
        <p:spPr>
          <a:xfrm>
            <a:off x="1289715" y="3910764"/>
            <a:ext cx="54864" cy="411480"/>
          </a:xfrm>
          <a:prstGeom prst="rect">
            <a:avLst/>
          </a:prstGeom>
          <a:solidFill>
            <a:srgbClr val="7B2D8B"/>
          </a:solidFill>
          <a:ln w="12700">
            <a:solidFill>
              <a:srgbClr val="7B2D8B"/>
            </a:solidFill>
            <a:prstDash val="solid"/>
          </a:ln>
        </p:spPr>
      </p:sp>
      <p:sp>
        <p:nvSpPr>
          <p:cNvPr id="23" name="Text 21"/>
          <p:cNvSpPr/>
          <p:nvPr/>
        </p:nvSpPr>
        <p:spPr>
          <a:xfrm>
            <a:off x="1426875" y="3919908"/>
            <a:ext cx="3657600" cy="182880"/>
          </a:xfrm>
          <a:prstGeom prst="rect">
            <a:avLst/>
          </a:prstGeom>
          <a:noFill/>
          <a:ln/>
        </p:spPr>
        <p:txBody>
          <a:bodyPr wrap="square" lIns="0" tIns="0" rIns="0" bIns="0" rtlCol="0" anchor="ctr"/>
          <a:lstStyle/>
          <a:p>
            <a:pPr marL="0" indent="0">
              <a:buNone/>
            </a:pPr>
            <a:endParaRPr lang="en-US" sz="1100" dirty="0"/>
          </a:p>
        </p:txBody>
      </p:sp>
      <p:sp>
        <p:nvSpPr>
          <p:cNvPr id="24" name="Text 22"/>
          <p:cNvSpPr/>
          <p:nvPr/>
        </p:nvSpPr>
        <p:spPr>
          <a:xfrm>
            <a:off x="1426875" y="4111932"/>
            <a:ext cx="3657600" cy="201168"/>
          </a:xfrm>
          <a:prstGeom prst="rect">
            <a:avLst/>
          </a:prstGeom>
          <a:noFill/>
          <a:ln/>
        </p:spPr>
        <p:txBody>
          <a:bodyPr wrap="square" lIns="0" tIns="0" rIns="0" bIns="0" rtlCol="0" anchor="ctr"/>
          <a:lstStyle/>
          <a:p>
            <a:pPr marL="0" indent="0">
              <a:buNone/>
            </a:pPr>
            <a:endParaRPr lang="en-US" sz="950" dirty="0"/>
          </a:p>
        </p:txBody>
      </p:sp>
      <p:sp>
        <p:nvSpPr>
          <p:cNvPr id="30" name="Text 18"/>
          <p:cNvSpPr/>
          <p:nvPr/>
        </p:nvSpPr>
        <p:spPr>
          <a:xfrm>
            <a:off x="1426875" y="4235672"/>
            <a:ext cx="3657600" cy="182880"/>
          </a:xfrm>
          <a:prstGeom prst="rect">
            <a:avLst/>
          </a:prstGeom>
          <a:noFill/>
          <a:ln/>
        </p:spPr>
        <p:txBody>
          <a:bodyPr wrap="square" lIns="0" tIns="0" rIns="0" bIns="0" rtlCol="0" anchor="ctr"/>
          <a:lstStyle/>
          <a:p>
            <a:endParaRPr lang="en-US" sz="11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52734"/>
          </a:xfrm>
          <a:prstGeom prst="rect">
            <a:avLst/>
          </a:prstGeom>
          <a:solidFill>
            <a:srgbClr val="0B2545"/>
          </a:solidFill>
          <a:ln w="12700">
            <a:solidFill>
              <a:srgbClr val="0B2545"/>
            </a:solidFill>
            <a:prstDash val="solid"/>
          </a:ln>
        </p:spPr>
      </p:sp>
      <p:sp>
        <p:nvSpPr>
          <p:cNvPr id="3" name="Text 1"/>
          <p:cNvSpPr/>
          <p:nvPr/>
        </p:nvSpPr>
        <p:spPr>
          <a:xfrm>
            <a:off x="74378" y="0"/>
            <a:ext cx="8703862" cy="658368"/>
          </a:xfrm>
          <a:prstGeom prst="rect">
            <a:avLst/>
          </a:prstGeom>
          <a:noFill/>
          <a:ln/>
        </p:spPr>
        <p:txBody>
          <a:bodyPr wrap="square" rtlCol="0" anchor="ctr"/>
          <a:lstStyle/>
          <a:p>
            <a:pPr marL="0" indent="0">
              <a:buNone/>
            </a:pPr>
            <a:r>
              <a:rPr lang="en-US" sz="1600" b="1" kern="0" spc="200" dirty="0">
                <a:solidFill>
                  <a:srgbClr val="0ACDAB"/>
                </a:solidFill>
              </a:rPr>
              <a:t>SYSTEM OVERVIEW  </a:t>
            </a:r>
            <a:endParaRPr lang="en-US" sz="1600" dirty="0"/>
          </a:p>
        </p:txBody>
      </p:sp>
      <p:graphicFrame>
        <p:nvGraphicFramePr>
          <p:cNvPr id="63" name="Table 62"/>
          <p:cNvGraphicFramePr>
            <a:graphicFrameLocks noGrp="1"/>
          </p:cNvGraphicFramePr>
          <p:nvPr>
            <p:extLst>
              <p:ext uri="{D42A27DB-BD31-4B8C-83A1-F6EECF244321}">
                <p14:modId xmlns:p14="http://schemas.microsoft.com/office/powerpoint/2010/main" val="4123562537"/>
              </p:ext>
            </p:extLst>
          </p:nvPr>
        </p:nvGraphicFramePr>
        <p:xfrm>
          <a:off x="162405" y="1062530"/>
          <a:ext cx="3016840" cy="1610142"/>
        </p:xfrm>
        <a:graphic>
          <a:graphicData uri="http://schemas.openxmlformats.org/drawingml/2006/table">
            <a:tbl>
              <a:tblPr firstRow="1" firstCol="1" bandRow="1">
                <a:tableStyleId>{5C22544A-7EE6-4342-B048-85BDC9FD1C3A}</a:tableStyleId>
              </a:tblPr>
              <a:tblGrid>
                <a:gridCol w="1088009"/>
                <a:gridCol w="1928831"/>
              </a:tblGrid>
              <a:tr h="178905">
                <a:tc>
                  <a:txBody>
                    <a:bodyPr/>
                    <a:lstStyle/>
                    <a:p>
                      <a:pPr algn="ctr">
                        <a:lnSpc>
                          <a:spcPct val="107000"/>
                        </a:lnSpc>
                        <a:spcAft>
                          <a:spcPts val="0"/>
                        </a:spcAft>
                      </a:pPr>
                      <a:r>
                        <a:rPr lang="en-US" sz="1000" dirty="0">
                          <a:effectLst/>
                        </a:rPr>
                        <a:t>Parameter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000" dirty="0">
                          <a:effectLst/>
                        </a:rPr>
                        <a:t>Value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78905">
                <a:tc>
                  <a:txBody>
                    <a:bodyPr/>
                    <a:lstStyle/>
                    <a:p>
                      <a:pPr>
                        <a:lnSpc>
                          <a:spcPct val="107000"/>
                        </a:lnSpc>
                        <a:spcAft>
                          <a:spcPts val="0"/>
                        </a:spcAft>
                      </a:pPr>
                      <a:r>
                        <a:rPr lang="en-US" sz="1000" dirty="0">
                          <a:effectLst/>
                        </a:rPr>
                        <a:t>Vehicle type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dirty="0">
                          <a:effectLst/>
                        </a:rPr>
                        <a:t>LTV, HTV, Motorbikes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57809">
                <a:tc>
                  <a:txBody>
                    <a:bodyPr/>
                    <a:lstStyle/>
                    <a:p>
                      <a:pPr>
                        <a:lnSpc>
                          <a:spcPct val="107000"/>
                        </a:lnSpc>
                        <a:spcAft>
                          <a:spcPts val="0"/>
                        </a:spcAft>
                      </a:pPr>
                      <a:r>
                        <a:rPr lang="en-US" sz="1000" dirty="0">
                          <a:effectLst/>
                        </a:rPr>
                        <a:t>Vehicle size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dirty="0">
                          <a:effectLst/>
                        </a:rPr>
                        <a:t>5 m (LTV), 13 m (HTV), 2.2 m (motorbikes)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57809">
                <a:tc>
                  <a:txBody>
                    <a:bodyPr/>
                    <a:lstStyle/>
                    <a:p>
                      <a:pPr>
                        <a:lnSpc>
                          <a:spcPct val="107000"/>
                        </a:lnSpc>
                        <a:spcAft>
                          <a:spcPts val="0"/>
                        </a:spcAft>
                      </a:pPr>
                      <a:r>
                        <a:rPr lang="en-US" sz="1000">
                          <a:effectLst/>
                        </a:rPr>
                        <a:t>Vehicle min gap</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a:effectLst/>
                        </a:rPr>
                        <a:t>2.5 m, 3.0 m, 1.5 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36714">
                <a:tc>
                  <a:txBody>
                    <a:bodyPr/>
                    <a:lstStyle/>
                    <a:p>
                      <a:pPr>
                        <a:lnSpc>
                          <a:spcPct val="107000"/>
                        </a:lnSpc>
                        <a:spcAft>
                          <a:spcPts val="0"/>
                        </a:spcAft>
                      </a:pPr>
                      <a:r>
                        <a:rPr lang="en-US" sz="1000" dirty="0" smtClean="0">
                          <a:effectLst/>
                        </a:rPr>
                        <a:t>Speed on</a:t>
                      </a:r>
                      <a:r>
                        <a:rPr lang="en-US" sz="1000" baseline="0" dirty="0" smtClean="0">
                          <a:effectLst/>
                        </a:rPr>
                        <a:t> Streets &amp; Avenues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dirty="0">
                          <a:effectLst/>
                        </a:rPr>
                        <a:t>13.9 m/s (50 km/h</a:t>
                      </a:r>
                      <a:r>
                        <a:rPr lang="en-US" sz="1000" dirty="0" smtClean="0">
                          <a:effectLst/>
                        </a:rPr>
                        <a:t>)</a:t>
                      </a:r>
                    </a:p>
                    <a:p>
                      <a:pPr>
                        <a:lnSpc>
                          <a:spcPct val="107000"/>
                        </a:lnSpc>
                        <a:spcAft>
                          <a:spcPts val="0"/>
                        </a:spcAft>
                      </a:pPr>
                      <a:endParaRPr lang="en-US" sz="10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US" sz="1000" dirty="0" smtClean="0">
                          <a:effectLst/>
                          <a:latin typeface="Calibri" panose="020F0502020204030204" pitchFamily="34" charset="0"/>
                          <a:ea typeface="Calibri" panose="020F0502020204030204" pitchFamily="34" charset="0"/>
                          <a:cs typeface="Times New Roman" panose="02020603050405020304" pitchFamily="18" charset="0"/>
                        </a:rPr>
                        <a:t>16.8 m/s (60.48 km/h)</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graphicFrame>
        <p:nvGraphicFramePr>
          <p:cNvPr id="64" name="Table 63"/>
          <p:cNvGraphicFramePr>
            <a:graphicFrameLocks noGrp="1"/>
          </p:cNvGraphicFramePr>
          <p:nvPr>
            <p:extLst>
              <p:ext uri="{D42A27DB-BD31-4B8C-83A1-F6EECF244321}">
                <p14:modId xmlns:p14="http://schemas.microsoft.com/office/powerpoint/2010/main" val="1419515552"/>
              </p:ext>
            </p:extLst>
          </p:nvPr>
        </p:nvGraphicFramePr>
        <p:xfrm>
          <a:off x="6757852" y="929110"/>
          <a:ext cx="2168468" cy="1286439"/>
        </p:xfrm>
        <a:graphic>
          <a:graphicData uri="http://schemas.openxmlformats.org/drawingml/2006/table">
            <a:tbl>
              <a:tblPr firstRow="1" firstCol="1" bandRow="1">
                <a:tableStyleId>{5C22544A-7EE6-4342-B048-85BDC9FD1C3A}</a:tableStyleId>
              </a:tblPr>
              <a:tblGrid>
                <a:gridCol w="468637"/>
                <a:gridCol w="615597"/>
                <a:gridCol w="542117"/>
                <a:gridCol w="542117"/>
              </a:tblGrid>
              <a:tr h="297243">
                <a:tc>
                  <a:txBody>
                    <a:bodyPr/>
                    <a:lstStyle/>
                    <a:p>
                      <a:pPr algn="ctr">
                        <a:lnSpc>
                          <a:spcPct val="107000"/>
                        </a:lnSpc>
                        <a:spcAft>
                          <a:spcPts val="0"/>
                        </a:spcAft>
                      </a:pPr>
                      <a:r>
                        <a:rPr lang="en-US" sz="1000" dirty="0" smtClean="0">
                          <a:effectLst/>
                        </a:rPr>
                        <a:t>Direct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000" dirty="0">
                          <a:effectLst/>
                        </a:rPr>
                        <a:t>Straight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000" dirty="0">
                          <a:effectLst/>
                        </a:rPr>
                        <a:t>Right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000">
                          <a:effectLst/>
                        </a:rPr>
                        <a:t>Left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47299">
                <a:tc>
                  <a:txBody>
                    <a:bodyPr/>
                    <a:lstStyle/>
                    <a:p>
                      <a:pPr>
                        <a:lnSpc>
                          <a:spcPct val="107000"/>
                        </a:lnSpc>
                        <a:spcAft>
                          <a:spcPts val="0"/>
                        </a:spcAft>
                      </a:pPr>
                      <a:r>
                        <a:rPr lang="en-US" sz="1000" dirty="0">
                          <a:effectLst/>
                        </a:rPr>
                        <a:t>North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dirty="0">
                          <a:effectLst/>
                        </a:rPr>
                        <a:t>65%</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dirty="0">
                          <a:effectLst/>
                        </a:rPr>
                        <a:t>20%</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a:effectLst/>
                        </a:rPr>
                        <a:t>15%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47299">
                <a:tc>
                  <a:txBody>
                    <a:bodyPr/>
                    <a:lstStyle/>
                    <a:p>
                      <a:pPr>
                        <a:lnSpc>
                          <a:spcPct val="107000"/>
                        </a:lnSpc>
                        <a:spcAft>
                          <a:spcPts val="0"/>
                        </a:spcAft>
                      </a:pPr>
                      <a:r>
                        <a:rPr lang="en-US" sz="1000" dirty="0">
                          <a:effectLst/>
                        </a:rPr>
                        <a:t>South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dirty="0">
                          <a:effectLst/>
                        </a:rPr>
                        <a:t>65%</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dirty="0">
                          <a:effectLst/>
                        </a:rPr>
                        <a:t>20%</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a:effectLst/>
                        </a:rPr>
                        <a:t>15%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47299">
                <a:tc>
                  <a:txBody>
                    <a:bodyPr/>
                    <a:lstStyle/>
                    <a:p>
                      <a:pPr>
                        <a:lnSpc>
                          <a:spcPct val="107000"/>
                        </a:lnSpc>
                        <a:spcAft>
                          <a:spcPts val="0"/>
                        </a:spcAft>
                      </a:pPr>
                      <a:r>
                        <a:rPr lang="en-US" sz="1000" dirty="0">
                          <a:effectLst/>
                        </a:rPr>
                        <a:t>East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a:effectLst/>
                        </a:rPr>
                        <a:t>65%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a:effectLst/>
                        </a:rPr>
                        <a:t>15%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47299">
                <a:tc>
                  <a:txBody>
                    <a:bodyPr/>
                    <a:lstStyle/>
                    <a:p>
                      <a:pPr>
                        <a:lnSpc>
                          <a:spcPct val="107000"/>
                        </a:lnSpc>
                        <a:spcAft>
                          <a:spcPts val="0"/>
                        </a:spcAft>
                      </a:pPr>
                      <a:r>
                        <a:rPr lang="en-US" sz="1000" dirty="0">
                          <a:effectLst/>
                        </a:rPr>
                        <a:t>West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a:effectLst/>
                        </a:rPr>
                        <a:t>65%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dirty="0">
                          <a:effectLst/>
                        </a:rPr>
                        <a:t>20%</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dirty="0">
                          <a:effectLst/>
                        </a:rPr>
                        <a:t>15%</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
        <p:nvSpPr>
          <p:cNvPr id="74" name="Text 2"/>
          <p:cNvSpPr/>
          <p:nvPr/>
        </p:nvSpPr>
        <p:spPr>
          <a:xfrm>
            <a:off x="74378" y="712761"/>
            <a:ext cx="1925016" cy="411480"/>
          </a:xfrm>
          <a:prstGeom prst="rect">
            <a:avLst/>
          </a:prstGeom>
          <a:noFill/>
          <a:ln/>
        </p:spPr>
        <p:txBody>
          <a:bodyPr wrap="square" lIns="0" tIns="0" rIns="0" bIns="0" rtlCol="0" anchor="ctr"/>
          <a:lstStyle/>
          <a:p>
            <a:pPr marL="0" indent="0">
              <a:buNone/>
            </a:pPr>
            <a:r>
              <a:rPr lang="en-US" sz="1400" b="1" dirty="0" smtClean="0">
                <a:solidFill>
                  <a:srgbClr val="0B2545"/>
                </a:solidFill>
              </a:rPr>
              <a:t>Vehicles Information</a:t>
            </a:r>
            <a:endParaRPr lang="en-US" sz="1400" dirty="0"/>
          </a:p>
        </p:txBody>
      </p:sp>
      <p:sp>
        <p:nvSpPr>
          <p:cNvPr id="76" name="Text 2"/>
          <p:cNvSpPr/>
          <p:nvPr/>
        </p:nvSpPr>
        <p:spPr>
          <a:xfrm>
            <a:off x="74378" y="3076834"/>
            <a:ext cx="3044134" cy="411480"/>
          </a:xfrm>
          <a:prstGeom prst="rect">
            <a:avLst/>
          </a:prstGeom>
          <a:noFill/>
          <a:ln/>
        </p:spPr>
        <p:txBody>
          <a:bodyPr wrap="square" lIns="0" tIns="0" rIns="0" bIns="0" rtlCol="0" anchor="ctr"/>
          <a:lstStyle/>
          <a:p>
            <a:r>
              <a:rPr lang="en-US" sz="1400" b="1" dirty="0">
                <a:solidFill>
                  <a:srgbClr val="0B2545"/>
                </a:solidFill>
              </a:rPr>
              <a:t>Vehicle Density Distribution For Training</a:t>
            </a:r>
            <a:endParaRPr lang="en-US" sz="1400" dirty="0"/>
          </a:p>
        </p:txBody>
      </p:sp>
      <p:graphicFrame>
        <p:nvGraphicFramePr>
          <p:cNvPr id="22" name="Table 21"/>
          <p:cNvGraphicFramePr>
            <a:graphicFrameLocks noGrp="1"/>
          </p:cNvGraphicFramePr>
          <p:nvPr>
            <p:extLst>
              <p:ext uri="{D42A27DB-BD31-4B8C-83A1-F6EECF244321}">
                <p14:modId xmlns:p14="http://schemas.microsoft.com/office/powerpoint/2010/main" val="849977473"/>
              </p:ext>
            </p:extLst>
          </p:nvPr>
        </p:nvGraphicFramePr>
        <p:xfrm>
          <a:off x="3848668" y="2497538"/>
          <a:ext cx="5295331" cy="2642558"/>
        </p:xfrm>
        <a:graphic>
          <a:graphicData uri="http://schemas.openxmlformats.org/drawingml/2006/table">
            <a:tbl>
              <a:tblPr firstRow="1" firstCol="1" bandRow="1">
                <a:tableStyleId>{5C22544A-7EE6-4342-B048-85BDC9FD1C3A}</a:tableStyleId>
              </a:tblPr>
              <a:tblGrid>
                <a:gridCol w="1245960"/>
                <a:gridCol w="4049371"/>
              </a:tblGrid>
              <a:tr h="291487">
                <a:tc>
                  <a:txBody>
                    <a:bodyPr/>
                    <a:lstStyle/>
                    <a:p>
                      <a:pPr algn="ctr">
                        <a:lnSpc>
                          <a:spcPct val="107000"/>
                        </a:lnSpc>
                        <a:spcAft>
                          <a:spcPts val="0"/>
                        </a:spcAft>
                      </a:pPr>
                      <a:r>
                        <a:rPr lang="en-US" sz="1000" dirty="0">
                          <a:effectLst/>
                        </a:rPr>
                        <a:t>Parameter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c>
                  <a:txBody>
                    <a:bodyPr/>
                    <a:lstStyle/>
                    <a:p>
                      <a:pPr algn="ctr">
                        <a:lnSpc>
                          <a:spcPct val="107000"/>
                        </a:lnSpc>
                        <a:spcAft>
                          <a:spcPts val="0"/>
                        </a:spcAft>
                      </a:pPr>
                      <a:r>
                        <a:rPr lang="en-US" sz="1000" dirty="0">
                          <a:effectLst/>
                        </a:rPr>
                        <a:t>Value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r>
              <a:tr h="184048">
                <a:tc>
                  <a:txBody>
                    <a:bodyPr/>
                    <a:lstStyle/>
                    <a:p>
                      <a:pPr algn="l">
                        <a:lnSpc>
                          <a:spcPct val="107000"/>
                        </a:lnSpc>
                        <a:spcAft>
                          <a:spcPts val="0"/>
                        </a:spcAft>
                      </a:pPr>
                      <a:r>
                        <a:rPr lang="en-US" sz="1000">
                          <a:effectLst/>
                        </a:rPr>
                        <a:t>Grid size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c>
                  <a:txBody>
                    <a:bodyPr/>
                    <a:lstStyle/>
                    <a:p>
                      <a:pPr algn="l">
                        <a:lnSpc>
                          <a:spcPct val="107000"/>
                        </a:lnSpc>
                        <a:spcAft>
                          <a:spcPts val="0"/>
                        </a:spcAft>
                      </a:pPr>
                      <a:r>
                        <a:rPr lang="en-US" sz="1000">
                          <a:effectLst/>
                        </a:rPr>
                        <a:t>4 × 4 intersections   Total 16 junctions (16-Nodes &amp; - Edges)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r>
              <a:tr h="343496">
                <a:tc>
                  <a:txBody>
                    <a:bodyPr/>
                    <a:lstStyle/>
                    <a:p>
                      <a:pPr algn="l">
                        <a:lnSpc>
                          <a:spcPct val="107000"/>
                        </a:lnSpc>
                        <a:spcAft>
                          <a:spcPts val="0"/>
                        </a:spcAft>
                      </a:pPr>
                      <a:r>
                        <a:rPr lang="en-US" sz="1000" dirty="0">
                          <a:effectLst/>
                        </a:rPr>
                        <a:t>Lane width</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c>
                  <a:txBody>
                    <a:bodyPr/>
                    <a:lstStyle/>
                    <a:p>
                      <a:pPr algn="l">
                        <a:lnSpc>
                          <a:spcPct val="107000"/>
                        </a:lnSpc>
                        <a:spcAft>
                          <a:spcPts val="0"/>
                        </a:spcAft>
                      </a:pPr>
                      <a:r>
                        <a:rPr lang="en-US" sz="1000" dirty="0">
                          <a:effectLst/>
                        </a:rPr>
                        <a:t>For One direction bound 3.2</a:t>
                      </a:r>
                    </a:p>
                    <a:p>
                      <a:pPr algn="l">
                        <a:lnSpc>
                          <a:spcPct val="107000"/>
                        </a:lnSpc>
                        <a:spcAft>
                          <a:spcPts val="0"/>
                        </a:spcAft>
                      </a:pPr>
                      <a:r>
                        <a:rPr lang="en-US" sz="1000" dirty="0">
                          <a:effectLst/>
                        </a:rPr>
                        <a:t>For </a:t>
                      </a:r>
                      <a:r>
                        <a:rPr lang="en-US" sz="1000" dirty="0" smtClean="0">
                          <a:effectLst/>
                        </a:rPr>
                        <a:t>Avenues/Dual-Carriage Way </a:t>
                      </a:r>
                      <a:r>
                        <a:rPr lang="en-US" sz="1000" dirty="0">
                          <a:effectLst/>
                        </a:rPr>
                        <a:t>3.5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r>
              <a:tr h="184048">
                <a:tc>
                  <a:txBody>
                    <a:bodyPr/>
                    <a:lstStyle/>
                    <a:p>
                      <a:pPr algn="l">
                        <a:lnSpc>
                          <a:spcPct val="107000"/>
                        </a:lnSpc>
                        <a:spcAft>
                          <a:spcPts val="0"/>
                        </a:spcAft>
                      </a:pPr>
                      <a:r>
                        <a:rPr lang="en-US" sz="1000">
                          <a:effectLst/>
                        </a:rPr>
                        <a:t>Edge width</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c>
                  <a:txBody>
                    <a:bodyPr/>
                    <a:lstStyle/>
                    <a:p>
                      <a:pPr algn="l">
                        <a:lnSpc>
                          <a:spcPct val="107000"/>
                        </a:lnSpc>
                        <a:spcAft>
                          <a:spcPts val="0"/>
                        </a:spcAft>
                      </a:pPr>
                      <a:r>
                        <a:rPr lang="en-US" sz="1000">
                          <a:effectLst/>
                        </a:rPr>
                        <a:t>7.0 m per direction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r>
              <a:tr h="392652">
                <a:tc>
                  <a:txBody>
                    <a:bodyPr/>
                    <a:lstStyle/>
                    <a:p>
                      <a:pPr algn="l">
                        <a:lnSpc>
                          <a:spcPct val="107000"/>
                        </a:lnSpc>
                        <a:spcAft>
                          <a:spcPts val="0"/>
                        </a:spcAft>
                      </a:pPr>
                      <a:r>
                        <a:rPr lang="en-US" sz="1000" dirty="0">
                          <a:effectLst/>
                        </a:rPr>
                        <a:t>Spacing between intersections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c>
                  <a:txBody>
                    <a:bodyPr/>
                    <a:lstStyle/>
                    <a:p>
                      <a:pPr algn="l">
                        <a:lnSpc>
                          <a:spcPct val="107000"/>
                        </a:lnSpc>
                        <a:spcAft>
                          <a:spcPts val="0"/>
                        </a:spcAft>
                      </a:pPr>
                      <a:r>
                        <a:rPr lang="en-US" sz="1000" dirty="0">
                          <a:effectLst/>
                        </a:rPr>
                        <a:t>300 m across Vertical</a:t>
                      </a:r>
                    </a:p>
                    <a:p>
                      <a:pPr algn="l">
                        <a:lnSpc>
                          <a:spcPct val="107000"/>
                        </a:lnSpc>
                        <a:spcAft>
                          <a:spcPts val="0"/>
                        </a:spcAft>
                      </a:pPr>
                      <a:r>
                        <a:rPr lang="en-US" sz="1000" dirty="0">
                          <a:effectLst/>
                        </a:rPr>
                        <a:t>500 m across Horizontal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r>
              <a:tr h="184048">
                <a:tc>
                  <a:txBody>
                    <a:bodyPr/>
                    <a:lstStyle/>
                    <a:p>
                      <a:pPr algn="l">
                        <a:lnSpc>
                          <a:spcPct val="107000"/>
                        </a:lnSpc>
                        <a:spcAft>
                          <a:spcPts val="0"/>
                        </a:spcAft>
                      </a:pPr>
                      <a:r>
                        <a:rPr lang="en-US" sz="1000">
                          <a:effectLst/>
                        </a:rPr>
                        <a:t>Road type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c>
                  <a:txBody>
                    <a:bodyPr/>
                    <a:lstStyle/>
                    <a:p>
                      <a:pPr algn="l">
                        <a:lnSpc>
                          <a:spcPct val="107000"/>
                        </a:lnSpc>
                        <a:spcAft>
                          <a:spcPts val="0"/>
                        </a:spcAft>
                      </a:pPr>
                      <a:r>
                        <a:rPr lang="en-US" sz="1000">
                          <a:effectLst/>
                        </a:rPr>
                        <a:t>Urban multilane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r>
              <a:tr h="368097">
                <a:tc>
                  <a:txBody>
                    <a:bodyPr/>
                    <a:lstStyle/>
                    <a:p>
                      <a:pPr algn="l">
                        <a:lnSpc>
                          <a:spcPct val="107000"/>
                        </a:lnSpc>
                        <a:spcAft>
                          <a:spcPts val="0"/>
                        </a:spcAft>
                      </a:pPr>
                      <a:r>
                        <a:rPr lang="en-US" sz="1000">
                          <a:effectLst/>
                        </a:rPr>
                        <a:t>Lanes per direction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c>
                  <a:txBody>
                    <a:bodyPr/>
                    <a:lstStyle/>
                    <a:p>
                      <a:pPr algn="l">
                        <a:lnSpc>
                          <a:spcPct val="107000"/>
                        </a:lnSpc>
                        <a:spcAft>
                          <a:spcPts val="0"/>
                        </a:spcAft>
                      </a:pPr>
                      <a:r>
                        <a:rPr lang="en-US" sz="1000" dirty="0">
                          <a:effectLst/>
                        </a:rPr>
                        <a:t>2 lanes for Streets and 4 lanes for </a:t>
                      </a:r>
                      <a:r>
                        <a:rPr lang="en-US" sz="1000" dirty="0" smtClean="0">
                          <a:effectLst/>
                        </a:rPr>
                        <a:t>Dual-Carriage Way </a:t>
                      </a:r>
                      <a:r>
                        <a:rPr lang="en-US" sz="1000" dirty="0">
                          <a:effectLst/>
                        </a:rPr>
                        <a:t>&amp; 3 lanes for </a:t>
                      </a:r>
                      <a:r>
                        <a:rPr lang="en-US" sz="1000" dirty="0" smtClean="0">
                          <a:effectLst/>
                        </a:rPr>
                        <a:t>Avenues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r>
              <a:tr h="184048">
                <a:tc>
                  <a:txBody>
                    <a:bodyPr/>
                    <a:lstStyle/>
                    <a:p>
                      <a:pPr algn="l">
                        <a:lnSpc>
                          <a:spcPct val="107000"/>
                        </a:lnSpc>
                        <a:spcAft>
                          <a:spcPts val="0"/>
                        </a:spcAft>
                      </a:pPr>
                      <a:r>
                        <a:rPr lang="en-US" sz="1000">
                          <a:effectLst/>
                        </a:rPr>
                        <a:t>Directions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c>
                  <a:txBody>
                    <a:bodyPr/>
                    <a:lstStyle/>
                    <a:p>
                      <a:pPr algn="l">
                        <a:lnSpc>
                          <a:spcPct val="107000"/>
                        </a:lnSpc>
                        <a:spcAft>
                          <a:spcPts val="0"/>
                        </a:spcAft>
                      </a:pPr>
                      <a:r>
                        <a:rPr lang="en-US" sz="1000">
                          <a:effectLst/>
                        </a:rPr>
                        <a:t>4 (North, East, South, West)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r>
              <a:tr h="326586">
                <a:tc>
                  <a:txBody>
                    <a:bodyPr/>
                    <a:lstStyle/>
                    <a:p>
                      <a:pPr algn="l">
                        <a:lnSpc>
                          <a:spcPct val="107000"/>
                        </a:lnSpc>
                        <a:spcAft>
                          <a:spcPts val="0"/>
                        </a:spcAft>
                      </a:pPr>
                      <a:r>
                        <a:rPr lang="en-US" sz="1000">
                          <a:effectLst/>
                        </a:rPr>
                        <a:t>Avenues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c>
                  <a:txBody>
                    <a:bodyPr/>
                    <a:lstStyle/>
                    <a:p>
                      <a:pPr algn="l">
                        <a:lnSpc>
                          <a:spcPct val="107000"/>
                        </a:lnSpc>
                        <a:spcAft>
                          <a:spcPts val="0"/>
                        </a:spcAft>
                      </a:pPr>
                      <a:r>
                        <a:rPr lang="en-US" sz="1000">
                          <a:effectLst/>
                        </a:rPr>
                        <a:t>4 Avenues total including i.e. 6</a:t>
                      </a:r>
                      <a:r>
                        <a:rPr lang="en-US" sz="1000" baseline="30000">
                          <a:effectLst/>
                        </a:rPr>
                        <a:t>th</a:t>
                      </a:r>
                      <a:r>
                        <a:rPr lang="en-US" sz="1000">
                          <a:effectLst/>
                        </a:rPr>
                        <a:t> Ave, 7</a:t>
                      </a:r>
                      <a:r>
                        <a:rPr lang="en-US" sz="1000" baseline="30000">
                          <a:effectLst/>
                        </a:rPr>
                        <a:t>th</a:t>
                      </a:r>
                      <a:r>
                        <a:rPr lang="en-US" sz="1000">
                          <a:effectLst/>
                        </a:rPr>
                        <a:t> Ave, 8</a:t>
                      </a:r>
                      <a:r>
                        <a:rPr lang="en-US" sz="1000" baseline="30000">
                          <a:effectLst/>
                        </a:rPr>
                        <a:t>th</a:t>
                      </a:r>
                      <a:r>
                        <a:rPr lang="en-US" sz="1000">
                          <a:effectLst/>
                        </a:rPr>
                        <a:t> Ave, and 9</a:t>
                      </a:r>
                      <a:r>
                        <a:rPr lang="en-US" sz="1000" baseline="30000">
                          <a:effectLst/>
                        </a:rPr>
                        <a:t>th</a:t>
                      </a:r>
                      <a:r>
                        <a:rPr lang="en-US" sz="1000">
                          <a:effectLst/>
                        </a:rPr>
                        <a:t> Ave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r>
              <a:tr h="184048">
                <a:tc>
                  <a:txBody>
                    <a:bodyPr/>
                    <a:lstStyle/>
                    <a:p>
                      <a:pPr algn="l">
                        <a:lnSpc>
                          <a:spcPct val="107000"/>
                        </a:lnSpc>
                        <a:spcAft>
                          <a:spcPts val="0"/>
                        </a:spcAft>
                      </a:pPr>
                      <a:r>
                        <a:rPr lang="en-US" sz="1000">
                          <a:effectLst/>
                        </a:rPr>
                        <a:t>Streets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c>
                  <a:txBody>
                    <a:bodyPr/>
                    <a:lstStyle/>
                    <a:p>
                      <a:pPr algn="l">
                        <a:lnSpc>
                          <a:spcPct val="107000"/>
                        </a:lnSpc>
                        <a:spcAft>
                          <a:spcPts val="0"/>
                        </a:spcAft>
                      </a:pPr>
                      <a:r>
                        <a:rPr lang="en-US" sz="1000" dirty="0">
                          <a:effectLst/>
                        </a:rPr>
                        <a:t>41 St, 42 St, 43 St, 44 St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4642" marR="34642" marT="0" marB="0"/>
                </a:tc>
              </a:tr>
            </a:tbl>
          </a:graphicData>
        </a:graphic>
      </p:graphicFrame>
      <p:sp>
        <p:nvSpPr>
          <p:cNvPr id="28" name="Text 2"/>
          <p:cNvSpPr/>
          <p:nvPr/>
        </p:nvSpPr>
        <p:spPr>
          <a:xfrm>
            <a:off x="3794078" y="1924573"/>
            <a:ext cx="2963774" cy="411480"/>
          </a:xfrm>
          <a:prstGeom prst="rect">
            <a:avLst/>
          </a:prstGeom>
          <a:noFill/>
          <a:ln/>
        </p:spPr>
        <p:txBody>
          <a:bodyPr wrap="square" lIns="0" tIns="0" rIns="0" bIns="0" rtlCol="0" anchor="ctr"/>
          <a:lstStyle/>
          <a:p>
            <a:pPr marL="0" indent="0">
              <a:buNone/>
            </a:pPr>
            <a:r>
              <a:rPr lang="en-US" sz="1400" b="1" dirty="0" smtClean="0">
                <a:solidFill>
                  <a:srgbClr val="0B2545"/>
                </a:solidFill>
              </a:rPr>
              <a:t>Sumo Network Information</a:t>
            </a:r>
            <a:endParaRPr lang="en-US" sz="1400" dirty="0"/>
          </a:p>
        </p:txBody>
      </p:sp>
      <p:graphicFrame>
        <p:nvGraphicFramePr>
          <p:cNvPr id="35" name="Table 0"/>
          <p:cNvGraphicFramePr>
            <a:graphicFrameLocks noGrp="1"/>
          </p:cNvGraphicFramePr>
          <p:nvPr>
            <p:extLst>
              <p:ext uri="{D42A27DB-BD31-4B8C-83A1-F6EECF244321}">
                <p14:modId xmlns:p14="http://schemas.microsoft.com/office/powerpoint/2010/main" val="2127790032"/>
              </p:ext>
            </p:extLst>
          </p:nvPr>
        </p:nvGraphicFramePr>
        <p:xfrm>
          <a:off x="-344" y="3488314"/>
          <a:ext cx="2327287" cy="1632564"/>
        </p:xfrm>
        <a:graphic>
          <a:graphicData uri="http://schemas.openxmlformats.org/drawingml/2006/table">
            <a:tbl>
              <a:tblPr/>
              <a:tblGrid>
                <a:gridCol w="612443"/>
                <a:gridCol w="898251"/>
                <a:gridCol w="816593"/>
              </a:tblGrid>
              <a:tr h="408141">
                <a:tc>
                  <a:txBody>
                    <a:bodyPr/>
                    <a:lstStyle/>
                    <a:p>
                      <a:pPr marL="0" indent="0" algn="ctr">
                        <a:buNone/>
                      </a:pPr>
                      <a:r>
                        <a:rPr lang="en-US" sz="1000" b="0" dirty="0">
                          <a:solidFill>
                            <a:srgbClr val="FFFFFF"/>
                          </a:solidFill>
                          <a:latin typeface="Calibri" pitchFamily="34" charset="0"/>
                          <a:ea typeface="Calibri" pitchFamily="34" charset="-122"/>
                          <a:cs typeface="Calibri" pitchFamily="34" charset="-120"/>
                        </a:rPr>
                        <a:t>Stage</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75B6"/>
                    </a:solidFill>
                  </a:tcPr>
                </a:tc>
                <a:tc>
                  <a:txBody>
                    <a:bodyPr/>
                    <a:lstStyle/>
                    <a:p>
                      <a:pPr marL="0" indent="0" algn="ctr">
                        <a:buNone/>
                      </a:pPr>
                      <a:r>
                        <a:rPr lang="en-US" sz="1000" b="0" dirty="0">
                          <a:solidFill>
                            <a:srgbClr val="FFFFFF"/>
                          </a:solidFill>
                          <a:latin typeface="Calibri" pitchFamily="34" charset="0"/>
                          <a:ea typeface="Calibri" pitchFamily="34" charset="-122"/>
                          <a:cs typeface="Calibri" pitchFamily="34" charset="-120"/>
                        </a:rPr>
                        <a:t>Density</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75B6"/>
                    </a:solidFill>
                  </a:tcPr>
                </a:tc>
                <a:tc>
                  <a:txBody>
                    <a:bodyPr/>
                    <a:lstStyle/>
                    <a:p>
                      <a:pPr marL="0" indent="0" algn="ctr">
                        <a:buNone/>
                      </a:pPr>
                      <a:r>
                        <a:rPr lang="en-US" sz="1000" b="0" dirty="0">
                          <a:solidFill>
                            <a:srgbClr val="FFFFFF"/>
                          </a:solidFill>
                          <a:latin typeface="Calibri" pitchFamily="34" charset="0"/>
                          <a:ea typeface="Calibri" pitchFamily="34" charset="-122"/>
                          <a:cs typeface="Calibri" pitchFamily="34" charset="-120"/>
                        </a:rPr>
                        <a:t>Vehicles/Hour</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75B6"/>
                    </a:solidFill>
                  </a:tcPr>
                </a:tc>
              </a:tr>
              <a:tr h="408141">
                <a:tc>
                  <a:txBody>
                    <a:bodyPr/>
                    <a:lstStyle/>
                    <a:p>
                      <a:pPr marL="0" indent="0" algn="ctr">
                        <a:buNone/>
                      </a:pPr>
                      <a:r>
                        <a:rPr lang="en-US" sz="1000" b="0" dirty="0">
                          <a:solidFill>
                            <a:srgbClr val="FFFFFF"/>
                          </a:solidFill>
                          <a:latin typeface="Calibri" pitchFamily="34" charset="0"/>
                          <a:ea typeface="Calibri" pitchFamily="34" charset="-122"/>
                          <a:cs typeface="Calibri" pitchFamily="34" charset="-120"/>
                        </a:rPr>
                        <a:t>Stage 1</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75B6"/>
                    </a:solidFill>
                  </a:tcPr>
                </a:tc>
                <a:tc>
                  <a:txBody>
                    <a:bodyPr/>
                    <a:lstStyle/>
                    <a:p>
                      <a:pPr marL="0" indent="0" algn="ctr">
                        <a:buNone/>
                      </a:pPr>
                      <a:r>
                        <a:rPr lang="en-US" sz="1000" b="0" dirty="0">
                          <a:solidFill>
                            <a:srgbClr val="222222"/>
                          </a:solidFill>
                          <a:latin typeface="Calibri" pitchFamily="34" charset="0"/>
                          <a:ea typeface="Calibri" pitchFamily="34" charset="-122"/>
                          <a:cs typeface="Calibri" pitchFamily="34" charset="-120"/>
                        </a:rPr>
                        <a:t>Low (off-peak)</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1"/>
                    </a:solidFill>
                  </a:tcPr>
                </a:tc>
                <a:tc>
                  <a:txBody>
                    <a:bodyPr/>
                    <a:lstStyle/>
                    <a:p>
                      <a:pPr marL="0" indent="0" algn="ctr">
                        <a:buNone/>
                      </a:pPr>
                      <a:r>
                        <a:rPr lang="en-US" sz="1000" b="0" dirty="0" smtClean="0">
                          <a:solidFill>
                            <a:srgbClr val="222222"/>
                          </a:solidFill>
                          <a:latin typeface="Calibri" pitchFamily="34" charset="0"/>
                          <a:ea typeface="Calibri" pitchFamily="34" charset="-122"/>
                          <a:cs typeface="Calibri" pitchFamily="34" charset="-120"/>
                        </a:rPr>
                        <a:t>824 </a:t>
                      </a:r>
                      <a:r>
                        <a:rPr lang="en-US" sz="1000" b="0" dirty="0">
                          <a:solidFill>
                            <a:srgbClr val="222222"/>
                          </a:solidFill>
                          <a:latin typeface="Calibri" pitchFamily="34" charset="0"/>
                          <a:ea typeface="Calibri" pitchFamily="34" charset="-122"/>
                          <a:cs typeface="Calibri" pitchFamily="34" charset="-120"/>
                        </a:rPr>
                        <a:t>veh/hr</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1"/>
                    </a:solidFill>
                  </a:tcPr>
                </a:tc>
              </a:tr>
              <a:tr h="408141">
                <a:tc>
                  <a:txBody>
                    <a:bodyPr/>
                    <a:lstStyle/>
                    <a:p>
                      <a:pPr marL="0" indent="0" algn="ctr">
                        <a:buNone/>
                      </a:pPr>
                      <a:r>
                        <a:rPr lang="en-US" sz="1000" b="0" dirty="0">
                          <a:solidFill>
                            <a:srgbClr val="FFFFFF"/>
                          </a:solidFill>
                          <a:latin typeface="Calibri" pitchFamily="34" charset="0"/>
                          <a:ea typeface="Calibri" pitchFamily="34" charset="-122"/>
                          <a:cs typeface="Calibri" pitchFamily="34" charset="-120"/>
                        </a:rPr>
                        <a:t>Stage 2</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75B6"/>
                    </a:solidFill>
                  </a:tcPr>
                </a:tc>
                <a:tc>
                  <a:txBody>
                    <a:bodyPr/>
                    <a:lstStyle/>
                    <a:p>
                      <a:pPr marL="0" indent="0" algn="ctr">
                        <a:buNone/>
                      </a:pPr>
                      <a:r>
                        <a:rPr lang="en-US" sz="1000" b="0" dirty="0">
                          <a:solidFill>
                            <a:srgbClr val="222222"/>
                          </a:solidFill>
                          <a:latin typeface="Calibri" pitchFamily="34" charset="0"/>
                          <a:ea typeface="Calibri" pitchFamily="34" charset="-122"/>
                          <a:cs typeface="Calibri" pitchFamily="34" charset="-120"/>
                        </a:rPr>
                        <a:t>Medium (mid-day)</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1"/>
                    </a:solidFill>
                  </a:tcPr>
                </a:tc>
                <a:tc>
                  <a:txBody>
                    <a:bodyPr/>
                    <a:lstStyle/>
                    <a:p>
                      <a:pPr marL="0" indent="0" algn="ctr">
                        <a:buNone/>
                      </a:pPr>
                      <a:r>
                        <a:rPr lang="en-US" sz="1000" b="0" dirty="0" smtClean="0">
                          <a:solidFill>
                            <a:srgbClr val="222222"/>
                          </a:solidFill>
                          <a:latin typeface="Calibri" pitchFamily="34" charset="0"/>
                          <a:ea typeface="Calibri" pitchFamily="34" charset="-122"/>
                          <a:cs typeface="Calibri" pitchFamily="34" charset="-120"/>
                        </a:rPr>
                        <a:t>1,685 </a:t>
                      </a:r>
                      <a:r>
                        <a:rPr lang="en-US" sz="1000" b="0" dirty="0">
                          <a:solidFill>
                            <a:srgbClr val="222222"/>
                          </a:solidFill>
                          <a:latin typeface="Calibri" pitchFamily="34" charset="0"/>
                          <a:ea typeface="Calibri" pitchFamily="34" charset="-122"/>
                          <a:cs typeface="Calibri" pitchFamily="34" charset="-120"/>
                        </a:rPr>
                        <a:t>veh/hr</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1"/>
                    </a:solidFill>
                  </a:tcPr>
                </a:tc>
              </a:tr>
              <a:tr h="408141">
                <a:tc>
                  <a:txBody>
                    <a:bodyPr/>
                    <a:lstStyle/>
                    <a:p>
                      <a:pPr marL="0" indent="0" algn="ctr">
                        <a:buNone/>
                      </a:pPr>
                      <a:r>
                        <a:rPr lang="en-US" sz="1000" b="0" dirty="0">
                          <a:solidFill>
                            <a:srgbClr val="FFFFFF"/>
                          </a:solidFill>
                          <a:latin typeface="Calibri" pitchFamily="34" charset="0"/>
                          <a:ea typeface="Calibri" pitchFamily="34" charset="-122"/>
                          <a:cs typeface="Calibri" pitchFamily="34" charset="-120"/>
                        </a:rPr>
                        <a:t>Stage 3</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75B6"/>
                    </a:solidFill>
                  </a:tcPr>
                </a:tc>
                <a:tc>
                  <a:txBody>
                    <a:bodyPr/>
                    <a:lstStyle/>
                    <a:p>
                      <a:pPr marL="0" indent="0" algn="ctr">
                        <a:buNone/>
                      </a:pPr>
                      <a:r>
                        <a:rPr lang="en-US" sz="1000" b="0" dirty="0">
                          <a:solidFill>
                            <a:srgbClr val="222222"/>
                          </a:solidFill>
                          <a:latin typeface="Calibri" pitchFamily="34" charset="0"/>
                          <a:ea typeface="Calibri" pitchFamily="34" charset="-122"/>
                          <a:cs typeface="Calibri" pitchFamily="34" charset="-120"/>
                        </a:rPr>
                        <a:t>High (peak hour)</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1"/>
                    </a:solidFill>
                  </a:tcPr>
                </a:tc>
                <a:tc>
                  <a:txBody>
                    <a:bodyPr/>
                    <a:lstStyle/>
                    <a:p>
                      <a:pPr marL="0" indent="0" algn="ctr">
                        <a:buNone/>
                      </a:pPr>
                      <a:r>
                        <a:rPr lang="en-US" sz="1000" b="0" dirty="0" smtClean="0">
                          <a:solidFill>
                            <a:srgbClr val="222222"/>
                          </a:solidFill>
                          <a:latin typeface="Calibri" pitchFamily="34" charset="0"/>
                          <a:ea typeface="Calibri" pitchFamily="34" charset="-122"/>
                          <a:cs typeface="Calibri" pitchFamily="34" charset="-120"/>
                        </a:rPr>
                        <a:t>3,376 </a:t>
                      </a:r>
                      <a:r>
                        <a:rPr lang="en-US" sz="1000" b="0" dirty="0">
                          <a:solidFill>
                            <a:srgbClr val="222222"/>
                          </a:solidFill>
                          <a:latin typeface="Calibri" pitchFamily="34" charset="0"/>
                          <a:ea typeface="Calibri" pitchFamily="34" charset="-122"/>
                          <a:cs typeface="Calibri" pitchFamily="34" charset="-120"/>
                        </a:rPr>
                        <a:t>veh/hr</a:t>
                      </a:r>
                      <a:endParaRPr lang="en-US" sz="1000" b="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1"/>
                    </a:solidFill>
                  </a:tcPr>
                </a:tc>
              </a:tr>
            </a:tbl>
          </a:graphicData>
        </a:graphic>
      </p:graphicFrame>
      <p:sp>
        <p:nvSpPr>
          <p:cNvPr id="36" name="Text 2"/>
          <p:cNvSpPr/>
          <p:nvPr/>
        </p:nvSpPr>
        <p:spPr>
          <a:xfrm>
            <a:off x="6777221" y="517630"/>
            <a:ext cx="1925016" cy="411480"/>
          </a:xfrm>
          <a:prstGeom prst="rect">
            <a:avLst/>
          </a:prstGeom>
          <a:noFill/>
          <a:ln/>
        </p:spPr>
        <p:txBody>
          <a:bodyPr wrap="square" lIns="0" tIns="0" rIns="0" bIns="0" rtlCol="0" anchor="ctr"/>
          <a:lstStyle/>
          <a:p>
            <a:r>
              <a:rPr lang="en-US" sz="1400" b="1" dirty="0" smtClean="0">
                <a:solidFill>
                  <a:srgbClr val="0B2545"/>
                </a:solidFill>
              </a:rPr>
              <a:t>Traffic </a:t>
            </a:r>
            <a:r>
              <a:rPr lang="en-US" sz="1400" b="1" dirty="0">
                <a:solidFill>
                  <a:srgbClr val="0B2545"/>
                </a:solidFill>
              </a:rPr>
              <a:t>Turning Ratio</a:t>
            </a:r>
            <a:endParaRPr lang="en-US" sz="1400" dirty="0"/>
          </a:p>
        </p:txBody>
      </p:sp>
    </p:spTree>
    <p:extLst>
      <p:ext uri="{BB962C8B-B14F-4D97-AF65-F5344CB8AC3E}">
        <p14:creationId xmlns:p14="http://schemas.microsoft.com/office/powerpoint/2010/main" val="17413298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65760" y="0"/>
            <a:ext cx="8412480" cy="658368"/>
          </a:xfrm>
          <a:prstGeom prst="rect">
            <a:avLst/>
          </a:prstGeom>
          <a:noFill/>
          <a:ln/>
        </p:spPr>
        <p:txBody>
          <a:bodyPr wrap="square" rtlCol="0" anchor="ctr"/>
          <a:lstStyle/>
          <a:p>
            <a:pPr marL="0" indent="0">
              <a:buNone/>
            </a:pPr>
            <a:r>
              <a:rPr lang="en-US" sz="1000" b="1" kern="0" spc="200" dirty="0">
                <a:solidFill>
                  <a:srgbClr val="0ACDAB"/>
                </a:solidFill>
              </a:rPr>
              <a:t>SYSTEM OVERVIEW  </a:t>
            </a:r>
            <a:endParaRPr lang="en-US" sz="1000" dirty="0"/>
          </a:p>
        </p:txBody>
      </p:sp>
      <p:sp>
        <p:nvSpPr>
          <p:cNvPr id="4" name="Text 2"/>
          <p:cNvSpPr/>
          <p:nvPr/>
        </p:nvSpPr>
        <p:spPr>
          <a:xfrm>
            <a:off x="135795" y="722376"/>
            <a:ext cx="3931920" cy="411480"/>
          </a:xfrm>
          <a:prstGeom prst="rect">
            <a:avLst/>
          </a:prstGeom>
          <a:noFill/>
          <a:ln/>
        </p:spPr>
        <p:txBody>
          <a:bodyPr wrap="square" lIns="0" tIns="0" rIns="0" bIns="0" rtlCol="0" anchor="ctr"/>
          <a:lstStyle/>
          <a:p>
            <a:pPr marL="0" indent="0">
              <a:buNone/>
            </a:pPr>
            <a:endParaRPr lang="en-US" sz="1700" dirty="0"/>
          </a:p>
        </p:txBody>
      </p:sp>
      <p:sp>
        <p:nvSpPr>
          <p:cNvPr id="21" name="Text 19"/>
          <p:cNvSpPr/>
          <p:nvPr/>
        </p:nvSpPr>
        <p:spPr>
          <a:xfrm>
            <a:off x="155575" y="687279"/>
            <a:ext cx="4251960" cy="411480"/>
          </a:xfrm>
          <a:prstGeom prst="rect">
            <a:avLst/>
          </a:prstGeom>
          <a:noFill/>
          <a:ln/>
        </p:spPr>
        <p:txBody>
          <a:bodyPr wrap="square" lIns="0" tIns="0" rIns="0" bIns="0" rtlCol="0" anchor="ctr"/>
          <a:lstStyle/>
          <a:p>
            <a:pPr marL="0" indent="0">
              <a:buNone/>
            </a:pPr>
            <a:r>
              <a:rPr lang="en-US" sz="1700" b="1" dirty="0" smtClean="0">
                <a:solidFill>
                  <a:srgbClr val="0B2545"/>
                </a:solidFill>
              </a:rPr>
              <a:t>Simulation Network: Manhattan</a:t>
            </a:r>
            <a:endParaRPr lang="en-US" sz="1700" dirty="0"/>
          </a:p>
        </p:txBody>
      </p:sp>
      <p:sp>
        <p:nvSpPr>
          <p:cNvPr id="58" name="Text 56"/>
          <p:cNvSpPr/>
          <p:nvPr/>
        </p:nvSpPr>
        <p:spPr>
          <a:xfrm>
            <a:off x="5029200" y="757474"/>
            <a:ext cx="4114800" cy="256032"/>
          </a:xfrm>
          <a:prstGeom prst="rect">
            <a:avLst/>
          </a:prstGeom>
          <a:noFill/>
          <a:ln/>
        </p:spPr>
        <p:txBody>
          <a:bodyPr wrap="square" lIns="0" tIns="0" rIns="0" bIns="0" rtlCol="0" anchor="ctr"/>
          <a:lstStyle/>
          <a:p>
            <a:pPr marL="0" indent="0" algn="ctr">
              <a:buNone/>
            </a:pPr>
            <a:r>
              <a:rPr lang="en-US" sz="1000" b="1" dirty="0">
                <a:solidFill>
                  <a:srgbClr val="64748B"/>
                </a:solidFill>
              </a:rPr>
              <a:t>4 × 4 Grid  ·  16 Intersections  ·  SUMO Simulator</a:t>
            </a:r>
            <a:endParaRPr lang="en-US" sz="1000" b="1" dirty="0"/>
          </a:p>
        </p:txBody>
      </p:sp>
      <p:pic>
        <p:nvPicPr>
          <p:cNvPr id="5" name="Picture 4"/>
          <p:cNvPicPr>
            <a:picLocks noChangeAspect="1"/>
          </p:cNvPicPr>
          <p:nvPr/>
        </p:nvPicPr>
        <p:blipFill>
          <a:blip r:embed="rId3"/>
          <a:stretch>
            <a:fillRect/>
          </a:stretch>
        </p:blipFill>
        <p:spPr>
          <a:xfrm>
            <a:off x="5152030" y="1197865"/>
            <a:ext cx="3991969" cy="2951054"/>
          </a:xfrm>
          <a:prstGeom prst="rect">
            <a:avLst/>
          </a:prstGeom>
        </p:spPr>
      </p:pic>
      <p:sp>
        <p:nvSpPr>
          <p:cNvPr id="6" name="AutoShape 2" descr="blob:https://web.whatsapp.com/d0026f6e-f456-42f4-beef-d800f1a4e8eb"/>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619" y="1750600"/>
            <a:ext cx="4968469" cy="3053412"/>
          </a:xfrm>
          <a:prstGeom prst="rect">
            <a:avLst/>
          </a:prstGeom>
        </p:spPr>
      </p:pic>
    </p:spTree>
    <p:extLst>
      <p:ext uri="{BB962C8B-B14F-4D97-AF65-F5344CB8AC3E}">
        <p14:creationId xmlns:p14="http://schemas.microsoft.com/office/powerpoint/2010/main" val="3493267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65760" y="0"/>
            <a:ext cx="8412480" cy="658368"/>
          </a:xfrm>
          <a:prstGeom prst="rect">
            <a:avLst/>
          </a:prstGeom>
          <a:noFill/>
          <a:ln/>
        </p:spPr>
        <p:txBody>
          <a:bodyPr wrap="square" rtlCol="0" anchor="ctr"/>
          <a:lstStyle/>
          <a:p>
            <a:pPr marL="0" indent="0">
              <a:buNone/>
            </a:pPr>
            <a:r>
              <a:rPr lang="en-US" sz="1000" b="1" kern="0" spc="200" dirty="0">
                <a:solidFill>
                  <a:srgbClr val="0ACDAB"/>
                </a:solidFill>
              </a:rPr>
              <a:t>SYSTEM OVERVIEW  </a:t>
            </a:r>
            <a:endParaRPr lang="en-US" sz="1000" dirty="0"/>
          </a:p>
        </p:txBody>
      </p:sp>
      <p:sp>
        <p:nvSpPr>
          <p:cNvPr id="4" name="Text 2"/>
          <p:cNvSpPr/>
          <p:nvPr/>
        </p:nvSpPr>
        <p:spPr>
          <a:xfrm>
            <a:off x="135795" y="722376"/>
            <a:ext cx="3931920" cy="411480"/>
          </a:xfrm>
          <a:prstGeom prst="rect">
            <a:avLst/>
          </a:prstGeom>
          <a:noFill/>
          <a:ln/>
        </p:spPr>
        <p:txBody>
          <a:bodyPr wrap="square" lIns="0" tIns="0" rIns="0" bIns="0" rtlCol="0" anchor="ctr"/>
          <a:lstStyle/>
          <a:p>
            <a:pPr marL="0" indent="0">
              <a:buNone/>
            </a:pPr>
            <a:endParaRPr lang="en-US" sz="1700" dirty="0"/>
          </a:p>
        </p:txBody>
      </p:sp>
      <p:sp>
        <p:nvSpPr>
          <p:cNvPr id="21" name="Text 19"/>
          <p:cNvSpPr/>
          <p:nvPr/>
        </p:nvSpPr>
        <p:spPr>
          <a:xfrm>
            <a:off x="155575" y="687279"/>
            <a:ext cx="4251960" cy="411480"/>
          </a:xfrm>
          <a:prstGeom prst="rect">
            <a:avLst/>
          </a:prstGeom>
          <a:noFill/>
          <a:ln/>
        </p:spPr>
        <p:txBody>
          <a:bodyPr wrap="square" lIns="0" tIns="0" rIns="0" bIns="0" rtlCol="0" anchor="ctr"/>
          <a:lstStyle/>
          <a:p>
            <a:pPr marL="0" indent="0">
              <a:buNone/>
            </a:pPr>
            <a:r>
              <a:rPr lang="en-US" sz="1700" b="1" dirty="0" smtClean="0">
                <a:solidFill>
                  <a:srgbClr val="0B2545"/>
                </a:solidFill>
              </a:rPr>
              <a:t>Simulation Network: Manhattan</a:t>
            </a:r>
            <a:endParaRPr lang="en-US" sz="1700" dirty="0"/>
          </a:p>
        </p:txBody>
      </p:sp>
      <p:sp>
        <p:nvSpPr>
          <p:cNvPr id="58" name="Text 56"/>
          <p:cNvSpPr/>
          <p:nvPr/>
        </p:nvSpPr>
        <p:spPr>
          <a:xfrm>
            <a:off x="4967785" y="785931"/>
            <a:ext cx="4114800" cy="256032"/>
          </a:xfrm>
          <a:prstGeom prst="rect">
            <a:avLst/>
          </a:prstGeom>
          <a:noFill/>
          <a:ln/>
        </p:spPr>
        <p:txBody>
          <a:bodyPr wrap="square" lIns="0" tIns="0" rIns="0" bIns="0" rtlCol="0" anchor="ctr"/>
          <a:lstStyle/>
          <a:p>
            <a:pPr marL="0" indent="0" algn="ctr">
              <a:buNone/>
            </a:pPr>
            <a:r>
              <a:rPr lang="en-US" sz="1100" b="1" dirty="0" smtClean="0">
                <a:solidFill>
                  <a:srgbClr val="64748B"/>
                </a:solidFill>
              </a:rPr>
              <a:t>Junctions Details, Turning Points, &amp; Lanes Connections</a:t>
            </a:r>
            <a:endParaRPr lang="en-US" sz="1100" b="1" dirty="0"/>
          </a:p>
        </p:txBody>
      </p:sp>
      <p:sp>
        <p:nvSpPr>
          <p:cNvPr id="6" name="AutoShape 2" descr="blob:https://web.whatsapp.com/d0026f6e-f456-42f4-beef-d800f1a4e8eb"/>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853" y="1286196"/>
            <a:ext cx="2845205" cy="1897642"/>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2084" y="1286196"/>
            <a:ext cx="2788863" cy="1903748"/>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01755" y="3252713"/>
            <a:ext cx="2986307" cy="1896759"/>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13694" y="3246740"/>
            <a:ext cx="3098043" cy="1908707"/>
          </a:xfrm>
          <a:prstGeom prst="rect">
            <a:avLst/>
          </a:prstGeom>
        </p:spPr>
      </p:pic>
    </p:spTree>
    <p:extLst>
      <p:ext uri="{BB962C8B-B14F-4D97-AF65-F5344CB8AC3E}">
        <p14:creationId xmlns:p14="http://schemas.microsoft.com/office/powerpoint/2010/main" val="17013320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65760" y="0"/>
            <a:ext cx="8412480" cy="658368"/>
          </a:xfrm>
          <a:prstGeom prst="rect">
            <a:avLst/>
          </a:prstGeom>
          <a:noFill/>
          <a:ln/>
        </p:spPr>
        <p:txBody>
          <a:bodyPr wrap="square" rtlCol="0" anchor="ctr"/>
          <a:lstStyle/>
          <a:p>
            <a:pPr marL="0" indent="0">
              <a:buNone/>
            </a:pPr>
            <a:r>
              <a:rPr lang="en-US" sz="1000" b="1" kern="0" spc="200" dirty="0">
                <a:solidFill>
                  <a:srgbClr val="0ACDAB"/>
                </a:solidFill>
              </a:rPr>
              <a:t>TRAINING RESULTS  ·  PERFORMANCE COMPARISON TABLE</a:t>
            </a:r>
            <a:endParaRPr lang="en-US" sz="1000" dirty="0"/>
          </a:p>
        </p:txBody>
      </p:sp>
      <p:sp>
        <p:nvSpPr>
          <p:cNvPr id="4" name="Text 2"/>
          <p:cNvSpPr/>
          <p:nvPr/>
        </p:nvSpPr>
        <p:spPr>
          <a:xfrm>
            <a:off x="365760" y="936791"/>
            <a:ext cx="8412480" cy="384048"/>
          </a:xfrm>
          <a:prstGeom prst="rect">
            <a:avLst/>
          </a:prstGeom>
          <a:noFill/>
          <a:ln/>
        </p:spPr>
        <p:txBody>
          <a:bodyPr wrap="square" lIns="0" tIns="0" rIns="0" bIns="0" rtlCol="0" anchor="ctr"/>
          <a:lstStyle/>
          <a:p>
            <a:pPr marL="0" indent="0">
              <a:buNone/>
            </a:pPr>
            <a:r>
              <a:rPr lang="en-US" sz="2400" b="1" dirty="0" smtClean="0">
                <a:solidFill>
                  <a:srgbClr val="0B2545"/>
                </a:solidFill>
              </a:rPr>
              <a:t>Discussions:</a:t>
            </a:r>
            <a:endParaRPr lang="en-US" sz="2400" dirty="0"/>
          </a:p>
        </p:txBody>
      </p:sp>
      <p:sp>
        <p:nvSpPr>
          <p:cNvPr id="5" name="Text 3"/>
          <p:cNvSpPr/>
          <p:nvPr/>
        </p:nvSpPr>
        <p:spPr>
          <a:xfrm>
            <a:off x="411480" y="1460603"/>
            <a:ext cx="8412480" cy="274320"/>
          </a:xfrm>
          <a:prstGeom prst="rect">
            <a:avLst/>
          </a:prstGeom>
          <a:noFill/>
          <a:ln/>
        </p:spPr>
        <p:txBody>
          <a:bodyPr wrap="square" lIns="0" tIns="0" rIns="0" bIns="0" rtlCol="0" anchor="ctr"/>
          <a:lstStyle/>
          <a:p>
            <a:pPr marL="0" indent="0">
              <a:buNone/>
            </a:pPr>
            <a:r>
              <a:rPr lang="en-US" sz="1200" dirty="0" smtClean="0"/>
              <a:t>The Training Data Shows that MAPPO Reinforcement Learning Algorithm Performs well across other two Learning Algorithms.</a:t>
            </a:r>
            <a:endParaRPr lang="en-US" sz="1200" dirty="0"/>
          </a:p>
        </p:txBody>
      </p:sp>
      <p:sp>
        <p:nvSpPr>
          <p:cNvPr id="6" name="Text 4"/>
          <p:cNvSpPr/>
          <p:nvPr/>
        </p:nvSpPr>
        <p:spPr>
          <a:xfrm>
            <a:off x="320040" y="4846320"/>
            <a:ext cx="8503920" cy="228600"/>
          </a:xfrm>
          <a:prstGeom prst="rect">
            <a:avLst/>
          </a:prstGeom>
          <a:noFill/>
          <a:ln/>
        </p:spPr>
        <p:txBody>
          <a:bodyPr wrap="square" lIns="0" tIns="0" rIns="0" bIns="0" rtlCol="0" anchor="ctr"/>
          <a:lstStyle/>
          <a:p>
            <a:pPr marL="0" indent="0">
              <a:buNone/>
            </a:pP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703832587"/>
              </p:ext>
            </p:extLst>
          </p:nvPr>
        </p:nvGraphicFramePr>
        <p:xfrm>
          <a:off x="1024339" y="2455589"/>
          <a:ext cx="7061328" cy="1378424"/>
        </p:xfrm>
        <a:graphic>
          <a:graphicData uri="http://schemas.openxmlformats.org/drawingml/2006/table">
            <a:tbl>
              <a:tblPr/>
              <a:tblGrid>
                <a:gridCol w="1420732"/>
                <a:gridCol w="1262873"/>
                <a:gridCol w="1105014"/>
                <a:gridCol w="1105014"/>
                <a:gridCol w="2167695"/>
              </a:tblGrid>
              <a:tr h="344606">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Traffic Density</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45"/>
                    </a:solidFill>
                  </a:tcPr>
                </a:tc>
                <a:tc>
                  <a:txBody>
                    <a:bodyPr/>
                    <a:lstStyle/>
                    <a:p>
                      <a:pPr marL="0" indent="0" algn="ctr">
                        <a:buNone/>
                      </a:pPr>
                      <a:r>
                        <a:rPr lang="en-US" sz="1400" b="1" dirty="0" smtClean="0">
                          <a:solidFill>
                            <a:srgbClr val="FFFFFF"/>
                          </a:solidFill>
                          <a:latin typeface="Calibri" pitchFamily="34" charset="0"/>
                          <a:ea typeface="Calibri" pitchFamily="34" charset="-122"/>
                          <a:cs typeface="Calibri" pitchFamily="34" charset="-120"/>
                        </a:rPr>
                        <a:t>MAQ-Learning</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622A"/>
                    </a:solidFill>
                  </a:tcPr>
                </a:tc>
                <a:tc>
                  <a:txBody>
                    <a:bodyPr/>
                    <a:lstStyle/>
                    <a:p>
                      <a:pPr marL="0" indent="0" algn="ctr">
                        <a:buNone/>
                      </a:pPr>
                      <a:r>
                        <a:rPr lang="en-US" sz="1400" b="1" dirty="0" smtClean="0">
                          <a:solidFill>
                            <a:srgbClr val="FFFFFF"/>
                          </a:solidFill>
                          <a:latin typeface="Calibri" pitchFamily="34" charset="0"/>
                          <a:ea typeface="Calibri" pitchFamily="34" charset="-122"/>
                          <a:cs typeface="Calibri" pitchFamily="34" charset="-120"/>
                        </a:rPr>
                        <a:t>MADQN</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6E5E"/>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MAPPO</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7B3FA0"/>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Best Result</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8EA0"/>
                    </a:solidFill>
                  </a:tcPr>
                </a:tc>
              </a:tr>
              <a:tr h="344606">
                <a:tc>
                  <a:txBody>
                    <a:bodyPr/>
                    <a:lstStyle/>
                    <a:p>
                      <a:pPr marL="0" indent="0" algn="l">
                        <a:buNone/>
                      </a:pPr>
                      <a:r>
                        <a:rPr lang="en-US" sz="1400" dirty="0">
                          <a:solidFill>
                            <a:srgbClr val="222222"/>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2222"/>
                          </a:solidFill>
                          <a:latin typeface="Calibri" pitchFamily="34" charset="0"/>
                          <a:ea typeface="Calibri" pitchFamily="34" charset="-122"/>
                          <a:cs typeface="Calibri" pitchFamily="34" charset="-120"/>
                        </a:rPr>
                        <a:t>133.00</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2222"/>
                          </a:solidFill>
                          <a:latin typeface="Calibri" pitchFamily="34" charset="0"/>
                          <a:ea typeface="Calibri" pitchFamily="34" charset="-122"/>
                          <a:cs typeface="Calibri" pitchFamily="34" charset="-120"/>
                        </a:rPr>
                        <a:t>131.76</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smtClean="0">
                          <a:solidFill>
                            <a:srgbClr val="222222"/>
                          </a:solidFill>
                          <a:latin typeface="Calibri" pitchFamily="34" charset="0"/>
                          <a:ea typeface="Calibri" pitchFamily="34" charset="-122"/>
                          <a:cs typeface="Calibri" pitchFamily="34" charset="-120"/>
                        </a:rPr>
                        <a:t>127.78</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F6E56"/>
                          </a:solidFill>
                          <a:latin typeface="Calibri" pitchFamily="34" charset="0"/>
                          <a:ea typeface="Calibri" pitchFamily="34" charset="-122"/>
                          <a:cs typeface="Calibri" pitchFamily="34" charset="-120"/>
                        </a:rPr>
                        <a:t>MAPPO  (127.78 s)</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4606">
                <a:tc>
                  <a:txBody>
                    <a:bodyPr/>
                    <a:lstStyle/>
                    <a:p>
                      <a:pPr marL="0" indent="0" algn="l">
                        <a:buNone/>
                      </a:pPr>
                      <a:r>
                        <a:rPr lang="en-US" sz="1400" dirty="0">
                          <a:solidFill>
                            <a:srgbClr val="222222"/>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2222"/>
                          </a:solidFill>
                          <a:latin typeface="Calibri" pitchFamily="34" charset="0"/>
                          <a:ea typeface="Calibri" pitchFamily="34" charset="-122"/>
                          <a:cs typeface="Calibri" pitchFamily="34" charset="-120"/>
                        </a:rPr>
                        <a:t>134.63</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2222"/>
                          </a:solidFill>
                          <a:latin typeface="Calibri" pitchFamily="34" charset="0"/>
                          <a:ea typeface="Calibri" pitchFamily="34" charset="-122"/>
                          <a:cs typeface="Calibri" pitchFamily="34" charset="-120"/>
                        </a:rPr>
                        <a:t>133.79</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smtClean="0">
                          <a:solidFill>
                            <a:srgbClr val="222222"/>
                          </a:solidFill>
                          <a:latin typeface="Calibri" pitchFamily="34" charset="0"/>
                          <a:ea typeface="Calibri" pitchFamily="34" charset="-122"/>
                          <a:cs typeface="Calibri" pitchFamily="34" charset="-120"/>
                        </a:rPr>
                        <a:t>   126.30 </a:t>
                      </a:r>
                      <a:r>
                        <a:rPr lang="en-US" sz="1400" dirty="0">
                          <a:solidFill>
                            <a:srgbClr val="22222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b="1" dirty="0" smtClean="0">
                          <a:solidFill>
                            <a:srgbClr val="0F6E56"/>
                          </a:solidFill>
                          <a:latin typeface="Calibri" pitchFamily="34" charset="0"/>
                          <a:ea typeface="Calibri" pitchFamily="34" charset="-122"/>
                          <a:cs typeface="Calibri" pitchFamily="34" charset="-120"/>
                        </a:rPr>
                        <a:t>    MAPPO  </a:t>
                      </a:r>
                      <a:r>
                        <a:rPr lang="en-US" sz="1400" b="1" dirty="0">
                          <a:solidFill>
                            <a:srgbClr val="0F6E56"/>
                          </a:solidFill>
                          <a:latin typeface="Calibri" pitchFamily="34" charset="0"/>
                          <a:ea typeface="Calibri" pitchFamily="34" charset="-122"/>
                          <a:cs typeface="Calibri" pitchFamily="34" charset="-120"/>
                        </a:rPr>
                        <a:t>(126.30 s) *</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4606">
                <a:tc>
                  <a:txBody>
                    <a:bodyPr/>
                    <a:lstStyle/>
                    <a:p>
                      <a:pPr marL="0" indent="0" algn="l">
                        <a:buNone/>
                      </a:pPr>
                      <a:r>
                        <a:rPr lang="en-US" sz="1400" dirty="0">
                          <a:solidFill>
                            <a:srgbClr val="222222"/>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smtClean="0">
                          <a:solidFill>
                            <a:srgbClr val="222222"/>
                          </a:solidFill>
                          <a:latin typeface="Calibri" pitchFamily="34" charset="0"/>
                          <a:ea typeface="Calibri" pitchFamily="34" charset="-122"/>
                          <a:cs typeface="Calibri" pitchFamily="34" charset="-120"/>
                        </a:rPr>
                        <a:t>137.94</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2222"/>
                          </a:solidFill>
                          <a:latin typeface="Calibri" pitchFamily="34" charset="0"/>
                          <a:ea typeface="Calibri" pitchFamily="34" charset="-122"/>
                          <a:cs typeface="Calibri" pitchFamily="34" charset="-120"/>
                        </a:rPr>
                        <a:t>137.10 </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smtClean="0">
                          <a:solidFill>
                            <a:srgbClr val="222222"/>
                          </a:solidFill>
                          <a:latin typeface="Calibri" pitchFamily="34" charset="0"/>
                          <a:ea typeface="Calibri" pitchFamily="34" charset="-122"/>
                          <a:cs typeface="Calibri" pitchFamily="34" charset="-120"/>
                        </a:rPr>
                        <a:t>   125.51 </a:t>
                      </a:r>
                      <a:r>
                        <a:rPr lang="en-US" sz="1400" dirty="0">
                          <a:solidFill>
                            <a:srgbClr val="22222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b="1" dirty="0" smtClean="0">
                          <a:solidFill>
                            <a:srgbClr val="0F6E56"/>
                          </a:solidFill>
                          <a:latin typeface="Calibri" pitchFamily="34" charset="0"/>
                          <a:ea typeface="Calibri" pitchFamily="34" charset="-122"/>
                          <a:cs typeface="Calibri" pitchFamily="34" charset="-120"/>
                        </a:rPr>
                        <a:t>    MAPPO  </a:t>
                      </a:r>
                      <a:r>
                        <a:rPr lang="en-US" sz="1400" b="1" dirty="0">
                          <a:solidFill>
                            <a:srgbClr val="0F6E56"/>
                          </a:solidFill>
                          <a:latin typeface="Calibri" pitchFamily="34" charset="0"/>
                          <a:ea typeface="Calibri" pitchFamily="34" charset="-122"/>
                          <a:cs typeface="Calibri" pitchFamily="34" charset="-120"/>
                        </a:rPr>
                        <a:t>(</a:t>
                      </a:r>
                      <a:r>
                        <a:rPr lang="en-US" sz="1400" b="1" dirty="0" smtClean="0">
                          <a:solidFill>
                            <a:srgbClr val="0F6E56"/>
                          </a:solidFill>
                          <a:latin typeface="Calibri" pitchFamily="34" charset="0"/>
                          <a:ea typeface="Calibri" pitchFamily="34" charset="-122"/>
                          <a:cs typeface="Calibri" pitchFamily="34" charset="-120"/>
                        </a:rPr>
                        <a:t>125.51 </a:t>
                      </a:r>
                      <a:r>
                        <a:rPr lang="en-US" sz="1400" b="1" dirty="0">
                          <a:solidFill>
                            <a:srgbClr val="0F6E56"/>
                          </a:solidFill>
                          <a:latin typeface="Calibri" pitchFamily="34" charset="0"/>
                          <a:ea typeface="Calibri" pitchFamily="34" charset="-122"/>
                          <a:cs typeface="Calibri" pitchFamily="34" charset="-120"/>
                        </a:rPr>
                        <a:t>s) *</a:t>
                      </a:r>
                      <a:endParaRPr lang="en-US" sz="14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47768" y="71289"/>
            <a:ext cx="8412480" cy="411480"/>
          </a:xfrm>
          <a:prstGeom prst="rect">
            <a:avLst/>
          </a:prstGeom>
          <a:noFill/>
          <a:ln/>
        </p:spPr>
        <p:txBody>
          <a:bodyPr wrap="square" rtlCol="0" anchor="ctr"/>
          <a:lstStyle/>
          <a:p>
            <a:pPr marL="0" indent="0">
              <a:buNone/>
            </a:pPr>
            <a:r>
              <a:rPr lang="en-US" sz="1000" b="1" kern="0" spc="200" dirty="0">
                <a:solidFill>
                  <a:srgbClr val="0ACDAB"/>
                </a:solidFill>
              </a:rPr>
              <a:t>TRAINING RESULTS  ·  PERFORMANCE COMPARISON TABLE</a:t>
            </a:r>
            <a:endParaRPr lang="en-US" sz="1000" dirty="0"/>
          </a:p>
        </p:txBody>
      </p:sp>
      <p:sp>
        <p:nvSpPr>
          <p:cNvPr id="4" name="Text 2"/>
          <p:cNvSpPr/>
          <p:nvPr/>
        </p:nvSpPr>
        <p:spPr>
          <a:xfrm>
            <a:off x="745370" y="1166920"/>
            <a:ext cx="1165316" cy="384048"/>
          </a:xfrm>
          <a:prstGeom prst="rect">
            <a:avLst/>
          </a:prstGeom>
          <a:noFill/>
          <a:ln/>
        </p:spPr>
        <p:txBody>
          <a:bodyPr wrap="square" lIns="0" tIns="0" rIns="0" bIns="0" rtlCol="0" anchor="ctr"/>
          <a:lstStyle/>
          <a:p>
            <a:r>
              <a:rPr lang="en-US" sz="1100" b="1" dirty="0" smtClean="0">
                <a:solidFill>
                  <a:srgbClr val="0D2B45"/>
                </a:solidFill>
                <a:latin typeface="Calibri" pitchFamily="34" charset="0"/>
                <a:ea typeface="Calibri" pitchFamily="34" charset="-122"/>
                <a:cs typeface="Calibri" pitchFamily="34" charset="-120"/>
              </a:rPr>
              <a:t>Low </a:t>
            </a:r>
            <a:r>
              <a:rPr lang="en-US" sz="1100" b="1" dirty="0">
                <a:solidFill>
                  <a:srgbClr val="0D2B45"/>
                </a:solidFill>
                <a:latin typeface="Calibri" pitchFamily="34" charset="0"/>
                <a:ea typeface="Calibri" pitchFamily="34" charset="-122"/>
                <a:cs typeface="Calibri" pitchFamily="34" charset="-120"/>
              </a:rPr>
              <a:t>Traffic Density</a:t>
            </a:r>
            <a:endParaRPr lang="en-US" sz="1100" dirty="0"/>
          </a:p>
        </p:txBody>
      </p:sp>
      <p:sp>
        <p:nvSpPr>
          <p:cNvPr id="5" name="Text 3"/>
          <p:cNvSpPr/>
          <p:nvPr/>
        </p:nvSpPr>
        <p:spPr>
          <a:xfrm>
            <a:off x="130590" y="563611"/>
            <a:ext cx="8412480" cy="274320"/>
          </a:xfrm>
          <a:prstGeom prst="rect">
            <a:avLst/>
          </a:prstGeom>
          <a:noFill/>
          <a:ln/>
        </p:spPr>
        <p:txBody>
          <a:bodyPr wrap="square" lIns="0" tIns="0" rIns="0" bIns="0" rtlCol="0" anchor="ctr"/>
          <a:lstStyle/>
          <a:p>
            <a:pPr marL="0" indent="0">
              <a:buNone/>
            </a:pPr>
            <a:r>
              <a:rPr lang="en-US" sz="1200" dirty="0" smtClean="0"/>
              <a:t>The Training Data Shows that MAPPO Reinforcement Learning Algorithm Performs well across other two Learning Algorithms.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2018764599"/>
              </p:ext>
            </p:extLst>
          </p:nvPr>
        </p:nvGraphicFramePr>
        <p:xfrm>
          <a:off x="-13647" y="1615719"/>
          <a:ext cx="2886501" cy="3515555"/>
        </p:xfrm>
        <a:graphic>
          <a:graphicData uri="http://schemas.openxmlformats.org/drawingml/2006/table">
            <a:tbl>
              <a:tblPr/>
              <a:tblGrid>
                <a:gridCol w="839337"/>
                <a:gridCol w="164664"/>
                <a:gridCol w="627500"/>
                <a:gridCol w="627500"/>
                <a:gridCol w="627500"/>
              </a:tblGrid>
              <a:tr h="78628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45"/>
                    </a:solidFill>
                  </a:tcPr>
                </a:tc>
                <a:tc gridSpan="2">
                  <a:txBody>
                    <a:bodyPr/>
                    <a:lstStyle/>
                    <a:p>
                      <a:pPr marL="0" indent="0" algn="ctr">
                        <a:buNone/>
                      </a:pPr>
                      <a:r>
                        <a:rPr lang="en-US" sz="1000" b="1" dirty="0" smtClean="0">
                          <a:solidFill>
                            <a:srgbClr val="FFFFFF"/>
                          </a:solidFill>
                          <a:latin typeface="Calibri" pitchFamily="34" charset="0"/>
                          <a:ea typeface="Calibri" pitchFamily="34" charset="-122"/>
                          <a:cs typeface="Calibri" pitchFamily="34" charset="-120"/>
                        </a:rPr>
                        <a:t>MAQ-Learning</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622A"/>
                    </a:solidFill>
                  </a:tcPr>
                </a:tc>
                <a:tc hMerge="1">
                  <a:txBody>
                    <a:bodyPr/>
                    <a:lstStyle/>
                    <a:p>
                      <a:pPr marL="0" indent="0" algn="ctr">
                        <a:buNone/>
                      </a:pP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622A"/>
                    </a:solidFill>
                  </a:tcPr>
                </a:tc>
                <a:tc>
                  <a:txBody>
                    <a:bodyPr/>
                    <a:lstStyle/>
                    <a:p>
                      <a:pPr marL="0" indent="0" algn="ctr">
                        <a:buNone/>
                      </a:pPr>
                      <a:r>
                        <a:rPr lang="en-US" sz="1000" b="1" dirty="0" smtClean="0">
                          <a:solidFill>
                            <a:srgbClr val="FFFFFF"/>
                          </a:solidFill>
                          <a:latin typeface="Calibri" pitchFamily="34" charset="0"/>
                          <a:ea typeface="Calibri" pitchFamily="34" charset="-122"/>
                          <a:cs typeface="Calibri" pitchFamily="34" charset="-120"/>
                        </a:rPr>
                        <a:t>MADQN</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6E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MAPPO</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7B3FA0"/>
                    </a:solidFill>
                  </a:tcPr>
                </a:tc>
              </a:tr>
              <a:tr h="387127">
                <a:tc gridSpan="5">
                  <a:txBody>
                    <a:bodyPr/>
                    <a:lstStyle/>
                    <a:p>
                      <a:pPr marL="0" indent="0" algn="l">
                        <a:buNone/>
                      </a:pPr>
                      <a:r>
                        <a:rPr lang="en-US" sz="1000" b="1" i="1" dirty="0">
                          <a:solidFill>
                            <a:srgbClr val="FFFFFF"/>
                          </a:solidFill>
                          <a:latin typeface="Calibri" pitchFamily="34" charset="0"/>
                          <a:ea typeface="Calibri" pitchFamily="34" charset="-122"/>
                          <a:cs typeface="Calibri" pitchFamily="34" charset="-120"/>
                        </a:rPr>
                        <a:t>Travel Time Metrics (seconds)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8EA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468428">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Initial Travel Time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133.81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133.70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133.47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68428">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Best Travel Time ↓</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133.00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131.76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127.78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r>
              <a:tr h="468428">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Final Travel Time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133.92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132.71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129.21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68428">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Travel Time Improvement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0.81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1.94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b="1" dirty="0" smtClean="0">
                          <a:solidFill>
                            <a:srgbClr val="0F6E56"/>
                          </a:solidFill>
                          <a:latin typeface="Calibri" pitchFamily="34" charset="0"/>
                          <a:ea typeface="Calibri" pitchFamily="34" charset="-122"/>
                          <a:cs typeface="Calibri" pitchFamily="34" charset="-120"/>
                        </a:rPr>
                        <a:t>5.69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r>
              <a:tr h="468428">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Last-20% Avg Travel Time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133.74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132.52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129.00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592648897"/>
              </p:ext>
            </p:extLst>
          </p:nvPr>
        </p:nvGraphicFramePr>
        <p:xfrm>
          <a:off x="3016158" y="1617263"/>
          <a:ext cx="2913797" cy="3515663"/>
        </p:xfrm>
        <a:graphic>
          <a:graphicData uri="http://schemas.openxmlformats.org/drawingml/2006/table">
            <a:tbl>
              <a:tblPr/>
              <a:tblGrid>
                <a:gridCol w="880278"/>
                <a:gridCol w="133217"/>
                <a:gridCol w="633434"/>
                <a:gridCol w="633434"/>
                <a:gridCol w="633434"/>
              </a:tblGrid>
              <a:tr h="75354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45"/>
                    </a:solidFill>
                  </a:tcPr>
                </a:tc>
                <a:tc gridSpan="2">
                  <a:txBody>
                    <a:bodyPr/>
                    <a:lstStyle/>
                    <a:p>
                      <a:pPr marL="0" indent="0" algn="ctr">
                        <a:buNone/>
                      </a:pPr>
                      <a:r>
                        <a:rPr lang="en-US" sz="1000" b="1" dirty="0" smtClean="0">
                          <a:solidFill>
                            <a:srgbClr val="FFFFFF"/>
                          </a:solidFill>
                          <a:latin typeface="Calibri" pitchFamily="34" charset="0"/>
                          <a:ea typeface="Calibri" pitchFamily="34" charset="-122"/>
                          <a:cs typeface="Calibri" pitchFamily="34" charset="-120"/>
                        </a:rPr>
                        <a:t>MAQ-Learning</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622A"/>
                    </a:solidFill>
                  </a:tcPr>
                </a:tc>
                <a:tc hMerge="1">
                  <a:txBody>
                    <a:bodyPr/>
                    <a:lstStyle/>
                    <a:p>
                      <a:pPr marL="0" indent="0" algn="ctr">
                        <a:buNone/>
                      </a:pP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622A"/>
                    </a:solidFill>
                  </a:tcPr>
                </a:tc>
                <a:tc>
                  <a:txBody>
                    <a:bodyPr/>
                    <a:lstStyle/>
                    <a:p>
                      <a:pPr marL="0" indent="0" algn="ctr">
                        <a:buNone/>
                      </a:pPr>
                      <a:r>
                        <a:rPr lang="en-US" sz="1000" b="1" dirty="0" smtClean="0">
                          <a:solidFill>
                            <a:srgbClr val="FFFFFF"/>
                          </a:solidFill>
                          <a:latin typeface="Calibri" pitchFamily="34" charset="0"/>
                          <a:ea typeface="Calibri" pitchFamily="34" charset="-122"/>
                          <a:cs typeface="Calibri" pitchFamily="34" charset="-120"/>
                        </a:rPr>
                        <a:t>MADQN</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6E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MAPPO</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7B3FA0"/>
                    </a:solidFill>
                  </a:tcPr>
                </a:tc>
              </a:tr>
              <a:tr h="411259">
                <a:tc gridSpan="5">
                  <a:txBody>
                    <a:bodyPr/>
                    <a:lstStyle/>
                    <a:p>
                      <a:pPr marL="0" indent="0" algn="l">
                        <a:buNone/>
                      </a:pPr>
                      <a:r>
                        <a:rPr lang="en-US" sz="1000" b="1" i="1" dirty="0">
                          <a:solidFill>
                            <a:srgbClr val="FFFFFF"/>
                          </a:solidFill>
                          <a:latin typeface="Calibri" pitchFamily="34" charset="0"/>
                          <a:ea typeface="Calibri" pitchFamily="34" charset="-122"/>
                          <a:cs typeface="Calibri" pitchFamily="34" charset="-120"/>
                        </a:rPr>
                        <a:t>Travel Time Metrics (seconds)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8EA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428990">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Initial Travel Time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135.59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136.15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131.08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97628">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Best Travel Time ↓</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134.63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133.79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126.30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r>
              <a:tr h="428990">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Final Travel Time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135.62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134.85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132.29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97628">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Travel Time Improvement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0.96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2.36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4.78 </a:t>
                      </a:r>
                      <a:r>
                        <a:rPr lang="en-US" sz="1000" b="1" dirty="0" smtClean="0">
                          <a:solidFill>
                            <a:srgbClr val="0F6E56"/>
                          </a:solidFill>
                          <a:latin typeface="Calibri" pitchFamily="34" charset="0"/>
                          <a:ea typeface="Calibri" pitchFamily="34" charset="-122"/>
                          <a:cs typeface="Calibri" pitchFamily="34" charset="-120"/>
                        </a:rPr>
                        <a:t>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r>
              <a:tr h="497628">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Last-20% Avg Travel Time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135.56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134.56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131.77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12" name="Text 2"/>
          <p:cNvSpPr/>
          <p:nvPr/>
        </p:nvSpPr>
        <p:spPr>
          <a:xfrm>
            <a:off x="3789769" y="1156998"/>
            <a:ext cx="1423461" cy="384048"/>
          </a:xfrm>
          <a:prstGeom prst="rect">
            <a:avLst/>
          </a:prstGeom>
          <a:noFill/>
          <a:ln/>
        </p:spPr>
        <p:txBody>
          <a:bodyPr wrap="square" lIns="0" tIns="0" rIns="0" bIns="0" rtlCol="0" anchor="ctr"/>
          <a:lstStyle/>
          <a:p>
            <a:r>
              <a:rPr lang="en-US" sz="1100" b="1" dirty="0" smtClean="0">
                <a:solidFill>
                  <a:srgbClr val="0D2B45"/>
                </a:solidFill>
                <a:latin typeface="Calibri" pitchFamily="34" charset="0"/>
                <a:ea typeface="Calibri" pitchFamily="34" charset="-122"/>
                <a:cs typeface="Calibri" pitchFamily="34" charset="-120"/>
              </a:rPr>
              <a:t>Medium Traffic </a:t>
            </a:r>
            <a:r>
              <a:rPr lang="en-US" sz="1100" b="1" dirty="0">
                <a:solidFill>
                  <a:srgbClr val="0D2B45"/>
                </a:solidFill>
                <a:latin typeface="Calibri" pitchFamily="34" charset="0"/>
                <a:ea typeface="Calibri" pitchFamily="34" charset="-122"/>
                <a:cs typeface="Calibri" pitchFamily="34" charset="-120"/>
              </a:rPr>
              <a:t>Density</a:t>
            </a:r>
            <a:endParaRPr lang="en-US" sz="1100" dirty="0"/>
          </a:p>
        </p:txBody>
      </p:sp>
      <p:sp>
        <p:nvSpPr>
          <p:cNvPr id="13" name="Text 2"/>
          <p:cNvSpPr/>
          <p:nvPr/>
        </p:nvSpPr>
        <p:spPr>
          <a:xfrm>
            <a:off x="7119609" y="1166920"/>
            <a:ext cx="1423461" cy="384048"/>
          </a:xfrm>
          <a:prstGeom prst="rect">
            <a:avLst/>
          </a:prstGeom>
          <a:noFill/>
          <a:ln/>
        </p:spPr>
        <p:txBody>
          <a:bodyPr wrap="square" lIns="0" tIns="0" rIns="0" bIns="0" rtlCol="0" anchor="ctr"/>
          <a:lstStyle/>
          <a:p>
            <a:r>
              <a:rPr lang="en-US" sz="1100" b="1" dirty="0" smtClean="0">
                <a:solidFill>
                  <a:srgbClr val="0D2B45"/>
                </a:solidFill>
                <a:latin typeface="Calibri" pitchFamily="34" charset="0"/>
                <a:ea typeface="Calibri" pitchFamily="34" charset="-122"/>
                <a:cs typeface="Calibri" pitchFamily="34" charset="-120"/>
              </a:rPr>
              <a:t>High Traffic </a:t>
            </a:r>
            <a:r>
              <a:rPr lang="en-US" sz="1100" b="1" dirty="0">
                <a:solidFill>
                  <a:srgbClr val="0D2B45"/>
                </a:solidFill>
                <a:latin typeface="Calibri" pitchFamily="34" charset="0"/>
                <a:ea typeface="Calibri" pitchFamily="34" charset="-122"/>
                <a:cs typeface="Calibri" pitchFamily="34" charset="-120"/>
              </a:rPr>
              <a:t>Density</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2269615995"/>
              </p:ext>
            </p:extLst>
          </p:nvPr>
        </p:nvGraphicFramePr>
        <p:xfrm>
          <a:off x="6114197" y="1624086"/>
          <a:ext cx="3029800" cy="3507188"/>
        </p:xfrm>
        <a:graphic>
          <a:graphicData uri="http://schemas.openxmlformats.org/drawingml/2006/table">
            <a:tbl>
              <a:tblPr/>
              <a:tblGrid>
                <a:gridCol w="900752"/>
                <a:gridCol w="153092"/>
                <a:gridCol w="658652"/>
                <a:gridCol w="658652"/>
                <a:gridCol w="658652"/>
              </a:tblGrid>
              <a:tr h="72308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45"/>
                    </a:solidFill>
                  </a:tcPr>
                </a:tc>
                <a:tc gridSpan="2">
                  <a:txBody>
                    <a:bodyPr/>
                    <a:lstStyle/>
                    <a:p>
                      <a:pPr marL="0" indent="0" algn="ctr">
                        <a:buNone/>
                      </a:pPr>
                      <a:r>
                        <a:rPr lang="en-US" sz="1000" b="1" dirty="0" smtClean="0">
                          <a:solidFill>
                            <a:srgbClr val="FFFFFF"/>
                          </a:solidFill>
                          <a:latin typeface="Calibri" pitchFamily="34" charset="0"/>
                          <a:ea typeface="Calibri" pitchFamily="34" charset="-122"/>
                          <a:cs typeface="Calibri" pitchFamily="34" charset="-120"/>
                        </a:rPr>
                        <a:t>MAQ-Learning</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622A"/>
                    </a:solidFill>
                  </a:tcPr>
                </a:tc>
                <a:tc hMerge="1">
                  <a:txBody>
                    <a:bodyPr/>
                    <a:lstStyle/>
                    <a:p>
                      <a:pPr marL="0" indent="0" algn="ctr">
                        <a:buNone/>
                      </a:pP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622A"/>
                    </a:solidFill>
                  </a:tcPr>
                </a:tc>
                <a:tc>
                  <a:txBody>
                    <a:bodyPr/>
                    <a:lstStyle/>
                    <a:p>
                      <a:pPr marL="0" indent="0" algn="ctr">
                        <a:buNone/>
                      </a:pPr>
                      <a:r>
                        <a:rPr lang="en-US" sz="1000" b="1" dirty="0" smtClean="0">
                          <a:solidFill>
                            <a:srgbClr val="FFFFFF"/>
                          </a:solidFill>
                          <a:latin typeface="Calibri" pitchFamily="34" charset="0"/>
                          <a:ea typeface="Calibri" pitchFamily="34" charset="-122"/>
                          <a:cs typeface="Calibri" pitchFamily="34" charset="-120"/>
                        </a:rPr>
                        <a:t>MADQN</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6E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MAPPO</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7B3FA0"/>
                    </a:solidFill>
                  </a:tcPr>
                </a:tc>
              </a:tr>
              <a:tr h="426105">
                <a:tc gridSpan="5">
                  <a:txBody>
                    <a:bodyPr/>
                    <a:lstStyle/>
                    <a:p>
                      <a:pPr marL="0" indent="0" algn="l">
                        <a:buNone/>
                      </a:pPr>
                      <a:r>
                        <a:rPr lang="en-US" sz="1000" b="1" i="1" dirty="0">
                          <a:solidFill>
                            <a:srgbClr val="FFFFFF"/>
                          </a:solidFill>
                          <a:latin typeface="Calibri" pitchFamily="34" charset="0"/>
                          <a:ea typeface="Calibri" pitchFamily="34" charset="-122"/>
                          <a:cs typeface="Calibri" pitchFamily="34" charset="-120"/>
                        </a:rPr>
                        <a:t>Travel Time Metrics (seconds)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8EA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471599">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Initial Travel Time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138.13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137.90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126.70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71599">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Best Travel Time ↓</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hMerge="1">
                  <a:txBody>
                    <a:bodyPr/>
                    <a:lstStyle/>
                    <a:p>
                      <a:endParaRPr lang="en-US"/>
                    </a:p>
                  </a:txBody>
                  <a:tcPr/>
                </a:tc>
                <a:tc>
                  <a:txBody>
                    <a:bodyPr/>
                    <a:lstStyle/>
                    <a:p>
                      <a:pPr marL="0" indent="0" algn="ctr">
                        <a:buNone/>
                      </a:pPr>
                      <a:r>
                        <a:rPr lang="en-US" sz="1000" dirty="0" smtClean="0">
                          <a:solidFill>
                            <a:srgbClr val="333333"/>
                          </a:solidFill>
                          <a:latin typeface="Calibri" pitchFamily="34" charset="0"/>
                          <a:ea typeface="Calibri" pitchFamily="34" charset="-122"/>
                          <a:cs typeface="Calibri" pitchFamily="34" charset="-120"/>
                        </a:rPr>
                        <a:t>137.94 </a:t>
                      </a:r>
                      <a:r>
                        <a:rPr lang="en-US" sz="1000" dirty="0">
                          <a:solidFill>
                            <a:srgbClr val="333333"/>
                          </a:solidFill>
                          <a:latin typeface="Calibri" pitchFamily="34" charset="0"/>
                          <a:ea typeface="Calibri" pitchFamily="34" charset="-122"/>
                          <a:cs typeface="Calibri" pitchFamily="34" charset="-120"/>
                        </a:rPr>
                        <a:t>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137.10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b="1" dirty="0" smtClean="0">
                          <a:solidFill>
                            <a:srgbClr val="0F6E56"/>
                          </a:solidFill>
                          <a:latin typeface="Calibri" pitchFamily="34" charset="0"/>
                          <a:ea typeface="Calibri" pitchFamily="34" charset="-122"/>
                          <a:cs typeface="Calibri" pitchFamily="34" charset="-120"/>
                        </a:rPr>
                        <a:t>125.51 </a:t>
                      </a:r>
                      <a:r>
                        <a:rPr lang="en-US" sz="1000" b="1" dirty="0">
                          <a:solidFill>
                            <a:srgbClr val="0F6E56"/>
                          </a:solidFill>
                          <a:latin typeface="Calibri" pitchFamily="34" charset="0"/>
                          <a:ea typeface="Calibri" pitchFamily="34" charset="-122"/>
                          <a:cs typeface="Calibri" pitchFamily="34" charset="-120"/>
                        </a:rPr>
                        <a:t>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r>
              <a:tr h="471599">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Final Travel Time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137.72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137.90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F6E56"/>
                          </a:solidFill>
                          <a:latin typeface="Calibri" pitchFamily="34" charset="0"/>
                          <a:ea typeface="Calibri" pitchFamily="34" charset="-122"/>
                          <a:cs typeface="Calibri" pitchFamily="34" charset="-120"/>
                        </a:rPr>
                        <a:t>128.30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71599">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Travel Time Improvement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hMerge="1">
                  <a:txBody>
                    <a:bodyPr/>
                    <a:lstStyle/>
                    <a:p>
                      <a:endParaRPr lang="en-US"/>
                    </a:p>
                  </a:txBody>
                  <a:tcPr/>
                </a:tc>
                <a:tc>
                  <a:txBody>
                    <a:bodyPr/>
                    <a:lstStyle/>
                    <a:p>
                      <a:pPr marL="0" indent="0" algn="ctr">
                        <a:buNone/>
                      </a:pPr>
                      <a:r>
                        <a:rPr lang="en-US" sz="1000" b="0" dirty="0" smtClean="0">
                          <a:solidFill>
                            <a:schemeClr val="tx1"/>
                          </a:solidFill>
                          <a:latin typeface="Calibri" pitchFamily="34" charset="0"/>
                          <a:ea typeface="Calibri" pitchFamily="34" charset="-122"/>
                          <a:cs typeface="Calibri" pitchFamily="34" charset="-120"/>
                        </a:rPr>
                        <a:t>0.19 s</a:t>
                      </a:r>
                      <a:endParaRPr lang="en-US" sz="1000" b="0" dirty="0">
                        <a:solidFill>
                          <a:schemeClr val="tx1"/>
                        </a:solidFill>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0.80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smtClean="0">
                          <a:solidFill>
                            <a:srgbClr val="0F6E56"/>
                          </a:solidFill>
                          <a:latin typeface="Calibri" pitchFamily="34" charset="0"/>
                          <a:ea typeface="Calibri" pitchFamily="34" charset="-122"/>
                          <a:cs typeface="Calibri" pitchFamily="34" charset="-120"/>
                        </a:rPr>
                        <a:t>1.19 s*</a:t>
                      </a:r>
                      <a:endParaRPr lang="en-US" sz="1000" dirty="0" smtClean="0">
                        <a:latin typeface="Calibri" charset="0"/>
                        <a:ea typeface="Calibri" charset="0"/>
                        <a:cs typeface="Calibri" charset="0"/>
                      </a:endParaRPr>
                    </a:p>
                    <a:p>
                      <a:pPr marL="0" indent="0" algn="ctr">
                        <a:buNone/>
                      </a:pP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7F9FC"/>
                    </a:solidFill>
                  </a:tcPr>
                </a:tc>
              </a:tr>
              <a:tr h="471599">
                <a:tc gridSpan="2">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Last-20% Avg Travel Time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137.94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137.54 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b="1" dirty="0" smtClean="0">
                          <a:solidFill>
                            <a:srgbClr val="0F6E56"/>
                          </a:solidFill>
                          <a:latin typeface="Calibri" pitchFamily="34" charset="0"/>
                          <a:ea typeface="Calibri" pitchFamily="34" charset="-122"/>
                          <a:cs typeface="Calibri" pitchFamily="34" charset="-120"/>
                        </a:rPr>
                        <a:t>126.30 </a:t>
                      </a:r>
                      <a:r>
                        <a:rPr lang="en-US" sz="1000" b="1" dirty="0">
                          <a:solidFill>
                            <a:srgbClr val="0F6E56"/>
                          </a:solidFill>
                          <a:latin typeface="Calibri" pitchFamily="34" charset="0"/>
                          <a:ea typeface="Calibri" pitchFamily="34" charset="-122"/>
                          <a:cs typeface="Calibri" pitchFamily="34" charset="-120"/>
                        </a:rPr>
                        <a:t>s </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42170189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412480" cy="658368"/>
          </a:xfrm>
          <a:prstGeom prst="rect">
            <a:avLst/>
          </a:prstGeom>
          <a:noFill/>
          <a:ln/>
        </p:spPr>
        <p:txBody>
          <a:bodyPr wrap="square" rtlCol="0" anchor="ctr"/>
          <a:lstStyle/>
          <a:p>
            <a:pPr marL="0" indent="0">
              <a:buNone/>
            </a:pPr>
            <a:endParaRPr lang="en-US" sz="1000" dirty="0"/>
          </a:p>
        </p:txBody>
      </p:sp>
      <p:sp>
        <p:nvSpPr>
          <p:cNvPr id="4" name="Text 2"/>
          <p:cNvSpPr/>
          <p:nvPr/>
        </p:nvSpPr>
        <p:spPr>
          <a:xfrm>
            <a:off x="93715" y="812442"/>
            <a:ext cx="2213667" cy="384048"/>
          </a:xfrm>
          <a:prstGeom prst="rect">
            <a:avLst/>
          </a:prstGeom>
          <a:noFill/>
          <a:ln/>
        </p:spPr>
        <p:txBody>
          <a:bodyPr wrap="square" lIns="0" tIns="0" rIns="0" bIns="0" rtlCol="0" anchor="ctr"/>
          <a:lstStyle/>
          <a:p>
            <a:pPr marL="0" indent="0">
              <a:buNone/>
            </a:pPr>
            <a:r>
              <a:rPr lang="en-US" sz="1900" b="1" dirty="0" smtClean="0">
                <a:solidFill>
                  <a:srgbClr val="0070C0"/>
                </a:solidFill>
              </a:rPr>
              <a:t>Research Objectives:</a:t>
            </a:r>
            <a:endParaRPr lang="en-US" sz="1900" dirty="0">
              <a:solidFill>
                <a:srgbClr val="0070C0"/>
              </a:solidFill>
            </a:endParaRPr>
          </a:p>
        </p:txBody>
      </p:sp>
      <p:sp>
        <p:nvSpPr>
          <p:cNvPr id="29" name="Shape 27"/>
          <p:cNvSpPr/>
          <p:nvPr/>
        </p:nvSpPr>
        <p:spPr>
          <a:xfrm>
            <a:off x="3412" y="-2353"/>
            <a:ext cx="9133764" cy="685800"/>
          </a:xfrm>
          <a:prstGeom prst="rect">
            <a:avLst/>
          </a:prstGeom>
          <a:solidFill>
            <a:srgbClr val="7B2D8B">
              <a:alpha val="90000"/>
            </a:srgbClr>
          </a:solidFill>
          <a:ln w="12700">
            <a:solidFill>
              <a:srgbClr val="7B2D8B"/>
            </a:solidFill>
            <a:prstDash val="solid"/>
          </a:ln>
          <a:effectLst>
            <a:outerShdw blurRad="101600" dist="38100" dir="8100000" algn="bl" rotWithShape="0">
              <a:srgbClr val="000000">
                <a:alpha val="18000"/>
              </a:srgbClr>
            </a:outerShdw>
          </a:effectLst>
        </p:spPr>
      </p:sp>
      <p:sp>
        <p:nvSpPr>
          <p:cNvPr id="30" name="Text 28"/>
          <p:cNvSpPr/>
          <p:nvPr/>
        </p:nvSpPr>
        <p:spPr>
          <a:xfrm>
            <a:off x="238836" y="43367"/>
            <a:ext cx="8791858" cy="594360"/>
          </a:xfrm>
          <a:prstGeom prst="rect">
            <a:avLst/>
          </a:prstGeom>
          <a:noFill/>
          <a:ln/>
        </p:spPr>
        <p:txBody>
          <a:bodyPr wrap="square" lIns="0" tIns="0" rIns="0" bIns="0" rtlCol="0" anchor="ctr"/>
          <a:lstStyle/>
          <a:p>
            <a:pPr marL="0" indent="0">
              <a:buNone/>
            </a:pPr>
            <a:r>
              <a:rPr lang="en-US" sz="1500" dirty="0">
                <a:solidFill>
                  <a:srgbClr val="FFFFFF"/>
                </a:solidFill>
              </a:rPr>
              <a:t>🏆  Predicted Best Model:  </a:t>
            </a:r>
            <a:r>
              <a:rPr lang="en-US" sz="1500" b="1" dirty="0" smtClean="0">
                <a:solidFill>
                  <a:srgbClr val="F4A261"/>
                </a:solidFill>
              </a:rPr>
              <a:t>GCN-MAPPO</a:t>
            </a:r>
            <a:r>
              <a:rPr lang="en-US" sz="1100" i="1" dirty="0" smtClean="0">
                <a:solidFill>
                  <a:srgbClr val="DDD8D8"/>
                </a:solidFill>
              </a:rPr>
              <a:t>  </a:t>
            </a:r>
            <a:endParaRPr lang="en-US" sz="1500" dirty="0"/>
          </a:p>
        </p:txBody>
      </p:sp>
      <p:sp>
        <p:nvSpPr>
          <p:cNvPr id="34" name="Text 32"/>
          <p:cNvSpPr/>
          <p:nvPr/>
        </p:nvSpPr>
        <p:spPr>
          <a:xfrm>
            <a:off x="442158" y="1467201"/>
            <a:ext cx="8588536" cy="1323767"/>
          </a:xfrm>
          <a:prstGeom prst="rect">
            <a:avLst/>
          </a:prstGeom>
          <a:noFill/>
          <a:ln/>
        </p:spPr>
        <p:txBody>
          <a:bodyPr wrap="square" lIns="0" tIns="0" rIns="0" bIns="0" rtlCol="0" anchor="ctr"/>
          <a:lstStyle/>
          <a:p>
            <a:r>
              <a:rPr lang="en-US" sz="1100" b="1" dirty="0"/>
              <a:t>O1</a:t>
            </a:r>
            <a:r>
              <a:rPr lang="en-US" sz="1100" dirty="0"/>
              <a:t>: </a:t>
            </a:r>
            <a:r>
              <a:rPr lang="en-US" sz="1100" b="1" dirty="0"/>
              <a:t>Evaluate traffic efficiency and travel time Results</a:t>
            </a:r>
            <a:r>
              <a:rPr lang="en-US" sz="1100" dirty="0"/>
              <a:t> are measured using key metrics such as average vehicle waiting time, queue length, and throughput at intersections. MAPPO consistently records the lowest waiting times and highest throughput, followed by MADQN, then </a:t>
            </a:r>
            <a:r>
              <a:rPr lang="en-US" sz="1100" dirty="0" smtClean="0"/>
              <a:t>MAQL</a:t>
            </a:r>
          </a:p>
          <a:p>
            <a:endParaRPr lang="en-US" sz="1100" dirty="0" smtClean="0"/>
          </a:p>
          <a:p>
            <a:r>
              <a:rPr lang="en-US" sz="1100" b="1" dirty="0"/>
              <a:t>O2: Assess adaptability across traffic densities</a:t>
            </a:r>
            <a:r>
              <a:rPr lang="en-US" sz="1100" dirty="0"/>
              <a:t> MAPPO demonstrates the strongest adaptability, maintaining  </a:t>
            </a:r>
            <a:r>
              <a:rPr lang="en-US" sz="1100" dirty="0" smtClean="0"/>
              <a:t>stable </a:t>
            </a:r>
            <a:r>
              <a:rPr lang="en-US" sz="1100" dirty="0"/>
              <a:t>performance even under Peak traffic. MADQN shows moderate adaptability, while MAQL's performance drops noticeably as traffic density increases due to its limited state representation</a:t>
            </a:r>
            <a:r>
              <a:rPr lang="en-US" sz="1100" dirty="0" smtClean="0"/>
              <a:t>.</a:t>
            </a:r>
          </a:p>
          <a:p>
            <a:endParaRPr lang="en-US" sz="1100" dirty="0"/>
          </a:p>
          <a:p>
            <a:r>
              <a:rPr lang="en-US" sz="1100" b="1" dirty="0"/>
              <a:t>O3: Identify the best RL model for TSC</a:t>
            </a:r>
            <a:r>
              <a:rPr lang="en-US" sz="1100" dirty="0"/>
              <a:t> Across all evaluation criteria, MAPPO is identified as the most suitable algorithm for Traffic Signal Control, offering the best balance of stability, efficiency, and scalability in a multi-agent urban traffic environment.</a:t>
            </a:r>
          </a:p>
          <a:p>
            <a:endParaRPr lang="en-US" sz="1100" dirty="0"/>
          </a:p>
        </p:txBody>
      </p:sp>
      <p:sp>
        <p:nvSpPr>
          <p:cNvPr id="47" name="Text 32"/>
          <p:cNvSpPr/>
          <p:nvPr/>
        </p:nvSpPr>
        <p:spPr>
          <a:xfrm>
            <a:off x="260103" y="3517513"/>
            <a:ext cx="8620381" cy="1439499"/>
          </a:xfrm>
          <a:prstGeom prst="rect">
            <a:avLst/>
          </a:prstGeom>
          <a:noFill/>
          <a:ln/>
        </p:spPr>
        <p:txBody>
          <a:bodyPr wrap="square" lIns="0" tIns="0" rIns="0" bIns="0" rtlCol="0" anchor="ctr"/>
          <a:lstStyle/>
          <a:p>
            <a:r>
              <a:rPr lang="en-US" sz="1100" b="1" dirty="0"/>
              <a:t>RQ1: Results from the comparison</a:t>
            </a:r>
            <a:r>
              <a:rPr lang="en-US" sz="1100" dirty="0"/>
              <a:t> MAPPO achieves the best overall performance, MADQN performs moderately, and MAQL works adequately only in low-density scenarios</a:t>
            </a:r>
            <a:r>
              <a:rPr lang="en-US" sz="1100" dirty="0" smtClean="0"/>
              <a:t>.</a:t>
            </a:r>
          </a:p>
          <a:p>
            <a:endParaRPr lang="en-US" sz="1100" dirty="0"/>
          </a:p>
          <a:p>
            <a:r>
              <a:rPr lang="en-US" sz="1100" b="1" dirty="0"/>
              <a:t>RQ2: How models make the system adaptive</a:t>
            </a:r>
            <a:r>
              <a:rPr lang="en-US" sz="1100" dirty="0"/>
              <a:t> MAQL adapts via Q-table updates, MADQN through neural network generalization, and MAPPO through cooperative centralized training with decentralized execution (CTDE</a:t>
            </a:r>
            <a:r>
              <a:rPr lang="en-US" sz="1100" dirty="0" smtClean="0"/>
              <a:t>).</a:t>
            </a:r>
          </a:p>
          <a:p>
            <a:endParaRPr lang="en-US" sz="1100" dirty="0"/>
          </a:p>
          <a:p>
            <a:r>
              <a:rPr lang="en-US" sz="1100" b="1" dirty="0"/>
              <a:t>RQ3: Best model for RL in TSC</a:t>
            </a:r>
            <a:r>
              <a:rPr lang="en-US" sz="1100" dirty="0"/>
              <a:t> MAPPO is the best-performing model, consistently outperforming the other two across all traffic densities and evaluation metrics.</a:t>
            </a:r>
          </a:p>
        </p:txBody>
      </p:sp>
      <p:sp>
        <p:nvSpPr>
          <p:cNvPr id="48" name="Text 2"/>
          <p:cNvSpPr/>
          <p:nvPr/>
        </p:nvSpPr>
        <p:spPr>
          <a:xfrm>
            <a:off x="93715" y="3061679"/>
            <a:ext cx="2213667" cy="384048"/>
          </a:xfrm>
          <a:prstGeom prst="rect">
            <a:avLst/>
          </a:prstGeom>
          <a:noFill/>
          <a:ln/>
        </p:spPr>
        <p:txBody>
          <a:bodyPr wrap="square" lIns="0" tIns="0" rIns="0" bIns="0" rtlCol="0" anchor="ctr"/>
          <a:lstStyle/>
          <a:p>
            <a:pPr marL="0" indent="0">
              <a:buNone/>
            </a:pPr>
            <a:r>
              <a:rPr lang="en-US" sz="1900" b="1" dirty="0" smtClean="0">
                <a:solidFill>
                  <a:srgbClr val="0070C0"/>
                </a:solidFill>
              </a:rPr>
              <a:t>Research Questions:</a:t>
            </a:r>
            <a:endParaRPr lang="en-US" sz="1900" dirty="0">
              <a:solidFill>
                <a:srgbClr val="0070C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65760" y="2355876"/>
            <a:ext cx="8412480" cy="658368"/>
          </a:xfrm>
          <a:prstGeom prst="rect">
            <a:avLst/>
          </a:prstGeom>
          <a:noFill/>
          <a:ln/>
        </p:spPr>
        <p:txBody>
          <a:bodyPr wrap="square" rtlCol="0" anchor="ctr"/>
          <a:lstStyle/>
          <a:p>
            <a:r>
              <a:rPr lang="en-US" sz="1100" b="1" dirty="0" smtClean="0"/>
              <a:t>S1</a:t>
            </a:r>
            <a:r>
              <a:rPr lang="en-US" sz="1100" b="1" dirty="0"/>
              <a:t>: ATSC using MARL</a:t>
            </a:r>
            <a:r>
              <a:rPr lang="en-US" sz="1100" dirty="0"/>
              <a:t> This research investigates Adaptive Traffic Signal Control (ATSC) by applying Multi-Agent Reinforcement Learning (MARL), where each intersection in the network is treated as an independent agent that learns to optimize signal timings through interaction with the environment</a:t>
            </a:r>
            <a:r>
              <a:rPr lang="en-US" sz="1100" dirty="0" smtClean="0"/>
              <a:t>.</a:t>
            </a:r>
          </a:p>
          <a:p>
            <a:endParaRPr lang="en-US" sz="1100" dirty="0"/>
          </a:p>
          <a:p>
            <a:r>
              <a:rPr lang="en-US" sz="1100" b="1" dirty="0"/>
              <a:t>S2: Three RL </a:t>
            </a:r>
            <a:r>
              <a:rPr lang="en-US" sz="1100" b="1" dirty="0" smtClean="0"/>
              <a:t>algorithms, MAQL</a:t>
            </a:r>
            <a:r>
              <a:rPr lang="en-US" sz="1100" b="1" dirty="0"/>
              <a:t>, MADQN, MAPPO</a:t>
            </a:r>
            <a:r>
              <a:rPr lang="en-US" sz="1100" dirty="0"/>
              <a:t> The study implements and compares three MARL-based algorithms. MAQL extends classical Q-Learning to a multi-agent setting, MADQN scales DQN using deep networks for state representation, and MAPPO adapts PPO's stable policy gradient approach for cooperative multi-agent control</a:t>
            </a:r>
            <a:r>
              <a:rPr lang="en-US" sz="1100" dirty="0" smtClean="0"/>
              <a:t>.</a:t>
            </a:r>
          </a:p>
          <a:p>
            <a:endParaRPr lang="en-US" sz="1100" dirty="0"/>
          </a:p>
          <a:p>
            <a:r>
              <a:rPr lang="en-US" sz="1100" b="1" dirty="0"/>
              <a:t>S3: 4×4 SUMO Grid replicating Manhattan</a:t>
            </a:r>
            <a:r>
              <a:rPr lang="en-US" sz="1100" dirty="0"/>
              <a:t> The simulation environment is built in SUMO, configured as a 4×4 intersection grid modeled after Manhattan's urban road layout, providing a realistic and reproducible </a:t>
            </a:r>
            <a:r>
              <a:rPr lang="en-US" sz="1100" dirty="0" smtClean="0"/>
              <a:t>test bed </a:t>
            </a:r>
            <a:r>
              <a:rPr lang="en-US" sz="1100" dirty="0"/>
              <a:t>for evaluating all three algorithms under controlled conditions</a:t>
            </a:r>
            <a:r>
              <a:rPr lang="en-US" sz="1100" dirty="0" smtClean="0"/>
              <a:t>.</a:t>
            </a:r>
          </a:p>
          <a:p>
            <a:endParaRPr lang="en-US" sz="1100" dirty="0"/>
          </a:p>
          <a:p>
            <a:r>
              <a:rPr lang="en-US" sz="1100" b="1" dirty="0"/>
              <a:t>S4: Comparison across Off-Peak, Medium, and Peak traffic densities</a:t>
            </a:r>
            <a:r>
              <a:rPr lang="en-US" sz="1100" dirty="0"/>
              <a:t> Each algorithm is evaluated under three distinct traffic load scenarios to assess not just peak performance but also consistency and adaptability across varying real-world conditions.</a:t>
            </a:r>
          </a:p>
        </p:txBody>
      </p:sp>
      <p:sp>
        <p:nvSpPr>
          <p:cNvPr id="4" name="Text 2"/>
          <p:cNvSpPr/>
          <p:nvPr/>
        </p:nvSpPr>
        <p:spPr>
          <a:xfrm>
            <a:off x="242931" y="1009116"/>
            <a:ext cx="8412480" cy="384048"/>
          </a:xfrm>
          <a:prstGeom prst="rect">
            <a:avLst/>
          </a:prstGeom>
          <a:noFill/>
          <a:ln/>
        </p:spPr>
        <p:txBody>
          <a:bodyPr wrap="square" lIns="0" tIns="0" rIns="0" bIns="0" rtlCol="0" anchor="ctr"/>
          <a:lstStyle/>
          <a:p>
            <a:r>
              <a:rPr lang="en-US" sz="2000" b="1" dirty="0">
                <a:solidFill>
                  <a:srgbClr val="0070C0"/>
                </a:solidFill>
              </a:rPr>
              <a:t>Research Scope:</a:t>
            </a:r>
            <a:endParaRPr lang="en-US" sz="2000" dirty="0">
              <a:solidFill>
                <a:srgbClr val="0070C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6858000" y="2286000"/>
            <a:ext cx="4572000" cy="4572000"/>
          </a:xfrm>
          <a:prstGeom prst="ellipse">
            <a:avLst/>
          </a:prstGeom>
          <a:solidFill>
            <a:srgbClr val="1282A2">
              <a:alpha val="12000"/>
            </a:srgbClr>
          </a:solidFill>
          <a:ln w="12700">
            <a:solidFill>
              <a:srgbClr val="1282A2">
                <a:alpha val="20000"/>
              </a:srgbClr>
            </a:solidFill>
            <a:prstDash val="solid"/>
          </a:ln>
        </p:spPr>
      </p:sp>
      <p:sp>
        <p:nvSpPr>
          <p:cNvPr id="3" name="Shape 1"/>
          <p:cNvSpPr/>
          <p:nvPr/>
        </p:nvSpPr>
        <p:spPr>
          <a:xfrm>
            <a:off x="0" y="0"/>
            <a:ext cx="201168" cy="5143500"/>
          </a:xfrm>
          <a:prstGeom prst="rect">
            <a:avLst/>
          </a:prstGeom>
          <a:solidFill>
            <a:srgbClr val="0ACDAB"/>
          </a:solidFill>
          <a:ln w="12700">
            <a:solidFill>
              <a:srgbClr val="0ACDAB"/>
            </a:solidFill>
            <a:prstDash val="solid"/>
          </a:ln>
        </p:spPr>
      </p:sp>
      <p:sp>
        <p:nvSpPr>
          <p:cNvPr id="4" name="Text 2"/>
          <p:cNvSpPr/>
          <p:nvPr/>
        </p:nvSpPr>
        <p:spPr>
          <a:xfrm>
            <a:off x="411480" y="274320"/>
            <a:ext cx="8229600" cy="292608"/>
          </a:xfrm>
          <a:prstGeom prst="rect">
            <a:avLst/>
          </a:prstGeom>
          <a:noFill/>
          <a:ln/>
        </p:spPr>
        <p:txBody>
          <a:bodyPr wrap="square" rtlCol="0" anchor="ctr"/>
          <a:lstStyle/>
          <a:p>
            <a:pPr marL="0" indent="0" algn="l">
              <a:buNone/>
            </a:pPr>
            <a:r>
              <a:rPr lang="en-US" sz="900" b="1" kern="0" spc="300" dirty="0">
                <a:solidFill>
                  <a:srgbClr val="0ACDAB"/>
                </a:solidFill>
              </a:rPr>
              <a:t>CONCLUSION  &amp;  FUTURE WORK</a:t>
            </a:r>
            <a:endParaRPr lang="en-US" sz="900" dirty="0"/>
          </a:p>
        </p:txBody>
      </p:sp>
      <p:sp>
        <p:nvSpPr>
          <p:cNvPr id="5" name="Text 3"/>
          <p:cNvSpPr/>
          <p:nvPr/>
        </p:nvSpPr>
        <p:spPr>
          <a:xfrm>
            <a:off x="411480" y="621792"/>
            <a:ext cx="6858000" cy="594360"/>
          </a:xfrm>
          <a:prstGeom prst="rect">
            <a:avLst/>
          </a:prstGeom>
          <a:noFill/>
          <a:ln/>
        </p:spPr>
        <p:txBody>
          <a:bodyPr wrap="square" rtlCol="0" anchor="ctr"/>
          <a:lstStyle/>
          <a:p>
            <a:pPr marL="0" indent="0" algn="l">
              <a:buNone/>
            </a:pPr>
            <a:r>
              <a:rPr lang="en-US" sz="2600" b="1" dirty="0">
                <a:solidFill>
                  <a:srgbClr val="FFFFFF"/>
                </a:solidFill>
              </a:rPr>
              <a:t>Summary &amp; Next Steps</a:t>
            </a:r>
            <a:endParaRPr lang="en-US" sz="2600" dirty="0"/>
          </a:p>
        </p:txBody>
      </p:sp>
      <p:sp>
        <p:nvSpPr>
          <p:cNvPr id="6" name="Shape 4"/>
          <p:cNvSpPr/>
          <p:nvPr/>
        </p:nvSpPr>
        <p:spPr>
          <a:xfrm>
            <a:off x="411480" y="1371600"/>
            <a:ext cx="201168" cy="201168"/>
          </a:xfrm>
          <a:prstGeom prst="ellipse">
            <a:avLst/>
          </a:prstGeom>
          <a:solidFill>
            <a:srgbClr val="0ACDAB"/>
          </a:solidFill>
          <a:ln w="12700">
            <a:solidFill>
              <a:srgbClr val="0ACDAB"/>
            </a:solidFill>
            <a:prstDash val="solid"/>
          </a:ln>
        </p:spPr>
      </p:sp>
      <p:sp>
        <p:nvSpPr>
          <p:cNvPr id="7" name="Text 5"/>
          <p:cNvSpPr/>
          <p:nvPr/>
        </p:nvSpPr>
        <p:spPr>
          <a:xfrm>
            <a:off x="731520" y="1284380"/>
            <a:ext cx="6759526" cy="384048"/>
          </a:xfrm>
          <a:prstGeom prst="rect">
            <a:avLst/>
          </a:prstGeom>
          <a:noFill/>
          <a:ln/>
        </p:spPr>
        <p:txBody>
          <a:bodyPr wrap="square" lIns="0" tIns="0" rIns="0" bIns="0" rtlCol="0" anchor="ctr"/>
          <a:lstStyle/>
          <a:p>
            <a:pPr marL="0" indent="0">
              <a:buNone/>
            </a:pPr>
            <a:r>
              <a:rPr lang="en-US" sz="1100" dirty="0">
                <a:solidFill>
                  <a:srgbClr val="FFFFFF"/>
                </a:solidFill>
              </a:rPr>
              <a:t>GCN-MA framework successfully integrates graph-based spatial encoding with multi-agent RL for traffic signal control</a:t>
            </a:r>
            <a:endParaRPr lang="en-US" sz="1100" dirty="0"/>
          </a:p>
        </p:txBody>
      </p:sp>
      <p:sp>
        <p:nvSpPr>
          <p:cNvPr id="8" name="Shape 6"/>
          <p:cNvSpPr/>
          <p:nvPr/>
        </p:nvSpPr>
        <p:spPr>
          <a:xfrm>
            <a:off x="411480" y="1874520"/>
            <a:ext cx="201168" cy="201168"/>
          </a:xfrm>
          <a:prstGeom prst="ellipse">
            <a:avLst/>
          </a:prstGeom>
          <a:solidFill>
            <a:srgbClr val="0ACDAB"/>
          </a:solidFill>
          <a:ln w="12700">
            <a:solidFill>
              <a:srgbClr val="0ACDAB"/>
            </a:solidFill>
            <a:prstDash val="solid"/>
          </a:ln>
        </p:spPr>
      </p:sp>
      <p:sp>
        <p:nvSpPr>
          <p:cNvPr id="9" name="Text 7"/>
          <p:cNvSpPr/>
          <p:nvPr/>
        </p:nvSpPr>
        <p:spPr>
          <a:xfrm>
            <a:off x="731519" y="1778156"/>
            <a:ext cx="6344529" cy="384048"/>
          </a:xfrm>
          <a:prstGeom prst="rect">
            <a:avLst/>
          </a:prstGeom>
          <a:noFill/>
          <a:ln/>
        </p:spPr>
        <p:txBody>
          <a:bodyPr wrap="square" lIns="0" tIns="0" rIns="0" bIns="0" rtlCol="0" anchor="ctr"/>
          <a:lstStyle/>
          <a:p>
            <a:pPr marL="0" indent="0">
              <a:buNone/>
            </a:pPr>
            <a:r>
              <a:rPr lang="en-US" sz="1100" dirty="0">
                <a:solidFill>
                  <a:srgbClr val="FFFFFF"/>
                </a:solidFill>
              </a:rPr>
              <a:t>Three algorithms (DQN, </a:t>
            </a:r>
            <a:r>
              <a:rPr lang="en-US" sz="1100" dirty="0" smtClean="0">
                <a:solidFill>
                  <a:srgbClr val="FFFFFF"/>
                </a:solidFill>
              </a:rPr>
              <a:t>Q-Learning, </a:t>
            </a:r>
            <a:r>
              <a:rPr lang="en-US" sz="1100" dirty="0">
                <a:solidFill>
                  <a:srgbClr val="FFFFFF"/>
                </a:solidFill>
              </a:rPr>
              <a:t>PPO) evaluated under identical Manhattan grid simulation conditions</a:t>
            </a:r>
            <a:endParaRPr lang="en-US" sz="1100" dirty="0"/>
          </a:p>
        </p:txBody>
      </p:sp>
      <p:sp>
        <p:nvSpPr>
          <p:cNvPr id="10" name="Shape 8"/>
          <p:cNvSpPr/>
          <p:nvPr/>
        </p:nvSpPr>
        <p:spPr>
          <a:xfrm>
            <a:off x="411480" y="2377440"/>
            <a:ext cx="201168" cy="201168"/>
          </a:xfrm>
          <a:prstGeom prst="ellipse">
            <a:avLst/>
          </a:prstGeom>
          <a:solidFill>
            <a:srgbClr val="0ACDAB"/>
          </a:solidFill>
          <a:ln w="12700">
            <a:solidFill>
              <a:srgbClr val="0ACDAB"/>
            </a:solidFill>
            <a:prstDash val="solid"/>
          </a:ln>
        </p:spPr>
      </p:sp>
      <p:sp>
        <p:nvSpPr>
          <p:cNvPr id="11" name="Text 9"/>
          <p:cNvSpPr/>
          <p:nvPr/>
        </p:nvSpPr>
        <p:spPr>
          <a:xfrm>
            <a:off x="731520" y="2281076"/>
            <a:ext cx="5943600" cy="384048"/>
          </a:xfrm>
          <a:prstGeom prst="rect">
            <a:avLst/>
          </a:prstGeom>
          <a:noFill/>
          <a:ln/>
        </p:spPr>
        <p:txBody>
          <a:bodyPr wrap="square" lIns="0" tIns="0" rIns="0" bIns="0" rtlCol="0" anchor="ctr"/>
          <a:lstStyle/>
          <a:p>
            <a:pPr marL="0" indent="0">
              <a:buNone/>
            </a:pPr>
            <a:r>
              <a:rPr lang="en-US" sz="1100" dirty="0" smtClean="0">
                <a:solidFill>
                  <a:srgbClr val="FFFFFF"/>
                </a:solidFill>
              </a:rPr>
              <a:t>GCN-MAPPO </a:t>
            </a:r>
            <a:r>
              <a:rPr lang="en-US" sz="1100" dirty="0">
                <a:solidFill>
                  <a:srgbClr val="FFFFFF"/>
                </a:solidFill>
              </a:rPr>
              <a:t>expected to outperform others </a:t>
            </a:r>
            <a:r>
              <a:rPr lang="en-US" sz="1100" dirty="0" smtClean="0">
                <a:solidFill>
                  <a:srgbClr val="FFFFFF"/>
                </a:solidFill>
              </a:rPr>
              <a:t>:</a:t>
            </a:r>
            <a:r>
              <a:rPr lang="en-US" sz="1100" dirty="0">
                <a:solidFill>
                  <a:srgbClr val="FFFFFF"/>
                </a:solidFill>
              </a:rPr>
              <a:t> </a:t>
            </a:r>
            <a:r>
              <a:rPr lang="en-US" sz="1100" dirty="0" smtClean="0">
                <a:solidFill>
                  <a:srgbClr val="FFFFFF"/>
                </a:solidFill>
              </a:rPr>
              <a:t>delivers </a:t>
            </a:r>
            <a:r>
              <a:rPr lang="en-US" sz="1100" dirty="0">
                <a:solidFill>
                  <a:srgbClr val="FFFFFF"/>
                </a:solidFill>
              </a:rPr>
              <a:t>stable, cooperative, and adaptive signal control</a:t>
            </a:r>
            <a:endParaRPr lang="en-US" sz="1100" dirty="0"/>
          </a:p>
        </p:txBody>
      </p:sp>
      <p:sp>
        <p:nvSpPr>
          <p:cNvPr id="12" name="Shape 10"/>
          <p:cNvSpPr/>
          <p:nvPr/>
        </p:nvSpPr>
        <p:spPr>
          <a:xfrm>
            <a:off x="411480" y="2880360"/>
            <a:ext cx="201168" cy="201168"/>
          </a:xfrm>
          <a:prstGeom prst="ellipse">
            <a:avLst/>
          </a:prstGeom>
          <a:solidFill>
            <a:srgbClr val="0ACDAB"/>
          </a:solidFill>
          <a:ln w="12700">
            <a:solidFill>
              <a:srgbClr val="0ACDAB"/>
            </a:solidFill>
            <a:prstDash val="solid"/>
          </a:ln>
        </p:spPr>
      </p:sp>
      <p:sp>
        <p:nvSpPr>
          <p:cNvPr id="13" name="Text 11"/>
          <p:cNvSpPr/>
          <p:nvPr/>
        </p:nvSpPr>
        <p:spPr>
          <a:xfrm>
            <a:off x="731520" y="2776259"/>
            <a:ext cx="5943600" cy="384048"/>
          </a:xfrm>
          <a:prstGeom prst="rect">
            <a:avLst/>
          </a:prstGeom>
          <a:noFill/>
          <a:ln/>
        </p:spPr>
        <p:txBody>
          <a:bodyPr wrap="square" lIns="0" tIns="0" rIns="0" bIns="0" rtlCol="0" anchor="ctr"/>
          <a:lstStyle/>
          <a:p>
            <a:pPr marL="0" indent="0">
              <a:buNone/>
            </a:pPr>
            <a:r>
              <a:rPr lang="en-US" sz="1100" dirty="0">
                <a:solidFill>
                  <a:srgbClr val="FFFFFF"/>
                </a:solidFill>
              </a:rPr>
              <a:t>Significant reduction in average waiting time and queue length vs. fixed-cycle baseline</a:t>
            </a:r>
            <a:endParaRPr lang="en-US" sz="1100" dirty="0"/>
          </a:p>
        </p:txBody>
      </p:sp>
      <p:sp>
        <p:nvSpPr>
          <p:cNvPr id="14" name="Shape 12"/>
          <p:cNvSpPr/>
          <p:nvPr/>
        </p:nvSpPr>
        <p:spPr>
          <a:xfrm>
            <a:off x="411480" y="3456432"/>
            <a:ext cx="8366760" cy="1353312"/>
          </a:xfrm>
          <a:prstGeom prst="rect">
            <a:avLst/>
          </a:prstGeom>
          <a:solidFill>
            <a:srgbClr val="1282A2">
              <a:alpha val="18000"/>
            </a:srgbClr>
          </a:solidFill>
          <a:ln w="12700">
            <a:solidFill>
              <a:srgbClr val="0ACDAB"/>
            </a:solidFill>
            <a:prstDash val="solid"/>
          </a:ln>
        </p:spPr>
      </p:sp>
      <p:sp>
        <p:nvSpPr>
          <p:cNvPr id="15" name="Text 13"/>
          <p:cNvSpPr/>
          <p:nvPr/>
        </p:nvSpPr>
        <p:spPr>
          <a:xfrm>
            <a:off x="594360" y="3511296"/>
            <a:ext cx="3657600" cy="274320"/>
          </a:xfrm>
          <a:prstGeom prst="rect">
            <a:avLst/>
          </a:prstGeom>
          <a:noFill/>
          <a:ln/>
        </p:spPr>
        <p:txBody>
          <a:bodyPr wrap="square" lIns="0" tIns="0" rIns="0" bIns="0" rtlCol="0" anchor="ctr"/>
          <a:lstStyle/>
          <a:p>
            <a:pPr marL="0" indent="0">
              <a:buNone/>
            </a:pPr>
            <a:r>
              <a:rPr lang="en-US" sz="1300" b="1" dirty="0">
                <a:solidFill>
                  <a:srgbClr val="0ACDAB"/>
                </a:solidFill>
              </a:rPr>
              <a:t>Future Work</a:t>
            </a:r>
            <a:endParaRPr lang="en-US" sz="1300" dirty="0"/>
          </a:p>
        </p:txBody>
      </p:sp>
      <p:sp>
        <p:nvSpPr>
          <p:cNvPr id="16" name="Shape 14"/>
          <p:cNvSpPr/>
          <p:nvPr/>
        </p:nvSpPr>
        <p:spPr>
          <a:xfrm>
            <a:off x="594360" y="3840480"/>
            <a:ext cx="54864" cy="201168"/>
          </a:xfrm>
          <a:prstGeom prst="rect">
            <a:avLst/>
          </a:prstGeom>
          <a:solidFill>
            <a:srgbClr val="0ACDAB"/>
          </a:solidFill>
          <a:ln w="12700">
            <a:solidFill>
              <a:srgbClr val="0ACDAB"/>
            </a:solidFill>
            <a:prstDash val="solid"/>
          </a:ln>
        </p:spPr>
      </p:sp>
      <p:sp>
        <p:nvSpPr>
          <p:cNvPr id="17" name="Text 15"/>
          <p:cNvSpPr/>
          <p:nvPr/>
        </p:nvSpPr>
        <p:spPr>
          <a:xfrm>
            <a:off x="749808" y="3822192"/>
            <a:ext cx="7863840" cy="274320"/>
          </a:xfrm>
          <a:prstGeom prst="rect">
            <a:avLst/>
          </a:prstGeom>
          <a:noFill/>
          <a:ln/>
        </p:spPr>
        <p:txBody>
          <a:bodyPr wrap="square" lIns="0" tIns="0" rIns="0" bIns="0" rtlCol="0" anchor="ctr"/>
          <a:lstStyle/>
          <a:p>
            <a:pPr marL="0" indent="0">
              <a:buNone/>
            </a:pPr>
            <a:r>
              <a:rPr lang="en-US" sz="1000" dirty="0">
                <a:solidFill>
                  <a:srgbClr val="FFFFFF"/>
                </a:solidFill>
              </a:rPr>
              <a:t>Real-world Islamabad traffic data integration once datasets become available</a:t>
            </a:r>
            <a:endParaRPr lang="en-US" sz="1000" dirty="0"/>
          </a:p>
        </p:txBody>
      </p:sp>
      <p:sp>
        <p:nvSpPr>
          <p:cNvPr id="18" name="Shape 16"/>
          <p:cNvSpPr/>
          <p:nvPr/>
        </p:nvSpPr>
        <p:spPr>
          <a:xfrm>
            <a:off x="594360" y="4133088"/>
            <a:ext cx="54864" cy="201168"/>
          </a:xfrm>
          <a:prstGeom prst="rect">
            <a:avLst/>
          </a:prstGeom>
          <a:solidFill>
            <a:srgbClr val="0ACDAB"/>
          </a:solidFill>
          <a:ln w="12700">
            <a:solidFill>
              <a:srgbClr val="0ACDAB"/>
            </a:solidFill>
            <a:prstDash val="solid"/>
          </a:ln>
        </p:spPr>
      </p:sp>
      <p:sp>
        <p:nvSpPr>
          <p:cNvPr id="19" name="Text 17"/>
          <p:cNvSpPr/>
          <p:nvPr/>
        </p:nvSpPr>
        <p:spPr>
          <a:xfrm>
            <a:off x="749808" y="4114800"/>
            <a:ext cx="7863840" cy="274320"/>
          </a:xfrm>
          <a:prstGeom prst="rect">
            <a:avLst/>
          </a:prstGeom>
          <a:noFill/>
          <a:ln/>
        </p:spPr>
        <p:txBody>
          <a:bodyPr wrap="square" lIns="0" tIns="0" rIns="0" bIns="0" rtlCol="0" anchor="ctr"/>
          <a:lstStyle/>
          <a:p>
            <a:pPr marL="0" indent="0">
              <a:buNone/>
            </a:pPr>
            <a:r>
              <a:rPr lang="en-US" sz="1000" dirty="0">
                <a:solidFill>
                  <a:srgbClr val="FFFFFF"/>
                </a:solidFill>
              </a:rPr>
              <a:t>Transfer learning from Manhattan to irregular city topologies</a:t>
            </a:r>
            <a:endParaRPr lang="en-US" sz="1000" dirty="0"/>
          </a:p>
        </p:txBody>
      </p:sp>
      <p:sp>
        <p:nvSpPr>
          <p:cNvPr id="20" name="Shape 18"/>
          <p:cNvSpPr/>
          <p:nvPr/>
        </p:nvSpPr>
        <p:spPr>
          <a:xfrm>
            <a:off x="594360" y="4425696"/>
            <a:ext cx="54864" cy="201168"/>
          </a:xfrm>
          <a:prstGeom prst="rect">
            <a:avLst/>
          </a:prstGeom>
          <a:solidFill>
            <a:srgbClr val="0ACDAB"/>
          </a:solidFill>
          <a:ln w="12700">
            <a:solidFill>
              <a:srgbClr val="0ACDAB"/>
            </a:solidFill>
            <a:prstDash val="solid"/>
          </a:ln>
        </p:spPr>
      </p:sp>
      <p:sp>
        <p:nvSpPr>
          <p:cNvPr id="21" name="Text 19"/>
          <p:cNvSpPr/>
          <p:nvPr/>
        </p:nvSpPr>
        <p:spPr>
          <a:xfrm>
            <a:off x="749808" y="4407408"/>
            <a:ext cx="7863840" cy="274320"/>
          </a:xfrm>
          <a:prstGeom prst="rect">
            <a:avLst/>
          </a:prstGeom>
          <a:noFill/>
          <a:ln/>
        </p:spPr>
        <p:txBody>
          <a:bodyPr wrap="square" lIns="0" tIns="0" rIns="0" bIns="0" rtlCol="0" anchor="ctr"/>
          <a:lstStyle/>
          <a:p>
            <a:pPr marL="0" indent="0">
              <a:buNone/>
            </a:pPr>
            <a:r>
              <a:rPr lang="en-US" sz="1000" dirty="0">
                <a:solidFill>
                  <a:srgbClr val="FFFFFF"/>
                </a:solidFill>
              </a:rPr>
              <a:t>Edge-AI deployment for embedded traffic controller hardware</a:t>
            </a:r>
            <a:endParaRPr lang="en-US" sz="1000" dirty="0"/>
          </a:p>
        </p:txBody>
      </p:sp>
      <p:sp>
        <p:nvSpPr>
          <p:cNvPr id="22" name="Text 20"/>
          <p:cNvSpPr/>
          <p:nvPr/>
        </p:nvSpPr>
        <p:spPr>
          <a:xfrm>
            <a:off x="411480" y="4773168"/>
            <a:ext cx="8366760" cy="292608"/>
          </a:xfrm>
          <a:prstGeom prst="rect">
            <a:avLst/>
          </a:prstGeom>
          <a:noFill/>
          <a:ln/>
        </p:spPr>
        <p:txBody>
          <a:bodyPr wrap="square" lIns="0" tIns="0" rIns="0" bIns="0" rtlCol="0" anchor="ctr"/>
          <a:lstStyle/>
          <a:p>
            <a:pPr marL="0" indent="0" algn="r">
              <a:buNone/>
            </a:pPr>
            <a:r>
              <a:rPr lang="en-US" sz="1300" b="1" kern="0" spc="100" dirty="0">
                <a:solidFill>
                  <a:srgbClr val="0ACDAB"/>
                </a:solidFill>
              </a:rPr>
              <a:t>Thank You  ·  Questions?</a:t>
            </a:r>
            <a:endParaRPr lang="en-US" sz="13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2015</TotalTime>
  <Words>2161</Words>
  <Application>Microsoft Office PowerPoint</Application>
  <PresentationFormat>On-screen Show (16:9)</PresentationFormat>
  <Paragraphs>357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 Final Defense – Adaptive Traffic Signal Control</dc:title>
  <dc:subject>PptxGenJS Presentation</dc:subject>
  <dc:creator>PptxGenJS</dc:creator>
  <cp:lastModifiedBy>Microsoft account</cp:lastModifiedBy>
  <cp:revision>92</cp:revision>
  <dcterms:created xsi:type="dcterms:W3CDTF">2026-05-02T08:33:50Z</dcterms:created>
  <dcterms:modified xsi:type="dcterms:W3CDTF">2026-05-10T19:09:33Z</dcterms:modified>
</cp:coreProperties>
</file>