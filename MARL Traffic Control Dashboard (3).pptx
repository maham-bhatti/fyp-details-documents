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Urbanis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Urbanist-regular.fntdata"/><Relationship Id="rId8" Type="http://schemas.openxmlformats.org/officeDocument/2006/relationships/font" Target="fonts/Urbanist-bold.fntdata"/><Relationship Id="rId10" Type="http://schemas.openxmlformats.org/officeDocument/2006/relationships/font" Target="fonts/Urbanis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22" Type="http://schemas.openxmlformats.org/officeDocument/2006/relationships/image" Target="../media/image20.png"/><Relationship Id="rId21" Type="http://schemas.openxmlformats.org/officeDocument/2006/relationships/image" Target="../media/image23.png"/><Relationship Id="rId24" Type="http://schemas.openxmlformats.org/officeDocument/2006/relationships/image" Target="../media/image17.png"/><Relationship Id="rId23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Relationship Id="rId26" Type="http://schemas.openxmlformats.org/officeDocument/2006/relationships/image" Target="../media/image21.png"/><Relationship Id="rId25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3.png"/><Relationship Id="rId11" Type="http://schemas.openxmlformats.org/officeDocument/2006/relationships/image" Target="../media/image7.png"/><Relationship Id="rId10" Type="http://schemas.openxmlformats.org/officeDocument/2006/relationships/image" Target="../media/image24.png"/><Relationship Id="rId13" Type="http://schemas.openxmlformats.org/officeDocument/2006/relationships/image" Target="../media/image2.png"/><Relationship Id="rId12" Type="http://schemas.openxmlformats.org/officeDocument/2006/relationships/image" Target="../media/image4.png"/><Relationship Id="rId15" Type="http://schemas.openxmlformats.org/officeDocument/2006/relationships/image" Target="../media/image9.png"/><Relationship Id="rId14" Type="http://schemas.openxmlformats.org/officeDocument/2006/relationships/image" Target="../media/image8.png"/><Relationship Id="rId17" Type="http://schemas.openxmlformats.org/officeDocument/2006/relationships/image" Target="../media/image5.png"/><Relationship Id="rId16" Type="http://schemas.openxmlformats.org/officeDocument/2006/relationships/image" Target="../media/image1.png"/><Relationship Id="rId19" Type="http://schemas.openxmlformats.org/officeDocument/2006/relationships/image" Target="../media/image16.png"/><Relationship Id="rId1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9984" y="0"/>
            <a:ext cx="1730710" cy="167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2613" y="5443825"/>
            <a:ext cx="4762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1000" y="4653144"/>
            <a:ext cx="3048000" cy="18180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19500" y="1524000"/>
            <a:ext cx="4762500" cy="25157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19500" y="8258175"/>
            <a:ext cx="47625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901014"/>
            <a:ext cx="942975" cy="29104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3867150" y="1771650"/>
            <a:ext cx="4480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About Project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714750" y="4164726"/>
            <a:ext cx="4800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Tools &amp; Technologies used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9972420" y="7648575"/>
            <a:ext cx="19200" cy="238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81000" y="404800"/>
            <a:ext cx="1052520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I</a:t>
            </a:r>
            <a:r>
              <a:rPr b="1" lang="en-US" sz="26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ntelligent Multi-Agent Reinforcement Learning Framework </a:t>
            </a:r>
            <a:endParaRPr b="1" sz="2600">
              <a:solidFill>
                <a:schemeClr val="dk2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rPr>
              <a:t>for Adaptive Traffic Signal Control</a:t>
            </a:r>
            <a:endParaRPr b="1" sz="2600">
              <a:solidFill>
                <a:schemeClr val="dk2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762375" y="8401050"/>
            <a:ext cx="1290161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GROUP MEMBERS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762375" y="8572500"/>
            <a:ext cx="12287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MARL Research Team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6743700" y="8401050"/>
            <a:ext cx="1570196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SUPERVISOR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6743700" y="8572500"/>
            <a:ext cx="1495425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Faculty of Engineering &amp; IT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9763125" y="8186737"/>
            <a:ext cx="1143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Urbanist"/>
                <a:ea typeface="Urbanist"/>
                <a:cs typeface="Urbanist"/>
                <a:sym typeface="Urbanist"/>
              </a:rPr>
              <a:t>Optimized Signal</a:t>
            </a:r>
            <a:r>
              <a:rPr b="0" i="0" lang="en-US" sz="12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Action Recommendation</a:t>
            </a:r>
            <a:endParaRPr/>
          </a:p>
        </p:txBody>
      </p:sp>
      <p:pic>
        <p:nvPicPr>
          <p:cNvPr descr="image.png" id="99" name="Google Shape;9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17755" y="3619012"/>
            <a:ext cx="185501" cy="16130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749968" y="3820641"/>
            <a:ext cx="1121100" cy="2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7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9. Industry, Innovation &amp; Infrastructure</a:t>
            </a:r>
            <a:endParaRPr sz="847"/>
          </a:p>
        </p:txBody>
      </p:sp>
      <p:pic>
        <p:nvPicPr>
          <p:cNvPr descr="image.png" id="101" name="Google Shape;10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11416" y="3619012"/>
            <a:ext cx="201632" cy="1613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542488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981075" y="5436425"/>
            <a:ext cx="88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Enhanced Scalability</a:t>
            </a:r>
            <a:endParaRPr/>
          </a:p>
        </p:txBody>
      </p:sp>
      <p:pic>
        <p:nvPicPr>
          <p:cNvPr descr="image.png" id="104" name="Google Shape;10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76437" y="542488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3"/>
          <p:cNvSpPr txBox="1"/>
          <p:nvPr/>
        </p:nvSpPr>
        <p:spPr>
          <a:xfrm>
            <a:off x="2376471" y="5434400"/>
            <a:ext cx="88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Travel Time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975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 Efficiency</a:t>
            </a:r>
            <a:endParaRPr/>
          </a:p>
        </p:txBody>
      </p:sp>
      <p:pic>
        <p:nvPicPr>
          <p:cNvPr descr="image.png" id="106" name="Google Shape;106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1025" y="587256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981075" y="5914175"/>
            <a:ext cx="883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improved Adaptability</a:t>
            </a:r>
            <a:endParaRPr/>
          </a:p>
        </p:txBody>
      </p:sp>
      <p:pic>
        <p:nvPicPr>
          <p:cNvPr descr="image.png" id="108" name="Google Shape;108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76437" y="587256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2376475" y="5882075"/>
            <a:ext cx="1019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Enhanced Coordination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2376487" y="6329760"/>
            <a:ext cx="69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867150" y="2143125"/>
            <a:ext cx="214026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MARL Coordination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867150" y="2352675"/>
            <a:ext cx="2038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Addresses the "Single-Agent Gap" using cooperative </a:t>
            </a:r>
            <a:r>
              <a:rPr b="1" i="0" lang="en-US" sz="10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MAPP</a:t>
            </a:r>
            <a:r>
              <a:rPr b="1" lang="en-US" sz="10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O, MAQL</a:t>
            </a:r>
            <a:r>
              <a:rPr b="0" i="0" lang="en-US" sz="1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b="1" lang="en-US" sz="10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MADQN </a:t>
            </a:r>
            <a:r>
              <a:rPr lang="en-US" sz="10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Algorithms.</a:t>
            </a:r>
            <a:endParaRPr sz="1000"/>
          </a:p>
        </p:txBody>
      </p:sp>
      <p:sp>
        <p:nvSpPr>
          <p:cNvPr id="113" name="Google Shape;113;p13"/>
          <p:cNvSpPr txBox="1"/>
          <p:nvPr/>
        </p:nvSpPr>
        <p:spPr>
          <a:xfrm>
            <a:off x="6096000" y="2143125"/>
            <a:ext cx="214026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Spatial Awareness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6096000" y="2352675"/>
            <a:ext cx="2038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Integrates </a:t>
            </a:r>
            <a:r>
              <a:rPr b="1" i="0" lang="en-US" sz="10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GCN</a:t>
            </a:r>
            <a:r>
              <a:rPr b="0" i="0" lang="en-US" sz="1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embeddings for intelligent network-wide intersection coordination.</a:t>
            </a:r>
            <a:endParaRPr sz="1000"/>
          </a:p>
        </p:txBody>
      </p:sp>
      <p:sp>
        <p:nvSpPr>
          <p:cNvPr id="115" name="Google Shape;115;p13"/>
          <p:cNvSpPr txBox="1"/>
          <p:nvPr/>
        </p:nvSpPr>
        <p:spPr>
          <a:xfrm>
            <a:off x="3867150" y="3062882"/>
            <a:ext cx="2140267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Efficiency Gains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3867150" y="3272432"/>
            <a:ext cx="2038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Achieves </a:t>
            </a:r>
            <a:r>
              <a:rPr b="1" i="0" lang="en-US" sz="1000" u="none" cap="none" strike="noStrike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8.6%</a:t>
            </a:r>
            <a:r>
              <a:rPr b="0" i="0" lang="en-US" sz="10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 faster travel times in high-density Manhattan grid scenarios.</a:t>
            </a:r>
            <a:endParaRPr sz="1000"/>
          </a:p>
        </p:txBody>
      </p:sp>
      <p:sp>
        <p:nvSpPr>
          <p:cNvPr id="117" name="Google Shape;117;p13"/>
          <p:cNvSpPr txBox="1"/>
          <p:nvPr/>
        </p:nvSpPr>
        <p:spPr>
          <a:xfrm>
            <a:off x="6096000" y="3062882"/>
            <a:ext cx="2140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2563EB"/>
                </a:solidFill>
                <a:latin typeface="Urbanist"/>
                <a:ea typeface="Urbanist"/>
                <a:cs typeface="Urbanist"/>
                <a:sym typeface="Urbanist"/>
              </a:rPr>
              <a:t>Traffic Densities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096000" y="3272432"/>
            <a:ext cx="203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Train model for various traffic densities like </a:t>
            </a:r>
            <a:r>
              <a:rPr lang="en-US" sz="10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low, medium </a:t>
            </a:r>
            <a:r>
              <a:rPr lang="en-US" sz="10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and </a:t>
            </a:r>
            <a:r>
              <a:rPr lang="en-US" sz="10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high</a:t>
            </a:r>
            <a:r>
              <a:rPr lang="en-US" sz="10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000"/>
          </a:p>
        </p:txBody>
      </p:sp>
      <p:pic>
        <p:nvPicPr>
          <p:cNvPr descr="image.png" id="119" name="Google Shape;119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714750" y="4536201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/>
        </p:nvSpPr>
        <p:spPr>
          <a:xfrm>
            <a:off x="3650882" y="5155336"/>
            <a:ext cx="600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Python</a:t>
            </a:r>
            <a:endParaRPr/>
          </a:p>
        </p:txBody>
      </p:sp>
      <p:pic>
        <p:nvPicPr>
          <p:cNvPr descr="image.png" id="121" name="Google Shape;121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76750" y="4536201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3"/>
          <p:cNvSpPr txBox="1"/>
          <p:nvPr/>
        </p:nvSpPr>
        <p:spPr>
          <a:xfrm>
            <a:off x="4495659" y="5155325"/>
            <a:ext cx="5238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PyTorch</a:t>
            </a:r>
            <a:endParaRPr/>
          </a:p>
        </p:txBody>
      </p:sp>
      <p:pic>
        <p:nvPicPr>
          <p:cNvPr descr="image.png" id="123" name="Google Shape;12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38750" y="4536201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5242159" y="5155334"/>
            <a:ext cx="5238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SUMO</a:t>
            </a:r>
            <a:endParaRPr/>
          </a:p>
        </p:txBody>
      </p:sp>
      <p:pic>
        <p:nvPicPr>
          <p:cNvPr descr="image.png" id="125" name="Google Shape;125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000750" y="4536201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 txBox="1"/>
          <p:nvPr/>
        </p:nvSpPr>
        <p:spPr>
          <a:xfrm>
            <a:off x="6075874" y="5155336"/>
            <a:ext cx="3810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GCN</a:t>
            </a:r>
            <a:endParaRPr/>
          </a:p>
        </p:txBody>
      </p:sp>
      <p:pic>
        <p:nvPicPr>
          <p:cNvPr descr="image.png" id="127" name="Google Shape;127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762750" y="4536201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 txBox="1"/>
          <p:nvPr/>
        </p:nvSpPr>
        <p:spPr>
          <a:xfrm>
            <a:off x="6896401" y="5155326"/>
            <a:ext cx="362100" cy="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colab</a:t>
            </a:r>
            <a:endParaRPr/>
          </a:p>
        </p:txBody>
      </p:sp>
      <p:pic>
        <p:nvPicPr>
          <p:cNvPr descr="image.png" id="129" name="Google Shape;129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401175" y="8267700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134100" y="4683839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3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892390" y="4681029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372100" y="4665080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466678" y="4284533"/>
            <a:ext cx="1019175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3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4586280" y="463637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4535336" y="5528438"/>
            <a:ext cx="14955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Group Members:</a:t>
            </a:r>
            <a:endParaRPr b="1" sz="1050">
              <a:solidFill>
                <a:schemeClr val="accen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Amna Tanveer</a:t>
            </a:r>
            <a:endParaRPr sz="1050">
              <a:solidFill>
                <a:schemeClr val="accen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Maham Shahid</a:t>
            </a:r>
            <a:endParaRPr b="1" sz="1050">
              <a:solidFill>
                <a:schemeClr val="accen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573881" y="5357900"/>
            <a:ext cx="23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endParaRPr/>
          </a:p>
        </p:txBody>
      </p:sp>
      <p:sp>
        <p:nvSpPr>
          <p:cNvPr id="137" name="Google Shape;137;p13"/>
          <p:cNvSpPr txBox="1"/>
          <p:nvPr/>
        </p:nvSpPr>
        <p:spPr>
          <a:xfrm>
            <a:off x="1997656" y="5373719"/>
            <a:ext cx="38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554875" y="5817213"/>
            <a:ext cx="238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4285297" y="6277069"/>
            <a:ext cx="3552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accent1"/>
                </a:solidFill>
                <a:highlight>
                  <a:srgbClr val="FFFFFF"/>
                </a:highlight>
                <a:latin typeface="Urbanist"/>
                <a:ea typeface="Urbanist"/>
                <a:cs typeface="Urbanist"/>
                <a:sym typeface="Urbanist"/>
              </a:rPr>
              <a:t>Department of Software Engineering,</a:t>
            </a:r>
            <a:endParaRPr b="1" sz="1000">
              <a:solidFill>
                <a:schemeClr val="accent1"/>
              </a:solidFill>
              <a:highlight>
                <a:srgbClr val="FFFFFF"/>
              </a:highlight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accent1"/>
                </a:solidFill>
                <a:highlight>
                  <a:srgbClr val="FFFFFF"/>
                </a:highlight>
                <a:latin typeface="Urbanist"/>
                <a:ea typeface="Urbanist"/>
                <a:cs typeface="Urbanist"/>
                <a:sym typeface="Urbanist"/>
              </a:rPr>
              <a:t>Faculty of Engineering and Computing, NUML </a:t>
            </a:r>
            <a:endParaRPr b="1" sz="950">
              <a:solidFill>
                <a:schemeClr val="accen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2008967" y="5811707"/>
            <a:ext cx="304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97316"/>
                </a:solidFill>
                <a:latin typeface="Urbanist"/>
                <a:ea typeface="Urbanist"/>
                <a:cs typeface="Urbanist"/>
                <a:sym typeface="Urbanist"/>
              </a:rPr>
              <a:t>+</a:t>
            </a:r>
            <a:endParaRPr/>
          </a:p>
        </p:txBody>
      </p:sp>
      <p:pic>
        <p:nvPicPr>
          <p:cNvPr id="141" name="Google Shape;141;p13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908446" y="1746892"/>
            <a:ext cx="2038500" cy="169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3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1056478" y="3558199"/>
            <a:ext cx="798451" cy="79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3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1990005" y="3550400"/>
            <a:ext cx="798451" cy="79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3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8537599" y="2435559"/>
            <a:ext cx="36195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3"/>
          <p:cNvSpPr txBox="1"/>
          <p:nvPr/>
        </p:nvSpPr>
        <p:spPr>
          <a:xfrm>
            <a:off x="6308718" y="5514659"/>
            <a:ext cx="30000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Supervisor::</a:t>
            </a:r>
            <a:endParaRPr b="1" sz="1050">
              <a:solidFill>
                <a:schemeClr val="accen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accent1"/>
                </a:solidFill>
                <a:latin typeface="Urbanist"/>
                <a:ea typeface="Urbanist"/>
                <a:cs typeface="Urbanist"/>
                <a:sym typeface="Urbanist"/>
              </a:rPr>
              <a:t>Dr. Hasan Humayun</a:t>
            </a:r>
            <a:endParaRPr/>
          </a:p>
        </p:txBody>
      </p:sp>
      <p:pic>
        <p:nvPicPr>
          <p:cNvPr id="146" name="Google Shape;146;p13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8596159" y="2305050"/>
            <a:ext cx="35814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